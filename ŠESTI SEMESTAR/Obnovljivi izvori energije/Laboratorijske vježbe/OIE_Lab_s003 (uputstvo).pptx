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2"/>
    <p:sldId id="257" r:id="rId3"/>
    <p:sldId id="287" r:id="rId4"/>
    <p:sldId id="288" r:id="rId5"/>
    <p:sldId id="289" r:id="rId6"/>
    <p:sldId id="290" r:id="rId7"/>
    <p:sldId id="291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292" r:id="rId17"/>
    <p:sldId id="293" r:id="rId18"/>
    <p:sldId id="295" r:id="rId19"/>
    <p:sldId id="296" r:id="rId20"/>
    <p:sldId id="297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328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282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E2D26-4B6A-4190-B1D1-FB511B5A57BD}" type="datetimeFigureOut">
              <a:rPr lang="en-US" smtClean="0"/>
              <a:pPr/>
              <a:t>4/9/2021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7FED8-1226-4287-809D-F233D8619EF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F8064-07CB-46C2-96A1-910538027201}" type="datetimeFigureOut">
              <a:rPr lang="en-US" smtClean="0"/>
              <a:pPr/>
              <a:t>4/9/2021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D3A20-1641-49DB-B8BC-89E53BCE97F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14E78-2A7D-4A65-85B4-61F75D26CBF8}" type="datetime1">
              <a:rPr lang="en-US" smtClean="0"/>
              <a:pPr/>
              <a:t>4/9/2021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BEAC-02D3-44EC-976C-F9D976A56C51}" type="datetime1">
              <a:rPr lang="en-US" smtClean="0"/>
              <a:pPr/>
              <a:t>4/9/2021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87C51-2474-4A6D-A708-A1B6183736F3}" type="datetime1">
              <a:rPr lang="en-US" smtClean="0"/>
              <a:pPr/>
              <a:t>4/9/2021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06145-D88F-4111-AADE-0B9FD367C81E}" type="datetime1">
              <a:rPr lang="en-US" smtClean="0"/>
              <a:pPr/>
              <a:t>4/9/2021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94748-A106-418C-A0F3-E188031639CE}" type="datetime1">
              <a:rPr lang="en-US" smtClean="0"/>
              <a:pPr/>
              <a:t>4/9/2021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92EAB-0082-4B26-8970-497F437F8261}" type="datetime1">
              <a:rPr lang="en-US" smtClean="0"/>
              <a:pPr/>
              <a:t>4/9/2021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7A7F1-5305-4E16-9103-B7B5338E6A34}" type="datetime1">
              <a:rPr lang="en-US" smtClean="0"/>
              <a:pPr/>
              <a:t>4/9/2021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230D-CB48-4BAF-90DC-9E442003C51E}" type="datetime1">
              <a:rPr lang="en-US" smtClean="0"/>
              <a:pPr/>
              <a:t>4/9/2021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963E2-B944-47A8-B715-0464452AC746}" type="datetime1">
              <a:rPr lang="en-US" smtClean="0"/>
              <a:pPr/>
              <a:t>4/9/2021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02543-7A5E-45A6-8267-1CB5A4D75D0A}" type="datetime1">
              <a:rPr lang="en-US" smtClean="0"/>
              <a:pPr/>
              <a:t>4/9/2021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88055-E903-47EF-B04E-810126E01727}" type="datetime1">
              <a:rPr lang="en-US" smtClean="0"/>
              <a:pPr/>
              <a:t>4/9/2021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B87F4-51AB-47B2-8ED1-901671C6E44F}" type="datetime1">
              <a:rPr lang="en-US" smtClean="0"/>
              <a:pPr/>
              <a:t>4/9/2021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20B7C-4780-41BE-8321-38A6238C7F8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59.emf"/><Relationship Id="rId4" Type="http://schemas.openxmlformats.org/officeDocument/2006/relationships/oleObject" Target="../embeddings/oleObject1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Obnovljivi</a:t>
            </a:r>
            <a:r>
              <a:rPr lang="en-US" dirty="0"/>
              <a:t> </a:t>
            </a:r>
            <a:r>
              <a:rPr lang="en-US" dirty="0" err="1"/>
              <a:t>izvori</a:t>
            </a:r>
            <a:r>
              <a:rPr lang="en-US" dirty="0"/>
              <a:t> </a:t>
            </a:r>
            <a:r>
              <a:rPr lang="en-US" dirty="0" err="1"/>
              <a:t>energije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BA" dirty="0" smtClean="0"/>
              <a:t>Treće </a:t>
            </a:r>
            <a:r>
              <a:rPr lang="en-US" dirty="0" err="1" smtClean="0"/>
              <a:t>laboratorijske</a:t>
            </a:r>
            <a:r>
              <a:rPr lang="en-US" dirty="0" smtClean="0"/>
              <a:t> </a:t>
            </a:r>
            <a:r>
              <a:rPr lang="en-US" dirty="0" err="1" smtClean="0"/>
              <a:t>vježbe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6700" y="0"/>
            <a:ext cx="8610600" cy="1219200"/>
            <a:chOff x="152400" y="0"/>
            <a:chExt cx="8610600" cy="1219200"/>
          </a:xfrm>
        </p:grpSpPr>
        <p:sp>
          <p:nvSpPr>
            <p:cNvPr id="6" name="TextBox 5"/>
            <p:cNvSpPr txBox="1"/>
            <p:nvPr/>
          </p:nvSpPr>
          <p:spPr>
            <a:xfrm>
              <a:off x="304800" y="0"/>
              <a:ext cx="54864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 </a:t>
              </a:r>
            </a:p>
            <a:p>
              <a:r>
                <a:rPr lang="en-US" dirty="0" smtClean="0"/>
                <a:t>       	</a:t>
              </a:r>
              <a:r>
                <a:rPr lang="sr-Latn-BA" dirty="0" smtClean="0"/>
                <a:t>Univerzitet u </a:t>
              </a:r>
              <a:r>
                <a:rPr lang="sr-Latn-BA" dirty="0" err="1" smtClean="0"/>
                <a:t>Banjoj</a:t>
              </a:r>
              <a:r>
                <a:rPr lang="sr-Latn-BA" dirty="0" smtClean="0"/>
                <a:t> Luci</a:t>
              </a:r>
              <a:endParaRPr lang="en-US" dirty="0" smtClean="0"/>
            </a:p>
            <a:p>
              <a:r>
                <a:rPr lang="sr-Latn-BA" dirty="0" smtClean="0"/>
                <a:t>	Elektrotehnički fakultet</a:t>
              </a:r>
              <a:endParaRPr lang="en-US" dirty="0" smtClean="0"/>
            </a:p>
            <a:p>
              <a:r>
                <a:rPr lang="sr-Latn-BA" dirty="0" smtClean="0"/>
                <a:t>	</a:t>
              </a:r>
              <a:r>
                <a:rPr lang="sr-Latn-BA" dirty="0" err="1" smtClean="0"/>
                <a:t>Obnovljivi</a:t>
              </a:r>
              <a:r>
                <a:rPr lang="sr-Latn-BA" dirty="0" smtClean="0"/>
                <a:t> izvori energije</a:t>
              </a:r>
              <a:endParaRPr lang="en-US" dirty="0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2400" y="289996"/>
              <a:ext cx="1005840" cy="8678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8" name="Group 12"/>
            <p:cNvGrpSpPr/>
            <p:nvPr/>
          </p:nvGrpSpPr>
          <p:grpSpPr>
            <a:xfrm>
              <a:off x="152400" y="228600"/>
              <a:ext cx="8610600" cy="990600"/>
              <a:chOff x="152400" y="228600"/>
              <a:chExt cx="5562600" cy="990600"/>
            </a:xfrm>
          </p:grpSpPr>
          <p:cxnSp>
            <p:nvCxnSpPr>
              <p:cNvPr id="9" name="Straight Connector 8"/>
              <p:cNvCxnSpPr/>
              <p:nvPr/>
            </p:nvCxnSpPr>
            <p:spPr>
              <a:xfrm>
                <a:off x="152400" y="228600"/>
                <a:ext cx="55626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152400" y="1219200"/>
                <a:ext cx="55626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pl-PL" sz="2600" b="1" dirty="0" err="1" smtClean="0"/>
              <a:t>Zadatak</a:t>
            </a:r>
            <a:r>
              <a:rPr lang="pl-PL" sz="2600" b="1" dirty="0" smtClean="0"/>
              <a:t> </a:t>
            </a:r>
            <a:r>
              <a:rPr lang="pl-PL" sz="2600" b="1" dirty="0"/>
              <a:t>1: </a:t>
            </a:r>
            <a:r>
              <a:rPr lang="en-US" sz="2600" b="1" dirty="0" smtClean="0"/>
              <a:t>Model </a:t>
            </a:r>
            <a:r>
              <a:rPr lang="en-US" sz="2600" b="1" i="1" dirty="0" smtClean="0"/>
              <a:t>PV </a:t>
            </a:r>
            <a:r>
              <a:rPr lang="en-US" sz="2600" b="1" dirty="0" err="1" smtClean="0"/>
              <a:t>ćelije</a:t>
            </a:r>
            <a:endParaRPr lang="sr-Latn-BA" sz="2600" b="1" dirty="0" smtClean="0"/>
          </a:p>
          <a:p>
            <a:pPr>
              <a:buNone/>
            </a:pPr>
            <a:r>
              <a:rPr lang="sr-Latn-BA" sz="2400" dirty="0" smtClean="0"/>
              <a:t>	U programskom paketu </a:t>
            </a:r>
            <a:r>
              <a:rPr lang="sr-Latn-BA" sz="2400" dirty="0" err="1" smtClean="0"/>
              <a:t>MATLAB</a:t>
            </a:r>
            <a:r>
              <a:rPr lang="sr-Latn-BA" sz="2400" dirty="0" smtClean="0"/>
              <a:t>/</a:t>
            </a:r>
            <a:r>
              <a:rPr lang="sr-Latn-BA" sz="2400" dirty="0" err="1" smtClean="0"/>
              <a:t>SIMULINK</a:t>
            </a:r>
            <a:r>
              <a:rPr lang="sr-Latn-BA" sz="2400" dirty="0" smtClean="0"/>
              <a:t> napraviti model </a:t>
            </a:r>
            <a:r>
              <a:rPr lang="sr-Latn-BA" sz="2400" i="1" dirty="0" err="1" smtClean="0"/>
              <a:t>PV</a:t>
            </a:r>
            <a:r>
              <a:rPr lang="sr-Latn-BA" sz="2400" dirty="0" smtClean="0"/>
              <a:t> ćelije i snimiti naponsko-strujnu karakteristiku pri </a:t>
            </a:r>
            <a:r>
              <a:rPr lang="sr-Latn-BA" sz="2400" dirty="0" err="1" smtClean="0"/>
              <a:t>iradijansama</a:t>
            </a:r>
            <a:r>
              <a:rPr lang="sr-Latn-BA" sz="2400" dirty="0" smtClean="0"/>
              <a:t> od 1000, 700 i 400 W/</a:t>
            </a:r>
            <a:r>
              <a:rPr lang="sr-Latn-BA" sz="2400" dirty="0" err="1" smtClean="0"/>
              <a:t>m</a:t>
            </a:r>
            <a:r>
              <a:rPr lang="sr-Latn-BA" sz="2400" baseline="30000" dirty="0" err="1" smtClean="0"/>
              <a:t>2</a:t>
            </a:r>
            <a:r>
              <a:rPr lang="sr-Latn-BA" sz="2400" dirty="0" smtClean="0"/>
              <a:t> i temperaturi od 25 °C. Inverzna struja zasićenja diode je 1 </a:t>
            </a:r>
            <a:r>
              <a:rPr lang="sr-Latn-BA" sz="2400" dirty="0" err="1" smtClean="0"/>
              <a:t>nA</a:t>
            </a:r>
            <a:r>
              <a:rPr lang="sr-Latn-BA" sz="2400" dirty="0" smtClean="0"/>
              <a:t>, a struja kratkog spoja 1 A pri iradijansi od 1 </a:t>
            </a:r>
            <a:r>
              <a:rPr lang="sr-Latn-BA" sz="2400" dirty="0" err="1" smtClean="0"/>
              <a:t>kW</a:t>
            </a:r>
            <a:r>
              <a:rPr lang="sr-Latn-BA" sz="2400" dirty="0" smtClean="0"/>
              <a:t>/</a:t>
            </a:r>
            <a:r>
              <a:rPr lang="sr-Latn-BA" sz="2400" dirty="0" err="1" smtClean="0"/>
              <a:t>m</a:t>
            </a:r>
            <a:r>
              <a:rPr lang="sr-Latn-BA" sz="2400" baseline="30000" dirty="0" err="1" smtClean="0"/>
              <a:t>2</a:t>
            </a:r>
            <a:r>
              <a:rPr lang="sr-Latn-BA" sz="2400" dirty="0" smtClean="0"/>
              <a:t> i temperaturi od 25 °C. Paralelna i </a:t>
            </a:r>
            <a:r>
              <a:rPr lang="sr-Latn-BA" sz="2400" dirty="0" err="1" smtClean="0"/>
              <a:t>serijska</a:t>
            </a:r>
            <a:r>
              <a:rPr lang="sr-Latn-BA" sz="2400" dirty="0" smtClean="0"/>
              <a:t> otpornost ćelije su: 6,6 Ω i 0,005 Ω, respektivno.</a:t>
            </a:r>
            <a:endParaRPr lang="sr-Latn-BA" sz="2400" b="1" dirty="0" smtClean="0"/>
          </a:p>
          <a:p>
            <a:endParaRPr lang="pl-PL" sz="28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Jednostavan model fotonaponske ćelije u kome je uvažena paralelna i </a:t>
            </a:r>
            <a:r>
              <a:rPr lang="sr-Latn-BA" sz="2600" dirty="0" err="1" smtClean="0"/>
              <a:t>serijska</a:t>
            </a:r>
            <a:r>
              <a:rPr lang="sr-Latn-BA" sz="2600" dirty="0" smtClean="0"/>
              <a:t> otpornost ćelije prikazan je na ovom slajdu</a:t>
            </a:r>
          </a:p>
          <a:p>
            <a:r>
              <a:rPr lang="sr-Latn-BA" sz="2600" dirty="0" smtClean="0"/>
              <a:t>Sa šeme fotonaponske ćelije </a:t>
            </a:r>
            <a:br>
              <a:rPr lang="sr-Latn-BA" sz="2600" dirty="0" smtClean="0"/>
            </a:br>
            <a:r>
              <a:rPr lang="sr-Latn-BA" sz="2600" dirty="0" smtClean="0"/>
              <a:t>dobija se:</a:t>
            </a:r>
          </a:p>
          <a:p>
            <a:endParaRPr lang="sr-Latn-BA" sz="2600" b="1" dirty="0" smtClean="0"/>
          </a:p>
          <a:p>
            <a:endParaRPr lang="sr-Latn-BA" sz="2600" b="1" dirty="0" smtClean="0"/>
          </a:p>
          <a:p>
            <a:endParaRPr lang="sr-Latn-BA" sz="2600" dirty="0" smtClean="0"/>
          </a:p>
          <a:p>
            <a:r>
              <a:rPr lang="sr-Latn-BA" sz="2600" dirty="0" smtClean="0"/>
              <a:t>Struja kroz </a:t>
            </a:r>
            <a:r>
              <a:rPr lang="sr-Latn-BA" sz="2600" dirty="0" err="1" smtClean="0"/>
              <a:t>diodu</a:t>
            </a:r>
            <a:r>
              <a:rPr lang="sr-Latn-BA" sz="2600" dirty="0" smtClean="0"/>
              <a:t> je:</a:t>
            </a:r>
            <a:endParaRPr lang="pl-PL" sz="26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2895600"/>
            <a:ext cx="3429752" cy="3124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1163638" y="3352800"/>
          <a:ext cx="2579687" cy="549275"/>
        </p:xfrm>
        <a:graphic>
          <a:graphicData uri="http://schemas.openxmlformats.org/presentationml/2006/ole">
            <p:oleObj spid="_x0000_s5125" name="Equation" r:id="rId4" imgW="1117440" imgH="241200" progId="Equation.DSMT4">
              <p:embed/>
            </p:oleObj>
          </a:graphicData>
        </a:graphic>
      </p:graphicFrame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1206501" y="4191000"/>
          <a:ext cx="2517133" cy="548640"/>
        </p:xfrm>
        <a:graphic>
          <a:graphicData uri="http://schemas.openxmlformats.org/presentationml/2006/ole">
            <p:oleObj spid="_x0000_s5127" name="Equation" r:id="rId5" imgW="1091880" imgH="241200" progId="Equation.DSMT4">
              <p:embed/>
            </p:oleObj>
          </a:graphicData>
        </a:graphic>
      </p:graphicFrame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129" name="Object 9"/>
          <p:cNvGraphicFramePr>
            <a:graphicFrameLocks noChangeAspect="1"/>
          </p:cNvGraphicFramePr>
          <p:nvPr/>
        </p:nvGraphicFramePr>
        <p:xfrm>
          <a:off x="1249363" y="5334003"/>
          <a:ext cx="2468880" cy="1070533"/>
        </p:xfrm>
        <a:graphic>
          <a:graphicData uri="http://schemas.openxmlformats.org/presentationml/2006/ole">
            <p:oleObj spid="_x0000_s5129" name="Equation" r:id="rId6" imgW="1117440" imgH="4824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l-PL" sz="2600" b="1" dirty="0" smtClean="0"/>
              <a:t>	</a:t>
            </a:r>
            <a:r>
              <a:rPr lang="pl-PL" sz="2600" dirty="0" err="1" smtClean="0"/>
              <a:t>gdje</a:t>
            </a:r>
            <a:r>
              <a:rPr lang="pl-PL" sz="2600" dirty="0" smtClean="0"/>
              <a:t> je:</a:t>
            </a:r>
          </a:p>
          <a:p>
            <a:pPr>
              <a:buNone/>
            </a:pPr>
            <a:r>
              <a:rPr lang="pl-PL" sz="2600" dirty="0" smtClean="0"/>
              <a:t>	</a:t>
            </a:r>
            <a:r>
              <a:rPr lang="sr-Latn-BA" sz="2600" i="1" dirty="0" err="1" smtClean="0"/>
              <a:t>I</a:t>
            </a:r>
            <a:r>
              <a:rPr lang="sr-Latn-BA" sz="2600" i="1" baseline="-25000" dirty="0" err="1" smtClean="0"/>
              <a:t>o</a:t>
            </a:r>
            <a:r>
              <a:rPr lang="sr-Latn-BA" sz="2600" i="1" baseline="-25000" dirty="0" smtClean="0"/>
              <a:t> </a:t>
            </a:r>
            <a:r>
              <a:rPr lang="sr-Latn-BA" sz="2600" i="1" dirty="0" smtClean="0"/>
              <a:t>- </a:t>
            </a:r>
            <a:r>
              <a:rPr lang="sr-Latn-BA" sz="2600" dirty="0" smtClean="0"/>
              <a:t>inverzna struja zasićenja diode na </a:t>
            </a:r>
            <a:r>
              <a:rPr lang="sr-Latn-BA" sz="2600" dirty="0" err="1" smtClean="0"/>
              <a:t>temp</a:t>
            </a:r>
            <a:r>
              <a:rPr lang="sr-Latn-BA" sz="2600" dirty="0" smtClean="0"/>
              <a:t>. 25 °C</a:t>
            </a:r>
            <a:br>
              <a:rPr lang="sr-Latn-BA" sz="2600" dirty="0" smtClean="0"/>
            </a:br>
            <a:r>
              <a:rPr lang="sr-Latn-BA" sz="2600" i="1" dirty="0" smtClean="0"/>
              <a:t>U</a:t>
            </a:r>
            <a:r>
              <a:rPr lang="sr-Latn-BA" sz="2600" i="1" baseline="-25000" dirty="0" smtClean="0"/>
              <a:t>D </a:t>
            </a:r>
            <a:r>
              <a:rPr lang="sr-Latn-BA" sz="2600" i="1" dirty="0" smtClean="0"/>
              <a:t>- </a:t>
            </a:r>
            <a:r>
              <a:rPr lang="sr-Latn-BA" sz="2600" dirty="0" smtClean="0"/>
              <a:t>napon na </a:t>
            </a:r>
            <a:r>
              <a:rPr lang="sr-Latn-BA" sz="2600" dirty="0" err="1" smtClean="0"/>
              <a:t>diodi</a:t>
            </a:r>
            <a:r>
              <a:rPr lang="sr-Latn-BA" sz="2600" dirty="0" smtClean="0"/>
              <a:t/>
            </a:r>
            <a:br>
              <a:rPr lang="sr-Latn-BA" sz="2600" dirty="0" smtClean="0"/>
            </a:br>
            <a:r>
              <a:rPr lang="sr-Latn-BA" sz="2600" i="1" dirty="0" smtClean="0"/>
              <a:t>k</a:t>
            </a:r>
            <a:r>
              <a:rPr lang="sr-Latn-BA" sz="2600" dirty="0" smtClean="0"/>
              <a:t> = 1,381·10</a:t>
            </a:r>
            <a:r>
              <a:rPr lang="sr-Latn-BA" sz="2600" baseline="30000" dirty="0" smtClean="0"/>
              <a:t>-23</a:t>
            </a:r>
            <a:r>
              <a:rPr lang="sr-Latn-BA" sz="2600" dirty="0" smtClean="0"/>
              <a:t> J/K - </a:t>
            </a:r>
            <a:r>
              <a:rPr lang="sr-Latn-BA" sz="2600" i="1" dirty="0" err="1" smtClean="0"/>
              <a:t>Boltzmann</a:t>
            </a:r>
            <a:r>
              <a:rPr lang="sr-Latn-BA" sz="2600" dirty="0" smtClean="0"/>
              <a:t>-ova konstanta</a:t>
            </a:r>
            <a:br>
              <a:rPr lang="sr-Latn-BA" sz="2600" dirty="0" smtClean="0"/>
            </a:br>
            <a:r>
              <a:rPr lang="sr-Latn-BA" sz="2600" i="1" dirty="0" smtClean="0"/>
              <a:t>T</a:t>
            </a:r>
            <a:r>
              <a:rPr lang="sr-Latn-BA" sz="2600" dirty="0" smtClean="0"/>
              <a:t> - apsolutna temperatura</a:t>
            </a:r>
            <a:br>
              <a:rPr lang="sr-Latn-BA" sz="2600" dirty="0" smtClean="0"/>
            </a:br>
            <a:r>
              <a:rPr lang="sr-Latn-BA" sz="2600" i="1" dirty="0" smtClean="0"/>
              <a:t>q</a:t>
            </a:r>
            <a:r>
              <a:rPr lang="sr-Latn-BA" sz="2600" dirty="0" smtClean="0"/>
              <a:t> = 1,602·10</a:t>
            </a:r>
            <a:r>
              <a:rPr lang="sr-Latn-BA" sz="2600" baseline="30000" dirty="0" smtClean="0"/>
              <a:t>-19</a:t>
            </a:r>
            <a:r>
              <a:rPr lang="sr-Latn-BA" sz="2600" dirty="0" smtClean="0"/>
              <a:t> C - naelektrisanje elektrona</a:t>
            </a:r>
          </a:p>
          <a:p>
            <a:r>
              <a:rPr lang="sr-Latn-BA" sz="2600" dirty="0" smtClean="0"/>
              <a:t>Struja koja teče kroz paralelno vezan otpornik dobija se iz </a:t>
            </a:r>
            <a:r>
              <a:rPr lang="sr-Latn-BA" sz="2600" i="1" dirty="0" err="1" smtClean="0"/>
              <a:t>Ohm</a:t>
            </a:r>
            <a:r>
              <a:rPr lang="sr-Latn-BA" sz="2600" dirty="0" smtClean="0"/>
              <a:t>-ovog zakona:</a:t>
            </a:r>
            <a:endParaRPr lang="en-US" sz="2600" dirty="0" smtClean="0"/>
          </a:p>
          <a:p>
            <a:pPr>
              <a:buNone/>
            </a:pPr>
            <a:endParaRPr lang="pl-PL" sz="2600" dirty="0" smtClean="0"/>
          </a:p>
          <a:p>
            <a:pPr>
              <a:buNone/>
            </a:pPr>
            <a:endParaRPr lang="pl-PL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097" name="Object 1"/>
          <p:cNvGraphicFramePr>
            <a:graphicFrameLocks noChangeAspect="1"/>
          </p:cNvGraphicFramePr>
          <p:nvPr/>
        </p:nvGraphicFramePr>
        <p:xfrm>
          <a:off x="3883025" y="4953000"/>
          <a:ext cx="1097280" cy="874533"/>
        </p:xfrm>
        <a:graphic>
          <a:graphicData uri="http://schemas.openxmlformats.org/presentationml/2006/ole">
            <p:oleObj spid="_x0000_s4097" name="Equation" r:id="rId3" imgW="558720" imgH="4442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Da bi se dobila naponsko-strujna karakteristika ćelije može se mijenjati napon i snimiti promjenu struje ili mijenjati struju, a snimiti promjenu napon na ćeliji</a:t>
            </a:r>
          </a:p>
          <a:p>
            <a:r>
              <a:rPr lang="sr-Latn-BA" sz="2600" dirty="0" smtClean="0"/>
              <a:t>U ovom zadatku će se mijenjati napon na ćeliji, a snimiti struja kroz ćeliju</a:t>
            </a:r>
          </a:p>
          <a:p>
            <a:r>
              <a:rPr lang="sr-Latn-BA" sz="2600" dirty="0" smtClean="0"/>
              <a:t>Prema tome jednačine koje opisuju model u kome se zadaje napon, a snima struja su:</a:t>
            </a:r>
            <a:endParaRPr lang="pl-PL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073" name="Object 1"/>
          <p:cNvGraphicFramePr>
            <a:graphicFrameLocks noChangeAspect="1"/>
          </p:cNvGraphicFramePr>
          <p:nvPr/>
        </p:nvGraphicFramePr>
        <p:xfrm>
          <a:off x="781050" y="4800600"/>
          <a:ext cx="3100388" cy="514350"/>
        </p:xfrm>
        <a:graphic>
          <a:graphicData uri="http://schemas.openxmlformats.org/presentationml/2006/ole">
            <p:oleObj spid="_x0000_s3073" name="Equation" r:id="rId3" imgW="1434960" imgH="241200" progId="Equation.DSMT4">
              <p:embed/>
            </p:oleObj>
          </a:graphicData>
        </a:graphic>
      </p:graphicFrame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1085850" y="5638800"/>
          <a:ext cx="2468880" cy="504138"/>
        </p:xfrm>
        <a:graphic>
          <a:graphicData uri="http://schemas.openxmlformats.org/presentationml/2006/ole">
            <p:oleObj spid="_x0000_s3075" name="Equation" r:id="rId4" imgW="1117440" imgH="228600" progId="Equation.DSMT4">
              <p:embed/>
            </p:oleObj>
          </a:graphicData>
        </a:graphic>
      </p:graphicFrame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4924425" y="4953002"/>
          <a:ext cx="2468880" cy="1067662"/>
        </p:xfrm>
        <a:graphic>
          <a:graphicData uri="http://schemas.openxmlformats.org/presentationml/2006/ole">
            <p:oleObj spid="_x0000_s3077" name="Equation" r:id="rId5" imgW="1117440" imgH="4824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686800" cy="4830763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Za proračun struje ćelije potrebna je struja kratkog spoja</a:t>
            </a:r>
          </a:p>
          <a:p>
            <a:r>
              <a:rPr lang="sr-Latn-BA" sz="2600" dirty="0" smtClean="0"/>
              <a:t>Potrebno je iz zadatog stanja odrediti koeficijent proporcionalnosti struje kratkog spoja </a:t>
            </a:r>
            <a:r>
              <a:rPr lang="en-US" sz="2600" dirty="0" err="1" smtClean="0"/>
              <a:t>i</a:t>
            </a:r>
            <a:r>
              <a:rPr lang="sr-Latn-BA" sz="2600" dirty="0" smtClean="0"/>
              <a:t> iradijanse koji vrijedi za temperaturu od 25 °C</a:t>
            </a:r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r>
              <a:rPr lang="sr-Latn-BA" sz="2600" dirty="0" smtClean="0"/>
              <a:t>Na osnovu jednačina datih na slajdu pet dobija se model fotonaponske ćelije prikazan na sljedećem slajdu </a:t>
            </a:r>
            <a:endParaRPr lang="en-US" sz="2600" dirty="0" smtClean="0"/>
          </a:p>
          <a:p>
            <a:endParaRPr lang="pl-PL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49" name="Object 1"/>
          <p:cNvGraphicFramePr>
            <a:graphicFrameLocks noChangeAspect="1"/>
          </p:cNvGraphicFramePr>
          <p:nvPr/>
        </p:nvGraphicFramePr>
        <p:xfrm>
          <a:off x="2492375" y="3276600"/>
          <a:ext cx="3927475" cy="942975"/>
        </p:xfrm>
        <a:graphic>
          <a:graphicData uri="http://schemas.openxmlformats.org/presentationml/2006/ole">
            <p:oleObj spid="_x0000_s2049" name="Equation" r:id="rId3" imgW="1777680" imgH="4316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" y="1535558"/>
            <a:ext cx="7680960" cy="5322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51816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Da bismo sklopili prikazani model u </a:t>
            </a:r>
            <a:r>
              <a:rPr lang="sr-Latn-BA" sz="2600" i="1" dirty="0" err="1" smtClean="0"/>
              <a:t>Matlab</a:t>
            </a:r>
            <a:r>
              <a:rPr lang="sr-Latn-BA" sz="2600" dirty="0" smtClean="0"/>
              <a:t>-u potrebno je:</a:t>
            </a:r>
          </a:p>
          <a:p>
            <a:pPr lvl="1"/>
            <a:r>
              <a:rPr lang="sr-Latn-BA" sz="2200" dirty="0" smtClean="0"/>
              <a:t>pokrenuti </a:t>
            </a:r>
            <a:r>
              <a:rPr lang="sr-Latn-BA" sz="2200" i="1" dirty="0" err="1" smtClean="0"/>
              <a:t>Matlab</a:t>
            </a:r>
            <a:endParaRPr lang="sr-Latn-BA" sz="2200" i="1" dirty="0" smtClean="0"/>
          </a:p>
          <a:p>
            <a:pPr lvl="1"/>
            <a:r>
              <a:rPr lang="sr-Latn-BA" sz="2200" dirty="0" smtClean="0"/>
              <a:t>pokrenuti </a:t>
            </a:r>
            <a:r>
              <a:rPr lang="sr-Latn-BA" sz="2200" i="1" dirty="0" err="1" smtClean="0"/>
              <a:t>Simulink</a:t>
            </a:r>
            <a:r>
              <a:rPr lang="sr-Latn-BA" sz="2200" dirty="0" smtClean="0"/>
              <a:t> (ukucati “</a:t>
            </a:r>
            <a:r>
              <a:rPr lang="sr-Latn-BA" sz="2200" i="1" dirty="0" err="1" smtClean="0"/>
              <a:t>simulink</a:t>
            </a:r>
            <a:r>
              <a:rPr lang="sr-Latn-BA" sz="2200" dirty="0" smtClean="0"/>
              <a:t> ” u </a:t>
            </a:r>
            <a:br>
              <a:rPr lang="sr-Latn-BA" sz="2200" dirty="0" smtClean="0"/>
            </a:br>
            <a:r>
              <a:rPr lang="sr-Latn-BA" sz="2200" dirty="0" smtClean="0"/>
              <a:t>komandni prozor i pritisnuti </a:t>
            </a:r>
            <a:r>
              <a:rPr lang="sr-Latn-BA" sz="2200" i="1" dirty="0" smtClean="0"/>
              <a:t>Enter</a:t>
            </a:r>
            <a:r>
              <a:rPr lang="sr-Latn-BA" sz="2200" dirty="0" smtClean="0"/>
              <a:t>)</a:t>
            </a:r>
          </a:p>
          <a:p>
            <a:pPr lvl="1"/>
            <a:r>
              <a:rPr lang="sr-Latn-BA" sz="2200" dirty="0" smtClean="0"/>
              <a:t>kada se otvori </a:t>
            </a:r>
            <a:r>
              <a:rPr lang="en-US" sz="2200" i="1" dirty="0" err="1" smtClean="0"/>
              <a:t>Simulink</a:t>
            </a:r>
            <a:r>
              <a:rPr lang="en-US" sz="2200" i="1" dirty="0" smtClean="0"/>
              <a:t> Library </a:t>
            </a:r>
            <a:r>
              <a:rPr lang="sr-Latn-BA" sz="2200" i="1" dirty="0" smtClean="0"/>
              <a:t/>
            </a:r>
            <a:br>
              <a:rPr lang="sr-Latn-BA" sz="2200" i="1" dirty="0" smtClean="0"/>
            </a:br>
            <a:r>
              <a:rPr lang="en-US" sz="2200" i="1" dirty="0" smtClean="0"/>
              <a:t>Browser </a:t>
            </a:r>
            <a:r>
              <a:rPr lang="sr-Latn-BA" sz="2200" dirty="0" smtClean="0"/>
              <a:t>potrebno je otvoriti novi </a:t>
            </a:r>
            <a:br>
              <a:rPr lang="sr-Latn-BA" sz="2200" dirty="0" smtClean="0"/>
            </a:br>
            <a:r>
              <a:rPr lang="sr-Latn-BA" sz="2200" dirty="0" smtClean="0"/>
              <a:t>model izborom </a:t>
            </a:r>
            <a:r>
              <a:rPr lang="sr-Latn-BA" sz="2200" i="1" dirty="0" smtClean="0"/>
              <a:t>File</a:t>
            </a:r>
            <a:r>
              <a:rPr lang="sr-Latn-BA" sz="2200" dirty="0" smtClean="0"/>
              <a:t>-&gt; </a:t>
            </a:r>
            <a:r>
              <a:rPr lang="sr-Latn-BA" sz="2200" i="1" dirty="0" err="1" smtClean="0"/>
              <a:t>New</a:t>
            </a:r>
            <a:r>
              <a:rPr lang="sr-Latn-BA" sz="2200" dirty="0" smtClean="0"/>
              <a:t> -&gt; </a:t>
            </a:r>
            <a:r>
              <a:rPr lang="sr-Latn-BA" sz="2200" i="1" dirty="0" smtClean="0"/>
              <a:t>Model</a:t>
            </a:r>
          </a:p>
          <a:p>
            <a:pPr lvl="1"/>
            <a:r>
              <a:rPr lang="sr-Latn-BA" sz="2200" dirty="0" smtClean="0"/>
              <a:t>za dodavanje elemenata koristiti </a:t>
            </a:r>
            <a:br>
              <a:rPr lang="sr-Latn-BA" sz="2200" dirty="0" smtClean="0"/>
            </a:br>
            <a:r>
              <a:rPr lang="sr-Latn-BA" sz="2200" dirty="0" smtClean="0"/>
              <a:t>prvi skup u oznaci </a:t>
            </a:r>
            <a:r>
              <a:rPr lang="sr-Latn-BA" sz="2200" i="1" dirty="0" err="1" smtClean="0"/>
              <a:t>Simulink</a:t>
            </a:r>
            <a:endParaRPr lang="sr-Latn-BA" sz="2200" i="1" dirty="0" smtClean="0"/>
          </a:p>
          <a:p>
            <a:pPr lvl="1"/>
            <a:r>
              <a:rPr lang="sr-Latn-BA" sz="2200" dirty="0" smtClean="0"/>
              <a:t>Na primjer, za odavanje </a:t>
            </a:r>
            <a:r>
              <a:rPr lang="sr-Latn-BA" sz="2200" dirty="0" err="1" smtClean="0"/>
              <a:t>sumatora</a:t>
            </a:r>
            <a:r>
              <a:rPr lang="sr-Latn-BA" sz="2200" dirty="0" smtClean="0"/>
              <a:t> </a:t>
            </a:r>
            <a:br>
              <a:rPr lang="sr-Latn-BA" sz="2200" dirty="0" smtClean="0"/>
            </a:br>
            <a:r>
              <a:rPr lang="sr-Latn-BA" sz="2200" i="1" dirty="0" err="1" smtClean="0"/>
              <a:t>Sum</a:t>
            </a:r>
            <a:r>
              <a:rPr lang="sr-Latn-BA" sz="2200" i="1" dirty="0" smtClean="0"/>
              <a:t> </a:t>
            </a:r>
            <a:r>
              <a:rPr lang="sr-Latn-BA" sz="2200" dirty="0" smtClean="0"/>
              <a:t>potrebno je iz biblioteke </a:t>
            </a:r>
            <a:r>
              <a:rPr lang="sr-Latn-BA" sz="2200" i="1" dirty="0" err="1" smtClean="0"/>
              <a:t>Simulink</a:t>
            </a:r>
            <a:r>
              <a:rPr lang="sr-Latn-BA" sz="2200" i="1" dirty="0" smtClean="0"/>
              <a:t/>
            </a:r>
            <a:br>
              <a:rPr lang="sr-Latn-BA" sz="2200" i="1" dirty="0" smtClean="0"/>
            </a:br>
            <a:r>
              <a:rPr lang="sr-Latn-BA" sz="2200" dirty="0" smtClean="0"/>
              <a:t>izabrati  </a:t>
            </a:r>
            <a:r>
              <a:rPr lang="en-US" sz="2200" i="1" dirty="0" smtClean="0"/>
              <a:t>Math Operations </a:t>
            </a:r>
            <a:r>
              <a:rPr lang="en-US" sz="2200" dirty="0" smtClean="0"/>
              <a:t> </a:t>
            </a:r>
            <a:r>
              <a:rPr lang="sr-Latn-BA" sz="2200" dirty="0" smtClean="0"/>
              <a:t>i pronaći </a:t>
            </a:r>
            <a:br>
              <a:rPr lang="sr-Latn-BA" sz="2200" dirty="0" smtClean="0"/>
            </a:br>
            <a:r>
              <a:rPr lang="sr-Latn-BA" sz="2200" dirty="0" err="1" smtClean="0"/>
              <a:t>sumator</a:t>
            </a:r>
            <a:r>
              <a:rPr lang="sr-Latn-BA" sz="2200" dirty="0" smtClean="0"/>
              <a:t>  - pogledati sljedeći slajd</a:t>
            </a:r>
          </a:p>
          <a:p>
            <a:pPr lvl="1">
              <a:buNone/>
            </a:pPr>
            <a:endParaRPr lang="sr-Latn-BA" sz="2200" dirty="0" smtClean="0"/>
          </a:p>
          <a:p>
            <a:pPr lvl="1">
              <a:buNone/>
            </a:pPr>
            <a:endParaRPr lang="sr-Latn-BA" sz="2200" dirty="0" smtClean="0"/>
          </a:p>
          <a:p>
            <a:pPr>
              <a:buNone/>
            </a:pPr>
            <a:endParaRPr lang="pl-PL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56120" y="2286000"/>
            <a:ext cx="1828800" cy="10256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/>
          <a:srcRect b="42323"/>
          <a:stretch>
            <a:fillRect/>
          </a:stretch>
        </p:blipFill>
        <p:spPr bwMode="auto">
          <a:xfrm>
            <a:off x="5410200" y="3733800"/>
            <a:ext cx="3474720" cy="1066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58840" y="5339884"/>
            <a:ext cx="2926080" cy="67991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15000"/>
            <a:ext cx="8229600" cy="762000"/>
          </a:xfrm>
        </p:spPr>
        <p:txBody>
          <a:bodyPr>
            <a:normAutofit fontScale="92500" lnSpcReduction="10000"/>
          </a:bodyPr>
          <a:lstStyle/>
          <a:p>
            <a:r>
              <a:rPr lang="sr-Latn-BA" sz="2600" dirty="0" smtClean="0"/>
              <a:t>Za dodavanje elementa u model potrebno je držati lijevi klik i prevući 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" y="1066800"/>
            <a:ext cx="8961120" cy="452531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Da bi model ćelije bio jedna cjelina, </a:t>
            </a:r>
            <a:r>
              <a:rPr lang="sr-Latn-BA" sz="2600" dirty="0" err="1" smtClean="0"/>
              <a:t>sklopićemo</a:t>
            </a:r>
            <a:r>
              <a:rPr lang="sr-Latn-BA" sz="2600" dirty="0" smtClean="0"/>
              <a:t> ga u </a:t>
            </a:r>
            <a:r>
              <a:rPr lang="en-US" sz="2600" i="1" dirty="0" smtClean="0"/>
              <a:t>Subsystem</a:t>
            </a:r>
            <a:r>
              <a:rPr lang="sr-Latn-BA" sz="2600" i="1" dirty="0" smtClean="0"/>
              <a:t>-</a:t>
            </a:r>
            <a:r>
              <a:rPr lang="sr-Latn-BA" sz="2600" dirty="0" smtClean="0"/>
              <a:t>u</a:t>
            </a:r>
          </a:p>
          <a:p>
            <a:pPr lvl="1"/>
            <a:r>
              <a:rPr lang="sr-Latn-BA" sz="2200" dirty="0" smtClean="0"/>
              <a:t>Prevući element </a:t>
            </a:r>
            <a:r>
              <a:rPr lang="en-US" sz="2200" i="1" dirty="0" smtClean="0"/>
              <a:t>Subsystem</a:t>
            </a:r>
            <a:r>
              <a:rPr lang="sr-Latn-BA" sz="2200" i="1" dirty="0" smtClean="0"/>
              <a:t> </a:t>
            </a:r>
            <a:r>
              <a:rPr lang="sr-Latn-BA" sz="2200" dirty="0" smtClean="0"/>
              <a:t> iz </a:t>
            </a:r>
            <a:r>
              <a:rPr lang="en-US" sz="2200" i="1" dirty="0" smtClean="0"/>
              <a:t>Commonly Used Blocks </a:t>
            </a:r>
            <a:r>
              <a:rPr lang="sr-Latn-BA" sz="2200" dirty="0" smtClean="0"/>
              <a:t>i otvoriti</a:t>
            </a:r>
          </a:p>
          <a:p>
            <a:pPr lvl="1"/>
            <a:r>
              <a:rPr lang="sr-Latn-BA" sz="2200" dirty="0" smtClean="0"/>
              <a:t>u </a:t>
            </a:r>
            <a:r>
              <a:rPr lang="sr-Latn-BA" sz="2200" i="1" dirty="0" err="1" smtClean="0"/>
              <a:t>Subsystem</a:t>
            </a:r>
            <a:r>
              <a:rPr lang="sr-Latn-BA" sz="2200" i="1" dirty="0" smtClean="0"/>
              <a:t>-u</a:t>
            </a:r>
            <a:r>
              <a:rPr lang="sr-Latn-BA" sz="2200" dirty="0" smtClean="0"/>
              <a:t>  bi trebali biti spojeni  </a:t>
            </a:r>
            <a:r>
              <a:rPr lang="sr-Latn-BA" sz="2200" i="1" dirty="0" err="1" smtClean="0"/>
              <a:t>In1</a:t>
            </a:r>
            <a:r>
              <a:rPr lang="sr-Latn-BA" sz="2200" dirty="0" smtClean="0"/>
              <a:t> i </a:t>
            </a:r>
            <a:r>
              <a:rPr lang="sr-Latn-BA" sz="2200" i="1" dirty="0" err="1" smtClean="0"/>
              <a:t>Out1</a:t>
            </a:r>
            <a:endParaRPr lang="sr-Latn-BA" sz="2200" i="1" dirty="0" smtClean="0"/>
          </a:p>
          <a:p>
            <a:pPr lvl="1"/>
            <a:endParaRPr lang="sr-Latn-BA" sz="2200" i="1" dirty="0" smtClean="0"/>
          </a:p>
          <a:p>
            <a:pPr lvl="1"/>
            <a:endParaRPr lang="sr-Latn-BA" sz="2200" i="1" dirty="0" smtClean="0"/>
          </a:p>
          <a:p>
            <a:pPr lvl="1"/>
            <a:endParaRPr lang="sr-Latn-BA" sz="2200" i="1" dirty="0" smtClean="0"/>
          </a:p>
          <a:p>
            <a:pPr lvl="1"/>
            <a:r>
              <a:rPr lang="sr-Latn-BA" sz="2200" dirty="0" smtClean="0"/>
              <a:t>Izbrisati liniju i sklopiti model sa slajda sedam, koristiti blokove iz sljedećih biblioteka </a:t>
            </a:r>
          </a:p>
          <a:p>
            <a:pPr lvl="2"/>
            <a:r>
              <a:rPr lang="sr-Latn-BA" sz="1800" i="1" dirty="0" err="1" smtClean="0"/>
              <a:t>Sources</a:t>
            </a:r>
            <a:endParaRPr lang="sr-Latn-BA" sz="1800" i="1" dirty="0" smtClean="0"/>
          </a:p>
          <a:p>
            <a:pPr lvl="2"/>
            <a:endParaRPr lang="sr-Latn-BA" sz="1800" dirty="0" smtClean="0"/>
          </a:p>
          <a:p>
            <a:pPr lvl="2"/>
            <a:r>
              <a:rPr lang="sr-Latn-BA" sz="1800" i="1" dirty="0" err="1" smtClean="0"/>
              <a:t>Math</a:t>
            </a:r>
            <a:r>
              <a:rPr lang="sr-Latn-BA" sz="1800" i="1" dirty="0" smtClean="0"/>
              <a:t> </a:t>
            </a:r>
            <a:r>
              <a:rPr lang="sr-Latn-BA" sz="1800" i="1" dirty="0" err="1" smtClean="0"/>
              <a:t>Operations</a:t>
            </a:r>
            <a:r>
              <a:rPr lang="sr-Latn-BA" sz="1800" i="1" dirty="0" smtClean="0"/>
              <a:t> </a:t>
            </a:r>
          </a:p>
          <a:p>
            <a:pPr lvl="1"/>
            <a:endParaRPr lang="sr-Latn-BA" sz="2200" i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3203172"/>
            <a:ext cx="3840480" cy="83542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3320" y="4572000"/>
            <a:ext cx="2011680" cy="884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33799" y="5486400"/>
            <a:ext cx="3931920" cy="972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Da bismo povezali dva elementa potrebno je:</a:t>
            </a:r>
          </a:p>
          <a:p>
            <a:pPr lvl="1"/>
            <a:r>
              <a:rPr lang="sr-Latn-BA" sz="2200" dirty="0" smtClean="0"/>
              <a:t>kliknuti na kraj elementa koji želimo povezati sa nekim drugim, držati lijevi klik i povući liniju do ulaza u drugi blok (element)</a:t>
            </a:r>
          </a:p>
          <a:p>
            <a:pPr lvl="1"/>
            <a:r>
              <a:rPr lang="sr-Latn-BA" sz="2200" dirty="0" smtClean="0"/>
              <a:t>sve dok ne povežemo element linija je crvena </a:t>
            </a:r>
          </a:p>
          <a:p>
            <a:pPr lvl="1"/>
            <a:r>
              <a:rPr lang="sr-Latn-BA" sz="2200" dirty="0" smtClean="0"/>
              <a:t>kada se  povežu </a:t>
            </a:r>
            <a:r>
              <a:rPr lang="en-US" sz="2200" dirty="0" smtClean="0"/>
              <a:t>d</a:t>
            </a:r>
            <a:r>
              <a:rPr lang="sr-Latn-BA" sz="2200" dirty="0" err="1" smtClean="0"/>
              <a:t>va</a:t>
            </a:r>
            <a:r>
              <a:rPr lang="sr-Latn-BA" sz="2200" dirty="0" smtClean="0"/>
              <a:t> elementa linija postaje crna</a:t>
            </a:r>
          </a:p>
          <a:p>
            <a:pPr lvl="1"/>
            <a:endParaRPr lang="sr-Latn-BA" sz="2200" dirty="0" smtClean="0"/>
          </a:p>
          <a:p>
            <a:pPr lvl="1"/>
            <a:endParaRPr lang="sr-Latn-BA" sz="2200" dirty="0" smtClean="0"/>
          </a:p>
          <a:p>
            <a:r>
              <a:rPr lang="sr-Latn-BA" sz="2600" dirty="0" smtClean="0"/>
              <a:t>Kada se sklopi model u </a:t>
            </a:r>
            <a:r>
              <a:rPr lang="sr-Latn-BA" sz="2600" i="1" dirty="0" err="1" smtClean="0"/>
              <a:t>Subsystem</a:t>
            </a:r>
            <a:r>
              <a:rPr lang="sr-Latn-BA" sz="2600" i="1" dirty="0" smtClean="0"/>
              <a:t> </a:t>
            </a:r>
            <a:r>
              <a:rPr lang="sr-Latn-BA" sz="2800" i="1" dirty="0" smtClean="0"/>
              <a:t>-</a:t>
            </a:r>
            <a:r>
              <a:rPr lang="sr-Latn-BA" sz="2600" dirty="0" smtClean="0"/>
              <a:t>u </a:t>
            </a:r>
            <a:br>
              <a:rPr lang="sr-Latn-BA" sz="2600" dirty="0" smtClean="0"/>
            </a:br>
            <a:r>
              <a:rPr lang="sr-Latn-BA" sz="2600" dirty="0" smtClean="0"/>
              <a:t>potrebno je kliknuti na </a:t>
            </a:r>
            <a:r>
              <a:rPr lang="en-US" sz="2600" i="1" dirty="0" smtClean="0"/>
              <a:t>untitled </a:t>
            </a:r>
            <a:endParaRPr lang="sr-Latn-BA" sz="2600" i="1" dirty="0" smtClean="0"/>
          </a:p>
          <a:p>
            <a:r>
              <a:rPr lang="sr-Latn-BA" sz="2600" dirty="0" smtClean="0"/>
              <a:t>Snimiti model – npr. “Zadatak_31”</a:t>
            </a:r>
          </a:p>
          <a:p>
            <a:r>
              <a:rPr lang="sr-Latn-BA" sz="2600" dirty="0" smtClean="0"/>
              <a:t>Sada na ekranu umjesto </a:t>
            </a:r>
            <a:r>
              <a:rPr lang="en-US" sz="2600" i="1" dirty="0" smtClean="0"/>
              <a:t>untitled </a:t>
            </a:r>
            <a:r>
              <a:rPr lang="sr-Latn-BA" sz="2600" dirty="0" smtClean="0"/>
              <a:t>piše </a:t>
            </a:r>
            <a:r>
              <a:rPr lang="sr-Latn-BA" sz="2600" i="1" dirty="0" smtClean="0"/>
              <a:t>Zadatak_31</a:t>
            </a:r>
          </a:p>
          <a:p>
            <a:endParaRPr lang="sr-Latn-BA" sz="2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37361" y="3276600"/>
            <a:ext cx="2377440" cy="953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5360" y="3431490"/>
            <a:ext cx="2377440" cy="835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72200" y="4267200"/>
            <a:ext cx="2560320" cy="89054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Da bismo snimili karakteristiku treba da zadamo iradijansu i temperaturu, a da napon linearno mijenjamo </a:t>
            </a:r>
          </a:p>
          <a:p>
            <a:pPr lvl="1"/>
            <a:r>
              <a:rPr lang="sr-Latn-BA" sz="2200" dirty="0" smtClean="0"/>
              <a:t>sastaviti model prikazan na slici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7280" y="2743200"/>
            <a:ext cx="6949440" cy="356001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r>
              <a:rPr lang="sr-Latn-BA" sz="2600" dirty="0" smtClean="0"/>
              <a:t>Prije pokretanja simulacije potrebno je da unesemo promjenljive</a:t>
            </a:r>
          </a:p>
          <a:p>
            <a:pPr lvl="1"/>
            <a:r>
              <a:rPr lang="sr-Latn-BA" sz="2200" dirty="0" smtClean="0"/>
              <a:t>dvostrukim klikom na element otvara se </a:t>
            </a:r>
            <a:br>
              <a:rPr lang="sr-Latn-BA" sz="2200" dirty="0" smtClean="0"/>
            </a:br>
            <a:r>
              <a:rPr lang="sr-Latn-BA" sz="2200" dirty="0" smtClean="0"/>
              <a:t>meni u kome se mogu unijeti vrijednosti</a:t>
            </a:r>
          </a:p>
          <a:p>
            <a:pPr lvl="1"/>
            <a:r>
              <a:rPr lang="sr-Latn-BA" sz="2200" dirty="0" smtClean="0"/>
              <a:t>na primjer, ako otvorimo </a:t>
            </a:r>
            <a:r>
              <a:rPr lang="sr-Latn-BA" sz="2200" i="1" dirty="0" err="1" smtClean="0"/>
              <a:t>Gain</a:t>
            </a:r>
            <a:r>
              <a:rPr lang="sr-Latn-BA" sz="2200" i="1" dirty="0" smtClean="0"/>
              <a:t> </a:t>
            </a:r>
            <a:r>
              <a:rPr lang="sr-Latn-BA" sz="2200" dirty="0" smtClean="0"/>
              <a:t>dobija se </a:t>
            </a:r>
            <a:br>
              <a:rPr lang="sr-Latn-BA" sz="2200" dirty="0" smtClean="0"/>
            </a:br>
            <a:r>
              <a:rPr lang="sr-Latn-BA" sz="2200" dirty="0" smtClean="0"/>
              <a:t>meni prikazan na slici desno </a:t>
            </a:r>
          </a:p>
          <a:p>
            <a:pPr lvl="1"/>
            <a:r>
              <a:rPr lang="sr-Latn-BA" sz="2200" dirty="0" smtClean="0"/>
              <a:t>u polje </a:t>
            </a:r>
            <a:r>
              <a:rPr lang="sr-Latn-BA" sz="2200" i="1" dirty="0" err="1" smtClean="0"/>
              <a:t>Gain</a:t>
            </a:r>
            <a:r>
              <a:rPr lang="sr-Latn-BA" sz="2200" i="1" dirty="0" smtClean="0"/>
              <a:t> </a:t>
            </a:r>
            <a:r>
              <a:rPr lang="sr-Latn-BA" sz="2200" dirty="0" smtClean="0"/>
              <a:t> je potrebno unijeti </a:t>
            </a:r>
            <a:br>
              <a:rPr lang="sr-Latn-BA" sz="2200" dirty="0" smtClean="0"/>
            </a:br>
            <a:r>
              <a:rPr lang="sr-Latn-BA" sz="2200" dirty="0" smtClean="0"/>
              <a:t>željeno pojačanje (broj ili promjenljivu)</a:t>
            </a:r>
          </a:p>
          <a:p>
            <a:pPr lvl="1"/>
            <a:r>
              <a:rPr lang="sr-Latn-BA" sz="2200" dirty="0" smtClean="0"/>
              <a:t>ako kao u posmatranom primjeru </a:t>
            </a:r>
            <a:br>
              <a:rPr lang="sr-Latn-BA" sz="2200" dirty="0" smtClean="0"/>
            </a:br>
            <a:r>
              <a:rPr lang="sr-Latn-BA" sz="2200" dirty="0" smtClean="0"/>
              <a:t>unesemo promjenljivu, simulacija se ne </a:t>
            </a:r>
            <a:br>
              <a:rPr lang="sr-Latn-BA" sz="2200" dirty="0" smtClean="0"/>
            </a:br>
            <a:r>
              <a:rPr lang="sr-Latn-BA" sz="2200" dirty="0" smtClean="0"/>
              <a:t>može izvršiti dok ne definišemo datu</a:t>
            </a:r>
            <a:br>
              <a:rPr lang="sr-Latn-BA" sz="2200" dirty="0" smtClean="0"/>
            </a:br>
            <a:r>
              <a:rPr lang="sr-Latn-BA" sz="2200" dirty="0" smtClean="0"/>
              <a:t>promjenljivu preko komandnog prozora </a:t>
            </a:r>
            <a:br>
              <a:rPr lang="sr-Latn-BA" sz="2200" dirty="0" smtClean="0"/>
            </a:br>
            <a:r>
              <a:rPr lang="sr-Latn-BA" sz="2200" dirty="0" smtClean="0"/>
              <a:t>ili skripte tj. dok promjenljiva ne bude </a:t>
            </a:r>
            <a:br>
              <a:rPr lang="sr-Latn-BA" sz="2200" dirty="0" smtClean="0"/>
            </a:br>
            <a:r>
              <a:rPr lang="sr-Latn-BA" sz="2200" dirty="0" smtClean="0"/>
              <a:t>upisana u </a:t>
            </a:r>
            <a:r>
              <a:rPr lang="en-US" sz="2200" i="1" dirty="0" smtClean="0"/>
              <a:t>workspace </a:t>
            </a:r>
            <a:r>
              <a:rPr lang="sr-Latn-BA" sz="2200" dirty="0" smtClean="0"/>
              <a:t>    </a:t>
            </a:r>
          </a:p>
          <a:p>
            <a:pPr lvl="1"/>
            <a:endParaRPr lang="sr-Latn-BA" sz="2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 r="44444"/>
          <a:stretch>
            <a:fillRect/>
          </a:stretch>
        </p:blipFill>
        <p:spPr bwMode="auto">
          <a:xfrm>
            <a:off x="6019800" y="2411621"/>
            <a:ext cx="3048000" cy="3760579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69280" y="3124200"/>
            <a:ext cx="3017520" cy="367531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Unijeti promjenljive</a:t>
            </a:r>
          </a:p>
          <a:p>
            <a:endParaRPr lang="sr-Latn-BA" sz="2600" dirty="0" smtClean="0"/>
          </a:p>
          <a:p>
            <a:endParaRPr lang="sr-Latn-BA" sz="2600" dirty="0" smtClean="0"/>
          </a:p>
          <a:p>
            <a:pPr>
              <a:buNone/>
            </a:pPr>
            <a:r>
              <a:rPr lang="sr-Latn-BA" sz="2600" dirty="0" smtClean="0"/>
              <a:t>te nagib rampe i ograničenja osa za </a:t>
            </a:r>
            <a:r>
              <a:rPr lang="sr-Latn-BA" sz="2600" dirty="0" err="1" smtClean="0"/>
              <a:t>XYGraph</a:t>
            </a:r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3429000"/>
            <a:ext cx="4206240" cy="285706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3489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80407" y="1844040"/>
            <a:ext cx="6783187" cy="82296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3456168"/>
            <a:ext cx="4003766" cy="32494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Podesiti trajanje simulacije na 1 s</a:t>
            </a:r>
          </a:p>
          <a:p>
            <a:endParaRPr lang="en-US" sz="2600" dirty="0" smtClean="0"/>
          </a:p>
          <a:p>
            <a:r>
              <a:rPr lang="sr-Latn-BA" sz="2600" dirty="0" smtClean="0"/>
              <a:t>Pokrenuti simulaciju klikom na </a:t>
            </a:r>
            <a:r>
              <a:rPr lang="sr-Latn-BA" sz="2600" i="1" dirty="0" err="1" smtClean="0"/>
              <a:t>Run</a:t>
            </a:r>
            <a:endParaRPr lang="sr-Latn-BA" sz="2600" i="1" dirty="0" smtClean="0"/>
          </a:p>
          <a:p>
            <a:r>
              <a:rPr lang="sr-Latn-BA" sz="2600" dirty="0" smtClean="0"/>
              <a:t>Na kraju se dobija naponsko-strujna </a:t>
            </a:r>
            <a:r>
              <a:rPr lang="en-US" sz="2600" dirty="0" smtClean="0"/>
              <a:t/>
            </a:r>
            <a:br>
              <a:rPr lang="en-US" sz="2600" dirty="0" smtClean="0"/>
            </a:br>
            <a:r>
              <a:rPr lang="sr-Latn-BA" sz="2600" dirty="0" smtClean="0"/>
              <a:t>karakteristika pri iradijansi </a:t>
            </a:r>
            <a:r>
              <a:rPr lang="en-US" sz="2600" dirty="0" smtClean="0"/>
              <a:t/>
            </a:r>
            <a:br>
              <a:rPr lang="en-US" sz="2600" dirty="0" smtClean="0"/>
            </a:br>
            <a:r>
              <a:rPr lang="sr-Latn-BA" sz="2600" dirty="0" smtClean="0"/>
              <a:t>od 1000 W/</a:t>
            </a:r>
            <a:r>
              <a:rPr lang="sr-Latn-BA" sz="2600" dirty="0" err="1" smtClean="0"/>
              <a:t>m</a:t>
            </a:r>
            <a:r>
              <a:rPr lang="sr-Latn-BA" sz="2600" baseline="30000" dirty="0" err="1" smtClean="0"/>
              <a:t>2</a:t>
            </a:r>
            <a:r>
              <a:rPr lang="sr-Latn-BA" sz="2600" dirty="0" smtClean="0"/>
              <a:t> i </a:t>
            </a:r>
            <a:r>
              <a:rPr lang="en-US" sz="2600" dirty="0" smtClean="0"/>
              <a:t/>
            </a:r>
            <a:br>
              <a:rPr lang="en-US" sz="2600" dirty="0" smtClean="0"/>
            </a:br>
            <a:r>
              <a:rPr lang="sr-Latn-BA" sz="2600" dirty="0" smtClean="0"/>
              <a:t>temperaturi 25°C</a:t>
            </a:r>
            <a:endParaRPr lang="sr-Latn-BA" sz="2600" i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38800" y="2133600"/>
            <a:ext cx="640080" cy="622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60720" y="1098324"/>
            <a:ext cx="3383280" cy="111147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fontScale="92500"/>
          </a:bodyPr>
          <a:lstStyle/>
          <a:p>
            <a:r>
              <a:rPr lang="sr-Latn-BA" sz="2800" dirty="0" smtClean="0"/>
              <a:t>Model  prikazan na sladu sedam važi za temperaturu ćelije od 25°C jer su inverzna struja zasićenja diode i struja kratkog spoja ćelije date za temperaturu od 25°C</a:t>
            </a:r>
          </a:p>
          <a:p>
            <a:r>
              <a:rPr lang="sr-Latn-BA" sz="2800" dirty="0" smtClean="0"/>
              <a:t>Ako temperatura odstupa od 25°C potrebno je koristiti složeniji model da bi se dobili korektni rezultati tj. potrebno je uvažiti promjenu inverzne struje zasićenja diode, struje kroz </a:t>
            </a:r>
            <a:r>
              <a:rPr lang="sr-Latn-BA" sz="2800" dirty="0" err="1" smtClean="0"/>
              <a:t>diodu</a:t>
            </a:r>
            <a:r>
              <a:rPr lang="sr-Latn-BA" sz="2800" dirty="0" smtClean="0"/>
              <a:t> i struje kratkog spoja ćelije pri promjeni temperature</a:t>
            </a:r>
          </a:p>
          <a:p>
            <a:r>
              <a:rPr lang="sr-Latn-BA" sz="2800" dirty="0" err="1" smtClean="0"/>
              <a:t>Mijenjajući</a:t>
            </a:r>
            <a:r>
              <a:rPr lang="sr-Latn-BA" sz="2800" dirty="0" smtClean="0"/>
              <a:t> napon fotonaponske ćelije u opsegu od 0 do 0,6 V, pri određenoj iradijansi dobijaju se naponsko-strujne karakteristike fotonaponske ćelije prikazane na sljedećem slajdu</a:t>
            </a:r>
            <a:endParaRPr lang="pl-PL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" y="1805114"/>
            <a:ext cx="8778240" cy="4675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4038597"/>
            <a:ext cx="4846320" cy="222298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2148060"/>
            <a:ext cx="4297680" cy="455754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Da bi se iscrtale </a:t>
            </a:r>
            <a:r>
              <a:rPr lang="sr-Latn-BA" sz="2600" dirty="0" err="1" smtClean="0"/>
              <a:t>kk</a:t>
            </a:r>
            <a:r>
              <a:rPr lang="sr-Latn-BA" sz="2600" dirty="0" smtClean="0"/>
              <a:t>-e sa prethodnog slajda potrebno je u model dodati i snimanje napona, te mijenjati iradijansu</a:t>
            </a:r>
          </a:p>
          <a:p>
            <a:r>
              <a:rPr lang="sr-Latn-BA" sz="2600" dirty="0" smtClean="0"/>
              <a:t>Podatke snimiti u red</a:t>
            </a:r>
            <a:br>
              <a:rPr lang="sr-Latn-BA" sz="2600" dirty="0" smtClean="0"/>
            </a:br>
            <a:r>
              <a:rPr lang="sr-Latn-BA" sz="2600" i="1" dirty="0" smtClean="0"/>
              <a:t>(</a:t>
            </a:r>
            <a:r>
              <a:rPr lang="en-US" sz="2600" i="1" dirty="0" smtClean="0"/>
              <a:t>Array</a:t>
            </a:r>
            <a:r>
              <a:rPr lang="sr-Latn-BA" sz="2600" i="1" dirty="0" smtClean="0"/>
              <a:t>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229600" cy="5334000"/>
          </a:xfrm>
        </p:spPr>
        <p:txBody>
          <a:bodyPr>
            <a:normAutofit lnSpcReduction="10000"/>
          </a:bodyPr>
          <a:lstStyle/>
          <a:p>
            <a:r>
              <a:rPr lang="sr-Latn-BA" sz="2600" dirty="0" smtClean="0"/>
              <a:t>Nakon što se simulacija izvrši nacrtati </a:t>
            </a:r>
            <a:r>
              <a:rPr lang="sr-Latn-BA" sz="2600" dirty="0" err="1" smtClean="0"/>
              <a:t>kk</a:t>
            </a:r>
            <a:r>
              <a:rPr lang="sr-Latn-BA" sz="2600" dirty="0" smtClean="0"/>
              <a:t>-u koristeći sljedeće naredbe </a:t>
            </a:r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r>
              <a:rPr lang="sr-Latn-BA" sz="2600" dirty="0" smtClean="0"/>
              <a:t>Naredbe se mogu unijeti u glavni prozor ili napraviti skriptu</a:t>
            </a:r>
          </a:p>
          <a:p>
            <a:r>
              <a:rPr lang="sr-Latn-BA" sz="2600" dirty="0" smtClean="0"/>
              <a:t>Kada se iscrta jedna karakteristika, promijeniti iradijansu i ponovo iscrtati karakteristiku (drugom bojom)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286000"/>
            <a:ext cx="6126480" cy="258901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" y="1548205"/>
            <a:ext cx="8778240" cy="4776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Preuzeti sa </a:t>
            </a:r>
            <a:r>
              <a:rPr lang="sr-Latn-BA" sz="2600" dirty="0" err="1" smtClean="0"/>
              <a:t>Moodle</a:t>
            </a:r>
            <a:r>
              <a:rPr lang="sr-Latn-BA" sz="2600" dirty="0" smtClean="0"/>
              <a:t> stranice predmeta </a:t>
            </a:r>
            <a:r>
              <a:rPr lang="sr-Latn-BA" sz="2600" i="1" dirty="0" smtClean="0"/>
              <a:t>Modeli </a:t>
            </a:r>
            <a:r>
              <a:rPr lang="sr-Latn-BA" sz="2600" i="1" dirty="0" err="1" smtClean="0"/>
              <a:t>PV</a:t>
            </a:r>
            <a:r>
              <a:rPr lang="sr-Latn-BA" sz="2600" i="1" dirty="0" smtClean="0"/>
              <a:t> modula </a:t>
            </a:r>
            <a:r>
              <a:rPr lang="sr-Latn-BA" sz="2600" dirty="0" smtClean="0"/>
              <a:t>(šifra koja će biti potrebna pri </a:t>
            </a:r>
            <a:r>
              <a:rPr lang="sr-Latn-BA" sz="2600" dirty="0" err="1" smtClean="0"/>
              <a:t>raspakivanju</a:t>
            </a:r>
            <a:r>
              <a:rPr lang="sr-Latn-BA" sz="2600" dirty="0" smtClean="0"/>
              <a:t> je “</a:t>
            </a:r>
            <a:r>
              <a:rPr lang="sr-Latn-BA" sz="2600" dirty="0" err="1" smtClean="0"/>
              <a:t>oie</a:t>
            </a:r>
            <a:r>
              <a:rPr lang="sr-Latn-BA" sz="2600" dirty="0" smtClean="0"/>
              <a:t>”)</a:t>
            </a:r>
          </a:p>
          <a:p>
            <a:r>
              <a:rPr lang="sr-Latn-BA" sz="2600" dirty="0" smtClean="0"/>
              <a:t>Kopirati u folder tako da se modelu može pristupiti iz </a:t>
            </a:r>
            <a:r>
              <a:rPr lang="sr-Latn-BA" sz="2600" i="1" dirty="0" err="1" smtClean="0"/>
              <a:t>Matlab</a:t>
            </a:r>
            <a:r>
              <a:rPr lang="sr-Latn-BA" sz="2600" dirty="0" smtClean="0"/>
              <a:t>-a</a:t>
            </a:r>
          </a:p>
          <a:p>
            <a:r>
              <a:rPr lang="sr-Latn-BA" sz="2600" dirty="0" smtClean="0"/>
              <a:t>U </a:t>
            </a:r>
            <a:r>
              <a:rPr lang="sr-Latn-BA" sz="2600" dirty="0" err="1" smtClean="0"/>
              <a:t>fajlu</a:t>
            </a:r>
            <a:r>
              <a:rPr lang="sr-Latn-BA" sz="2600" dirty="0" smtClean="0"/>
              <a:t> se nalaze dva modela</a:t>
            </a:r>
          </a:p>
          <a:p>
            <a:pPr lvl="1"/>
            <a:r>
              <a:rPr lang="sr-Latn-BA" sz="2200" dirty="0" smtClean="0"/>
              <a:t>u prvom se zadaje struja, a snima napon</a:t>
            </a:r>
          </a:p>
          <a:p>
            <a:pPr lvl="1"/>
            <a:r>
              <a:rPr lang="sr-Latn-BA" sz="2200" dirty="0" smtClean="0"/>
              <a:t>u drugom se zadaje napon, a snima struja</a:t>
            </a:r>
          </a:p>
          <a:p>
            <a:r>
              <a:rPr lang="sr-Latn-BA" sz="2600" dirty="0" smtClean="0"/>
              <a:t>Kako su modeli napravljeni može se </a:t>
            </a:r>
            <a:br>
              <a:rPr lang="sr-Latn-BA" sz="2600" dirty="0" smtClean="0"/>
            </a:br>
            <a:r>
              <a:rPr lang="sr-Latn-BA" sz="2600" dirty="0" smtClean="0"/>
              <a:t>vidjeti klikom na strelicu u donjem </a:t>
            </a:r>
            <a:br>
              <a:rPr lang="sr-Latn-BA" sz="2600" dirty="0" smtClean="0"/>
            </a:br>
            <a:r>
              <a:rPr lang="sr-Latn-BA" sz="2600" dirty="0" smtClean="0"/>
              <a:t>lijevom uglu</a:t>
            </a:r>
            <a:br>
              <a:rPr lang="sr-Latn-BA" sz="2600" dirty="0" smtClean="0"/>
            </a:br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799" y="2971800"/>
            <a:ext cx="2194560" cy="3198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253579"/>
            <a:ext cx="4297680" cy="5147221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5562600"/>
          </a:xfrm>
        </p:spPr>
        <p:txBody>
          <a:bodyPr>
            <a:normAutofit fontScale="92500" lnSpcReduction="10000"/>
          </a:bodyPr>
          <a:lstStyle/>
          <a:p>
            <a:r>
              <a:rPr lang="sr-Latn-BA" sz="2600" dirty="0" smtClean="0"/>
              <a:t>Dvostrukim klikom na </a:t>
            </a:r>
            <a:br>
              <a:rPr lang="sr-Latn-BA" sz="2600" dirty="0" smtClean="0"/>
            </a:br>
            <a:r>
              <a:rPr lang="sr-Latn-BA" sz="2600" dirty="0" smtClean="0"/>
              <a:t>model otvara se prozor u </a:t>
            </a:r>
            <a:br>
              <a:rPr lang="sr-Latn-BA" sz="2600" dirty="0" smtClean="0"/>
            </a:br>
            <a:r>
              <a:rPr lang="sr-Latn-BA" sz="2600" dirty="0" smtClean="0"/>
              <a:t>kome se mogu unijeti </a:t>
            </a:r>
            <a:br>
              <a:rPr lang="sr-Latn-BA" sz="2600" dirty="0" smtClean="0"/>
            </a:br>
            <a:r>
              <a:rPr lang="sr-Latn-BA" sz="2600" dirty="0" smtClean="0"/>
              <a:t>podaci sa </a:t>
            </a:r>
            <a:r>
              <a:rPr lang="sr-Latn-BA" sz="2600" dirty="0" err="1" smtClean="0"/>
              <a:t>natpisne</a:t>
            </a:r>
            <a:r>
              <a:rPr lang="sr-Latn-BA" sz="2600" dirty="0" smtClean="0"/>
              <a:t> pločice </a:t>
            </a:r>
            <a:br>
              <a:rPr lang="sr-Latn-BA" sz="2600" dirty="0" smtClean="0"/>
            </a:br>
            <a:r>
              <a:rPr lang="sr-Latn-BA" sz="2600" dirty="0" smtClean="0"/>
              <a:t>modula</a:t>
            </a:r>
          </a:p>
          <a:p>
            <a:pPr lvl="1"/>
            <a:r>
              <a:rPr lang="sr-Latn-BA" sz="2200" dirty="0" smtClean="0"/>
              <a:t>struja kratkog spoja</a:t>
            </a:r>
          </a:p>
          <a:p>
            <a:pPr lvl="1"/>
            <a:r>
              <a:rPr lang="sr-Latn-BA" sz="2200" dirty="0" smtClean="0"/>
              <a:t>napon otvorenog kola</a:t>
            </a:r>
          </a:p>
          <a:p>
            <a:pPr lvl="1"/>
            <a:r>
              <a:rPr lang="sr-Latn-BA" sz="2200" dirty="0" smtClean="0"/>
              <a:t>struja pri maksimalnoj snazi</a:t>
            </a:r>
          </a:p>
          <a:p>
            <a:pPr lvl="1"/>
            <a:r>
              <a:rPr lang="sr-Latn-BA" sz="2200" dirty="0" smtClean="0"/>
              <a:t>napon pri maksimalnoj snazi</a:t>
            </a:r>
          </a:p>
          <a:p>
            <a:pPr lvl="1"/>
            <a:r>
              <a:rPr lang="sr-Latn-BA" sz="2200" dirty="0" smtClean="0"/>
              <a:t> </a:t>
            </a:r>
            <a:r>
              <a:rPr lang="sr-Latn-BA" sz="2200" dirty="0" err="1" smtClean="0"/>
              <a:t>serijska</a:t>
            </a:r>
            <a:r>
              <a:rPr lang="sr-Latn-BA" sz="2200" dirty="0" smtClean="0"/>
              <a:t> otpornost modula</a:t>
            </a:r>
          </a:p>
          <a:p>
            <a:pPr lvl="1"/>
            <a:r>
              <a:rPr lang="sr-Latn-BA" sz="2200" dirty="0" smtClean="0"/>
              <a:t>paralelna otpornost modula</a:t>
            </a:r>
          </a:p>
          <a:p>
            <a:pPr lvl="1"/>
            <a:r>
              <a:rPr lang="sr-Latn-BA" sz="2200" dirty="0" smtClean="0"/>
              <a:t>broj ćelija</a:t>
            </a:r>
          </a:p>
          <a:p>
            <a:pPr lvl="1"/>
            <a:r>
              <a:rPr lang="sr-Latn-BA" sz="2200" dirty="0" smtClean="0"/>
              <a:t>materijal </a:t>
            </a:r>
          </a:p>
          <a:p>
            <a:pPr lvl="1"/>
            <a:r>
              <a:rPr lang="sr-Latn-BA" sz="2200" dirty="0" smtClean="0"/>
              <a:t>tehnologija izrade</a:t>
            </a:r>
          </a:p>
          <a:p>
            <a:pPr lvl="1"/>
            <a:r>
              <a:rPr lang="sr-Latn-BA" sz="2200" dirty="0" smtClean="0"/>
              <a:t>da li posjeduje premošćavajuć</a:t>
            </a:r>
            <a:r>
              <a:rPr lang="en-US" sz="2200" dirty="0" smtClean="0"/>
              <a:t>u</a:t>
            </a:r>
            <a:r>
              <a:rPr lang="sr-Latn-BA" sz="2200" dirty="0" smtClean="0"/>
              <a:t> </a:t>
            </a:r>
            <a:br>
              <a:rPr lang="sr-Latn-BA" sz="2200" dirty="0" smtClean="0"/>
            </a:br>
            <a:r>
              <a:rPr lang="sr-Latn-BA" sz="2200" dirty="0" smtClean="0"/>
              <a:t>(</a:t>
            </a:r>
            <a:r>
              <a:rPr lang="en-US" sz="2200" i="1" dirty="0" smtClean="0"/>
              <a:t>Bypass</a:t>
            </a:r>
            <a:r>
              <a:rPr lang="sr-Latn-BA" sz="2200" dirty="0" smtClean="0"/>
              <a:t>) </a:t>
            </a:r>
            <a:r>
              <a:rPr lang="sr-Latn-BA" sz="2200" dirty="0" err="1" smtClean="0"/>
              <a:t>diodu</a:t>
            </a:r>
            <a:r>
              <a:rPr lang="sr-Latn-BA" sz="2200" dirty="0" smtClean="0"/>
              <a:t> ili 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Da bismo uradili drugi zadatak potrebno je: </a:t>
            </a:r>
          </a:p>
          <a:p>
            <a:pPr lvl="1"/>
            <a:r>
              <a:rPr lang="sr-Latn-BA" sz="2200" dirty="0" smtClean="0"/>
              <a:t>sklopiti model prikazan na slajdu i unijeti podatke za </a:t>
            </a:r>
            <a:r>
              <a:rPr lang="sr-Latn-BA" sz="2200" dirty="0" err="1" smtClean="0"/>
              <a:t>PV</a:t>
            </a:r>
            <a:r>
              <a:rPr lang="sr-Latn-BA" sz="2200" dirty="0" smtClean="0"/>
              <a:t> modul </a:t>
            </a:r>
          </a:p>
          <a:p>
            <a:pPr lvl="1"/>
            <a:r>
              <a:rPr lang="sr-Latn-BA" sz="2200" dirty="0" smtClean="0"/>
              <a:t>nagib za rampu treba biti </a:t>
            </a:r>
            <a:r>
              <a:rPr lang="sr-Latn-BA" sz="2200" i="1" dirty="0" err="1" smtClean="0"/>
              <a:t>Slope</a:t>
            </a:r>
            <a:r>
              <a:rPr lang="sr-Latn-BA" sz="2200" dirty="0" smtClean="0"/>
              <a:t> =1</a:t>
            </a:r>
          </a:p>
          <a:p>
            <a:pPr lvl="1"/>
            <a:r>
              <a:rPr lang="sr-Latn-BA" sz="2200" dirty="0" smtClean="0"/>
              <a:t>trajanje simulacije podesiti na 3.5 s</a:t>
            </a:r>
          </a:p>
          <a:p>
            <a:pPr lvl="1"/>
            <a:r>
              <a:rPr lang="sr-Latn-BA" sz="2200" dirty="0" smtClean="0"/>
              <a:t>snimanje podataka u red (U,I)</a:t>
            </a:r>
          </a:p>
          <a:p>
            <a:pPr lvl="1"/>
            <a:r>
              <a:rPr lang="sr-Latn-BA" sz="2200" dirty="0" err="1" smtClean="0"/>
              <a:t>XY</a:t>
            </a:r>
            <a:r>
              <a:rPr lang="sr-Latn-BA" sz="2200" dirty="0" smtClean="0"/>
              <a:t> </a:t>
            </a:r>
            <a:r>
              <a:rPr lang="sr-Latn-BA" sz="2200" dirty="0" err="1" smtClean="0"/>
              <a:t>Graph</a:t>
            </a:r>
            <a:r>
              <a:rPr lang="sr-Latn-BA" sz="2200" dirty="0" smtClean="0"/>
              <a:t> (x-min:0, x-max:22, y-min:0, y-max:3.2)</a:t>
            </a:r>
            <a:br>
              <a:rPr lang="sr-Latn-BA" sz="2200" dirty="0" smtClean="0"/>
            </a:br>
            <a:endParaRPr lang="sr-Latn-BA" sz="2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3799974"/>
            <a:ext cx="6126480" cy="298182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Model snimiti pod nazivom “</a:t>
            </a:r>
            <a:r>
              <a:rPr lang="en-US" sz="2600" dirty="0" err="1" smtClean="0"/>
              <a:t>Zadatak_32.slx</a:t>
            </a:r>
            <a:r>
              <a:rPr lang="sr-Latn-BA" sz="2600" dirty="0" smtClean="0"/>
              <a:t>”</a:t>
            </a:r>
          </a:p>
          <a:p>
            <a:r>
              <a:rPr lang="sr-Latn-BA" sz="2600" dirty="0" smtClean="0"/>
              <a:t>Napisati sljedeću skriptu</a:t>
            </a:r>
            <a:br>
              <a:rPr lang="sr-Latn-BA" sz="2600" dirty="0" smtClean="0"/>
            </a:br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" y="2637952"/>
            <a:ext cx="8778240" cy="383904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55448" y="4971871"/>
            <a:ext cx="8833104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sr-Latn-BA" sz="2400" dirty="0" smtClean="0"/>
              <a:t>Pokretanjem skripte</a:t>
            </a:r>
            <a:r>
              <a:rPr lang="en-US" sz="2400" dirty="0" smtClean="0"/>
              <a:t>,</a:t>
            </a:r>
            <a:r>
              <a:rPr lang="sr-Latn-BA" sz="2400" dirty="0" smtClean="0"/>
              <a:t> više puta uzastopno se pokreće </a:t>
            </a:r>
            <a:r>
              <a:rPr lang="sr-Latn-BA" sz="2400" i="1" dirty="0" err="1" smtClean="0"/>
              <a:t>Simulink</a:t>
            </a:r>
            <a:r>
              <a:rPr lang="sr-Latn-BA" sz="2400" dirty="0" smtClean="0"/>
              <a:t> model za različite iradijanse (pri istoj temperaturi) i za svaku se iscrtava strujno-naponska karakteristika.</a:t>
            </a:r>
            <a:endParaRPr lang="en-US" sz="2400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" y="1066800"/>
            <a:ext cx="8778240" cy="358059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Pokretanjem skripte dobija se:</a:t>
            </a:r>
            <a:br>
              <a:rPr lang="sr-Latn-BA" sz="2600" dirty="0" smtClean="0"/>
            </a:br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" y="1904999"/>
            <a:ext cx="8778240" cy="464484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50292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Za dio zadatka pod </a:t>
            </a:r>
            <a:r>
              <a:rPr lang="sr-Latn-BA" sz="2600" i="1" dirty="0" smtClean="0"/>
              <a:t>b</a:t>
            </a:r>
            <a:r>
              <a:rPr lang="sr-Latn-BA" sz="2600" dirty="0" smtClean="0"/>
              <a:t>) potrebno je iscrtati strujno-naponske karakteristike </a:t>
            </a:r>
            <a:r>
              <a:rPr lang="sr-Latn-BA" sz="2600" dirty="0" err="1" smtClean="0"/>
              <a:t>PV</a:t>
            </a:r>
            <a:r>
              <a:rPr lang="sr-Latn-BA" sz="2600" dirty="0" smtClean="0"/>
              <a:t> modula pri iradijansi od 1000 W/</a:t>
            </a:r>
            <a:r>
              <a:rPr lang="sr-Latn-BA" sz="2600" dirty="0" err="1" smtClean="0"/>
              <a:t>m</a:t>
            </a:r>
            <a:r>
              <a:rPr lang="sr-Latn-BA" sz="2600" baseline="30000" dirty="0" err="1" smtClean="0"/>
              <a:t>2</a:t>
            </a:r>
            <a:r>
              <a:rPr lang="sr-Latn-BA" sz="2600" dirty="0" smtClean="0"/>
              <a:t> i pri različitim temperaturama  </a:t>
            </a:r>
          </a:p>
          <a:p>
            <a:pPr lvl="1"/>
            <a:r>
              <a:rPr lang="sr-Latn-BA" sz="2200" dirty="0" smtClean="0">
                <a:solidFill>
                  <a:srgbClr val="FF0000"/>
                </a:solidFill>
              </a:rPr>
              <a:t>po uzoru na prethodnu skriptu, napisati skriptu tako da se dobiju tražene karakteristike </a:t>
            </a:r>
          </a:p>
          <a:p>
            <a:r>
              <a:rPr lang="sr-Latn-BA" sz="2600" dirty="0" smtClean="0"/>
              <a:t>Rješenje koje treba da se dobije je dato na sljedećem slajdu</a:t>
            </a:r>
          </a:p>
          <a:p>
            <a:pPr lvl="1">
              <a:buNone/>
            </a:pPr>
            <a:r>
              <a:rPr lang="sr-Latn-BA" sz="2200" dirty="0" smtClean="0"/>
              <a:t/>
            </a:r>
            <a:br>
              <a:rPr lang="sr-Latn-BA" sz="2200" dirty="0" smtClean="0"/>
            </a:br>
            <a:endParaRPr lang="sr-Latn-BA" sz="2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5448" y="4766608"/>
            <a:ext cx="8833104" cy="193899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sr-Latn-BA" sz="2400" dirty="0" smtClean="0">
                <a:solidFill>
                  <a:srgbClr val="FF0000"/>
                </a:solidFill>
              </a:rPr>
              <a:t>Primijetiti da se struja kratkog spoja jako malo mijenja pri promjeni temperature, dok se napon otvorenog kola značajno mijenja. Ako se temperatura modula promijeni sa 75 °C na -25 °C napon otvorenog kola se dva puta poveća. Takođe, struja ima pozitivan temperaturni koeficijent, a napon i snaga negativan.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sr-Latn-BA" sz="2200" dirty="0" smtClean="0"/>
              <a:t/>
            </a:r>
            <a:br>
              <a:rPr lang="sr-Latn-BA" sz="2200" dirty="0" smtClean="0"/>
            </a:br>
            <a:endParaRPr lang="sr-Latn-BA" sz="2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538" y="1438275"/>
            <a:ext cx="8924925" cy="45815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sr-Latn-BA" sz="2200" dirty="0" smtClean="0"/>
              <a:t/>
            </a:r>
            <a:br>
              <a:rPr lang="sr-Latn-BA" sz="2200" dirty="0" smtClean="0"/>
            </a:br>
            <a:endParaRPr lang="sr-Latn-BA" sz="2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" y="1290168"/>
            <a:ext cx="8778240" cy="5415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 b="5823"/>
          <a:stretch>
            <a:fillRect/>
          </a:stretch>
        </p:blipFill>
        <p:spPr bwMode="auto">
          <a:xfrm>
            <a:off x="411480" y="1152523"/>
            <a:ext cx="8321040" cy="562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sr-Latn-BA" sz="2200" dirty="0" smtClean="0"/>
              <a:t/>
            </a:r>
            <a:br>
              <a:rPr lang="sr-Latn-BA" sz="2200" dirty="0" smtClean="0"/>
            </a:br>
            <a:endParaRPr lang="sr-Latn-BA" sz="2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" y="1371600"/>
            <a:ext cx="8412480" cy="513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sr-Latn-BA" sz="2200" dirty="0" smtClean="0"/>
              <a:t/>
            </a:r>
            <a:br>
              <a:rPr lang="sr-Latn-BA" sz="2200" dirty="0" smtClean="0"/>
            </a:br>
            <a:endParaRPr lang="sr-Latn-BA" sz="2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1295400"/>
            <a:ext cx="84582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sr-Latn-BA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sr-Latn-BA" sz="26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sr-Latn-BA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sr-Latn-BA" sz="26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sr-Latn-BA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sr-Latn-BA" sz="26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sr-Latn-BA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sr-Latn-BA" sz="26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sr-Latn-BA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Sastaviti model prikazan na</a:t>
            </a:r>
            <a:r>
              <a:rPr kumimoji="0" lang="sr-Latn-BA" sz="26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sljedećem slajdu</a:t>
            </a:r>
            <a:endParaRPr kumimoji="0" lang="sr-Latn-BA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sr-Latn-BA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tajanje simulacije podesiti na 3,5 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sr-Latn-BA" sz="2200" noProof="0" dirty="0" smtClean="0"/>
              <a:t>nagib rampe podesiti na 1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sr-Latn-BA" sz="22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isključiti</a:t>
            </a:r>
            <a:r>
              <a:rPr kumimoji="0" lang="sr-Latn-BA" sz="2200" b="0" i="0" u="none" strike="noStrike" kern="1200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premošćavajuće (</a:t>
            </a:r>
            <a:r>
              <a:rPr kumimoji="0" lang="en-US" sz="2200" b="0" i="1" u="none" strike="noStrike" kern="1200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bypass</a:t>
            </a:r>
            <a:r>
              <a:rPr kumimoji="0" lang="sr-Latn-BA" sz="2200" b="0" i="0" u="none" strike="noStrike" kern="1200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diode u modulima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sr-Latn-BA" sz="2200" dirty="0" smtClean="0"/>
              <a:t>uključiti snimanje podataka u red (</a:t>
            </a:r>
            <a:r>
              <a:rPr lang="en-US" sz="2200" i="1" dirty="0" smtClean="0"/>
              <a:t>Array</a:t>
            </a:r>
            <a:r>
              <a:rPr lang="sr-Latn-BA" sz="2200" dirty="0" smtClean="0"/>
              <a:t>) u bloku </a:t>
            </a:r>
            <a:r>
              <a:rPr kumimoji="0" lang="en-US" sz="2200" b="0" i="1" u="none" strike="noStrike" kern="1200" cap="none" spc="0" normalizeH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Workspace</a:t>
            </a:r>
            <a:endParaRPr kumimoji="0" lang="sr-Latn-BA" sz="2200" b="0" i="1" u="none" strike="noStrike" kern="1200" cap="none" spc="0" normalizeH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" y="1178423"/>
            <a:ext cx="8412480" cy="3469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sr-Latn-BA" sz="2200" dirty="0" smtClean="0"/>
              <a:t/>
            </a:r>
            <a:br>
              <a:rPr lang="sr-Latn-BA" sz="2200" dirty="0" smtClean="0"/>
            </a:br>
            <a:endParaRPr lang="sr-Latn-BA" sz="2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295400"/>
            <a:ext cx="84582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sr-Latn-BA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sr-Latn-BA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sr-Latn-BA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066800"/>
            <a:ext cx="6400800" cy="57207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943600" y="5334000"/>
            <a:ext cx="2787430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Model </a:t>
            </a:r>
            <a:r>
              <a:rPr lang="sr-Latn-BA" dirty="0" smtClean="0">
                <a:solidFill>
                  <a:srgbClr val="FF0000"/>
                </a:solidFill>
              </a:rPr>
              <a:t>snimiti </a:t>
            </a:r>
            <a:r>
              <a:rPr lang="en-US" dirty="0" smtClean="0">
                <a:solidFill>
                  <a:srgbClr val="FF0000"/>
                </a:solidFill>
              </a:rPr>
              <a:t>pod </a:t>
            </a:r>
            <a:r>
              <a:rPr lang="sr-Latn-BA" dirty="0" smtClean="0">
                <a:solidFill>
                  <a:srgbClr val="FF0000"/>
                </a:solidFill>
              </a:rPr>
              <a:t>nazivom</a:t>
            </a:r>
            <a:br>
              <a:rPr lang="sr-Latn-BA" dirty="0" smtClean="0">
                <a:solidFill>
                  <a:srgbClr val="FF0000"/>
                </a:solidFill>
              </a:rPr>
            </a:br>
            <a:r>
              <a:rPr lang="sr-Latn-BA" dirty="0" smtClean="0">
                <a:solidFill>
                  <a:srgbClr val="FF0000"/>
                </a:solidFill>
              </a:rPr>
              <a:t>“Zadatak_</a:t>
            </a:r>
            <a:r>
              <a:rPr lang="sr-Latn-BA" dirty="0" err="1" smtClean="0">
                <a:solidFill>
                  <a:srgbClr val="FF0000"/>
                </a:solidFill>
              </a:rPr>
              <a:t>33.slx</a:t>
            </a:r>
            <a:r>
              <a:rPr lang="sr-Latn-BA" dirty="0" smtClean="0">
                <a:solidFill>
                  <a:srgbClr val="FF0000"/>
                </a:solidFill>
              </a:rPr>
              <a:t>”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" y="1676400"/>
            <a:ext cx="8778240" cy="5098531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1143000"/>
            <a:ext cx="84582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sr-Latn-BA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Prekucati i pokrenut</a:t>
            </a:r>
            <a:r>
              <a:rPr kumimoji="0" lang="sr-Latn-BA" sz="26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skriptu koja će startovati simulaciju </a:t>
            </a:r>
            <a:r>
              <a:rPr kumimoji="0" lang="sr-Latn-BA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sr-Latn-BA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sr-Latn-BA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362200"/>
            <a:ext cx="7772400" cy="40644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295400"/>
            <a:ext cx="84582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sr-Latn-BA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sr-Latn-BA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sr-Latn-BA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42900" y="1447800"/>
            <a:ext cx="8458200" cy="4830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sr-Latn-BA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 dijagrama očitati maksimalnu snagu i</a:t>
            </a:r>
            <a:r>
              <a:rPr kumimoji="0" lang="sr-Latn-BA" sz="26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izračunati otpornost otpornika za koju se dobija maksimalna snaga</a:t>
            </a:r>
            <a:r>
              <a:rPr kumimoji="0" lang="sr-Latn-BA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sr-Latn-BA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sr-Latn-BA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sr-Latn-BA" sz="2200" dirty="0" smtClean="0"/>
              <a:t/>
            </a:r>
            <a:br>
              <a:rPr lang="sr-Latn-BA" sz="2200" dirty="0" smtClean="0"/>
            </a:br>
            <a:endParaRPr lang="sr-Latn-BA" sz="2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295400"/>
            <a:ext cx="84582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sr-Latn-BA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sr-Latn-BA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sr-Latn-BA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42900" y="1447800"/>
            <a:ext cx="8458200" cy="4830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sr-Latn-BA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Uključiti premošćavajuće diode i ponovo pokrenuti skriptu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sr-Latn-BA" sz="2600" dirty="0" smtClean="0"/>
              <a:t>Sa dijagrama očitati maksimalnu snagu i izračunati otpornost otpornika za koju se dobija maksimalna snaga </a:t>
            </a:r>
            <a:r>
              <a:rPr kumimoji="0" lang="sr-Latn-BA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sr-Latn-BA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sr-Latn-BA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8680" y="2779271"/>
            <a:ext cx="7406640" cy="400252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600200"/>
            <a:ext cx="8458200" cy="4525963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Primijetiti: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" y="2285999"/>
            <a:ext cx="8412480" cy="4014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600200"/>
            <a:ext cx="8458200" cy="4525963"/>
          </a:xfrm>
        </p:spPr>
        <p:txBody>
          <a:bodyPr>
            <a:normAutofit/>
          </a:bodyPr>
          <a:lstStyle/>
          <a:p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" y="1676399"/>
            <a:ext cx="8321040" cy="1022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" y="2819400"/>
            <a:ext cx="8321040" cy="2884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za vježbu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" y="1600200"/>
            <a:ext cx="8820150" cy="50292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Sastaviti model </a:t>
            </a:r>
            <a:r>
              <a:rPr lang="sr-Latn-BA" sz="2600" dirty="0" err="1" smtClean="0"/>
              <a:t>fotonaponskog</a:t>
            </a:r>
            <a:r>
              <a:rPr lang="sr-Latn-BA" sz="2600" dirty="0" smtClean="0"/>
              <a:t> sistema koji se sastoji od paralelne veze dva modula čije su karakteristike date na slajdu 20. Pretpostaviti da je iradijansa prvog modula 1000 W/</a:t>
            </a:r>
            <a:r>
              <a:rPr lang="sr-Latn-BA" sz="2600" dirty="0" err="1" smtClean="0"/>
              <a:t>m</a:t>
            </a:r>
            <a:r>
              <a:rPr lang="sr-Latn-BA" sz="2600" baseline="30000" dirty="0" err="1" smtClean="0"/>
              <a:t>2</a:t>
            </a:r>
            <a:r>
              <a:rPr lang="sr-Latn-BA" sz="2600" dirty="0" smtClean="0"/>
              <a:t>, a iradijansa drugog modula (koji je </a:t>
            </a:r>
            <a:r>
              <a:rPr lang="sr-Latn-BA" sz="2600" dirty="0" err="1" smtClean="0"/>
              <a:t>zasjenčen</a:t>
            </a:r>
            <a:r>
              <a:rPr lang="sr-Latn-BA" sz="2600" dirty="0" smtClean="0"/>
              <a:t>) je 100 W/</a:t>
            </a:r>
            <a:r>
              <a:rPr lang="sr-Latn-BA" sz="2600" dirty="0" err="1" smtClean="0"/>
              <a:t>m</a:t>
            </a:r>
            <a:r>
              <a:rPr lang="sr-Latn-BA" sz="2600" baseline="30000" dirty="0" err="1" smtClean="0"/>
              <a:t>2</a:t>
            </a:r>
            <a:r>
              <a:rPr lang="sr-Latn-BA" sz="2600" dirty="0" smtClean="0"/>
              <a:t>. Temperatura oba modula je 25 °C. Izračunati snagu koja se predaje potrošaču čija je otpornost 30 </a:t>
            </a:r>
            <a:r>
              <a:rPr lang="el-GR" sz="2600" dirty="0" smtClean="0"/>
              <a:t>Ω</a:t>
            </a:r>
            <a:r>
              <a:rPr lang="sr-Latn-BA" sz="2600" dirty="0" smtClean="0"/>
              <a:t>,</a:t>
            </a:r>
            <a:r>
              <a:rPr lang="el-GR" sz="2600" dirty="0" smtClean="0"/>
              <a:t> </a:t>
            </a:r>
            <a:r>
              <a:rPr lang="sr-Latn-BA" sz="2600" dirty="0" smtClean="0"/>
              <a:t>ako:</a:t>
            </a:r>
          </a:p>
          <a:p>
            <a:pPr marL="914400" lvl="1" indent="-457200">
              <a:buFont typeface="+mj-lt"/>
              <a:buAutoNum type="alphaLcParenR"/>
            </a:pPr>
            <a:r>
              <a:rPr lang="sr-Latn-BA" sz="2600" dirty="0" smtClean="0"/>
              <a:t>ne postoje blokirajuće diode,</a:t>
            </a:r>
          </a:p>
          <a:p>
            <a:pPr marL="914400" lvl="1" indent="-457200">
              <a:buFont typeface="+mj-lt"/>
              <a:buAutoNum type="alphaLcParenR"/>
            </a:pPr>
            <a:r>
              <a:rPr lang="sr-Latn-BA" sz="2600" dirty="0" smtClean="0"/>
              <a:t>postoje blokirajuće diode.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Zadatak za vježbu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" y="1600200"/>
            <a:ext cx="8820150" cy="5029200"/>
          </a:xfrm>
        </p:spPr>
        <p:txBody>
          <a:bodyPr>
            <a:normAutofit/>
          </a:bodyPr>
          <a:lstStyle/>
          <a:p>
            <a:r>
              <a:rPr lang="sr-Latn-BA" sz="2600" dirty="0" smtClean="0"/>
              <a:t>Napomena: Koristiti model </a:t>
            </a:r>
            <a:r>
              <a:rPr lang="sr-Latn-BA" sz="2600" dirty="0" err="1" smtClean="0"/>
              <a:t>PV</a:t>
            </a:r>
            <a:r>
              <a:rPr lang="sr-Latn-BA" sz="2600" dirty="0" smtClean="0"/>
              <a:t> modula u kome se zadaje napon, a snima struja. Zanemariti pad napona na </a:t>
            </a:r>
            <a:r>
              <a:rPr lang="sr-Latn-BA" sz="2600" dirty="0" err="1" smtClean="0"/>
              <a:t>diodama</a:t>
            </a:r>
            <a:r>
              <a:rPr lang="sr-Latn-BA" sz="2600" dirty="0" smtClean="0"/>
              <a:t>. Blokirajuće diode modelovati tako da provode struju, ako su direktno polarisane, odnosno da blokiraju struju ako su inverzno polarisane (</a:t>
            </a:r>
            <a:r>
              <a:rPr lang="sr-Latn-BA" sz="2600" i="1" dirty="0" err="1" smtClean="0"/>
              <a:t>I</a:t>
            </a:r>
            <a:r>
              <a:rPr lang="sr-Latn-BA" sz="2600" i="1" baseline="-25000" dirty="0" err="1" smtClean="0"/>
              <a:t>pv</a:t>
            </a:r>
            <a:r>
              <a:rPr lang="sr-Latn-BA" sz="2600" dirty="0" smtClean="0"/>
              <a:t> &gt; 0 =&gt; </a:t>
            </a:r>
            <a:r>
              <a:rPr lang="sr-Latn-BA" sz="2600" i="1" dirty="0" smtClean="0"/>
              <a:t>I</a:t>
            </a:r>
            <a:r>
              <a:rPr lang="sr-Latn-BA" sz="2600" dirty="0" smtClean="0"/>
              <a:t> =</a:t>
            </a:r>
            <a:r>
              <a:rPr lang="sr-Latn-BA" sz="2600" i="1" dirty="0" err="1" smtClean="0"/>
              <a:t>I</a:t>
            </a:r>
            <a:r>
              <a:rPr lang="sr-Latn-BA" sz="2600" i="1" baseline="-25000" dirty="0" err="1" smtClean="0"/>
              <a:t>pv</a:t>
            </a:r>
            <a:r>
              <a:rPr lang="sr-Latn-BA" sz="2600" dirty="0" smtClean="0"/>
              <a:t>, </a:t>
            </a:r>
            <a:r>
              <a:rPr lang="sr-Latn-BA" sz="2600" i="1" dirty="0" err="1" smtClean="0"/>
              <a:t>I</a:t>
            </a:r>
            <a:r>
              <a:rPr lang="sr-Latn-BA" sz="2600" i="1" baseline="-25000" dirty="0" err="1" smtClean="0"/>
              <a:t>pv</a:t>
            </a:r>
            <a:r>
              <a:rPr lang="sr-Latn-BA" sz="2600" dirty="0" smtClean="0"/>
              <a:t>&lt; 0 =&gt; </a:t>
            </a:r>
            <a:r>
              <a:rPr lang="sr-Latn-BA" sz="2600" i="1" dirty="0" smtClean="0"/>
              <a:t>I</a:t>
            </a:r>
            <a:r>
              <a:rPr lang="sr-Latn-BA" sz="2600" dirty="0" smtClean="0"/>
              <a:t> = 0.)</a:t>
            </a:r>
            <a:endParaRPr lang="sr-Latn-BA" sz="2600" baseline="300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40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876800" y="4191000"/>
            <a:ext cx="3352800" cy="1676400"/>
            <a:chOff x="457200" y="1447800"/>
            <a:chExt cx="3352800" cy="1676400"/>
          </a:xfrm>
        </p:grpSpPr>
        <p:pic>
          <p:nvPicPr>
            <p:cNvPr id="3072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71513" y="1447800"/>
              <a:ext cx="2924175" cy="1257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TextBox 5"/>
            <p:cNvSpPr txBox="1"/>
            <p:nvPr/>
          </p:nvSpPr>
          <p:spPr>
            <a:xfrm>
              <a:off x="457200" y="2743200"/>
              <a:ext cx="33528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r-Latn-BA" dirty="0" smtClean="0"/>
                <a:t>Model blokirajuće diode</a:t>
              </a:r>
              <a:endParaRPr lang="en-US" dirty="0"/>
            </a:p>
          </p:txBody>
        </p:sp>
      </p:grp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4265315"/>
            <a:ext cx="2468880" cy="1527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Rješenje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" y="1371600"/>
            <a:ext cx="882015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r-Latn-BA" sz="2600" dirty="0" smtClean="0"/>
              <a:t>a)</a:t>
            </a:r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 cstate="print"/>
          <a:srcRect l="5579" t="3922" r="8508"/>
          <a:stretch>
            <a:fillRect/>
          </a:stretch>
        </p:blipFill>
        <p:spPr bwMode="auto">
          <a:xfrm>
            <a:off x="182880" y="1195647"/>
            <a:ext cx="8778240" cy="5586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Rješenje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" y="1371600"/>
            <a:ext cx="882015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r-Latn-BA" sz="2600" dirty="0" smtClean="0"/>
              <a:t>b)</a:t>
            </a:r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/>
          <a:srcRect l="5374" t="5850" r="7551" b="2171"/>
          <a:stretch>
            <a:fillRect/>
          </a:stretch>
        </p:blipFill>
        <p:spPr bwMode="auto">
          <a:xfrm>
            <a:off x="182880" y="1143000"/>
            <a:ext cx="877824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 smtClean="0"/>
              <a:t>Rješenje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" y="1371600"/>
            <a:ext cx="8820150" cy="5257800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sr-Latn-BA" sz="2600" dirty="0" smtClean="0"/>
              <a:t>a) Snaga koja se predaje potrošaču je:</a:t>
            </a:r>
          </a:p>
          <a:p>
            <a:pPr marL="514350" indent="-514350">
              <a:buNone/>
            </a:pPr>
            <a:endParaRPr lang="sr-Latn-BA" sz="2600" dirty="0" smtClean="0"/>
          </a:p>
          <a:p>
            <a:pPr marL="514350" indent="-514350">
              <a:buNone/>
            </a:pPr>
            <a:r>
              <a:rPr lang="sr-Latn-BA" sz="2600" dirty="0" smtClean="0"/>
              <a:t>b) Snaga koja se predaje potrošaču je:</a:t>
            </a:r>
          </a:p>
          <a:p>
            <a:endParaRPr lang="sr-Latn-BA" sz="2600" dirty="0" smtClean="0"/>
          </a:p>
          <a:p>
            <a:endParaRPr lang="sr-Latn-BA" sz="2600" dirty="0" smtClean="0"/>
          </a:p>
          <a:p>
            <a:endParaRPr lang="sr-Latn-BA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0B7C-4780-41BE-8321-38A6238C7F82}" type="slidenum">
              <a:rPr lang="en-US" smtClean="0"/>
              <a:pPr/>
              <a:t>43</a:t>
            </a:fld>
            <a:endParaRPr lang="en-US"/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2362200" y="1898650"/>
          <a:ext cx="4456113" cy="463550"/>
        </p:xfrm>
        <a:graphic>
          <a:graphicData uri="http://schemas.openxmlformats.org/presentationml/2006/ole">
            <p:oleObj spid="_x0000_s33795" name="Equation" r:id="rId3" imgW="1930320" imgH="203040" progId="Equation.DSMT4">
              <p:embed/>
            </p:oleObj>
          </a:graphicData>
        </a:graphic>
      </p:graphicFrame>
      <p:graphicFrame>
        <p:nvGraphicFramePr>
          <p:cNvPr id="33796" name="Object 4"/>
          <p:cNvGraphicFramePr>
            <a:graphicFrameLocks noChangeAspect="1"/>
          </p:cNvGraphicFramePr>
          <p:nvPr/>
        </p:nvGraphicFramePr>
        <p:xfrm>
          <a:off x="2300288" y="2819400"/>
          <a:ext cx="4543425" cy="463550"/>
        </p:xfrm>
        <a:graphic>
          <a:graphicData uri="http://schemas.openxmlformats.org/presentationml/2006/ole">
            <p:oleObj spid="_x0000_s33796" name="Equation" r:id="rId4" imgW="1968480" imgH="203040" progId="Equation.DSMT4">
              <p:embed/>
            </p:oleObj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28600" y="3564791"/>
            <a:ext cx="3962400" cy="28931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sr-Latn-BA" sz="2600" dirty="0" smtClean="0">
                <a:solidFill>
                  <a:srgbClr val="FF0000"/>
                </a:solidFill>
              </a:rPr>
              <a:t>Primijetiti da je maksimalna snaga kojom se sistem (paralelna veza dva modula) može opteretiti ista bez obzira da li postojale </a:t>
            </a:r>
            <a:r>
              <a:rPr lang="sr-Latn-BA" sz="2600" dirty="0" err="1" smtClean="0">
                <a:solidFill>
                  <a:srgbClr val="FF0000"/>
                </a:solidFill>
              </a:rPr>
              <a:t>bloki</a:t>
            </a:r>
            <a:r>
              <a:rPr lang="sr-Latn-BA" sz="2600" dirty="0" smtClean="0">
                <a:solidFill>
                  <a:srgbClr val="FF0000"/>
                </a:solidFill>
              </a:rPr>
              <a:t>-</a:t>
            </a:r>
            <a:r>
              <a:rPr lang="sr-Latn-BA" sz="2600" dirty="0" err="1" smtClean="0">
                <a:solidFill>
                  <a:srgbClr val="FF0000"/>
                </a:solidFill>
              </a:rPr>
              <a:t>rajuće</a:t>
            </a:r>
            <a:r>
              <a:rPr lang="sr-Latn-BA" sz="2600" dirty="0" smtClean="0">
                <a:solidFill>
                  <a:srgbClr val="FF0000"/>
                </a:solidFill>
              </a:rPr>
              <a:t> diode ili ne. Maksi-</a:t>
            </a:r>
            <a:r>
              <a:rPr lang="sr-Latn-BA" sz="2600" dirty="0" err="1" smtClean="0">
                <a:solidFill>
                  <a:srgbClr val="FF0000"/>
                </a:solidFill>
              </a:rPr>
              <a:t>malna</a:t>
            </a:r>
            <a:r>
              <a:rPr lang="sr-Latn-BA" sz="2600" dirty="0" smtClean="0">
                <a:solidFill>
                  <a:srgbClr val="FF0000"/>
                </a:solidFill>
              </a:rPr>
              <a:t> snaga je 52,3 W. </a:t>
            </a:r>
            <a:endParaRPr lang="en-US" sz="2600" dirty="0">
              <a:solidFill>
                <a:srgbClr val="FF0000"/>
              </a:solidFill>
            </a:endParaRPr>
          </a:p>
        </p:txBody>
      </p:sp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97680" y="3352800"/>
            <a:ext cx="4846320" cy="343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2459</TotalTime>
  <Words>1137</Words>
  <Application>Microsoft Office PowerPoint</Application>
  <PresentationFormat>On-screen Show (4:3)</PresentationFormat>
  <Paragraphs>243</Paragraphs>
  <Slides>43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5" baseType="lpstr">
      <vt:lpstr>Office Theme</vt:lpstr>
      <vt:lpstr>Equation</vt:lpstr>
      <vt:lpstr>Obnovljivi izvori energije</vt:lpstr>
      <vt:lpstr>Zadatak 1</vt:lpstr>
      <vt:lpstr>Zadatak 1</vt:lpstr>
      <vt:lpstr>Zadatak 1</vt:lpstr>
      <vt:lpstr>Zadatak 1</vt:lpstr>
      <vt:lpstr>Zadatak 1</vt:lpstr>
      <vt:lpstr>Zadatak 1</vt:lpstr>
      <vt:lpstr>Zadatak 1</vt:lpstr>
      <vt:lpstr>Zadatak 1</vt:lpstr>
      <vt:lpstr>Zadatak 1</vt:lpstr>
      <vt:lpstr>Zadatak 1</vt:lpstr>
      <vt:lpstr>Zadatak 1</vt:lpstr>
      <vt:lpstr>Zadatak 1</vt:lpstr>
      <vt:lpstr>Zadatak 1</vt:lpstr>
      <vt:lpstr>Zadatak 1</vt:lpstr>
      <vt:lpstr>Zadatak 1</vt:lpstr>
      <vt:lpstr>Zadatak 1</vt:lpstr>
      <vt:lpstr>Zadatak 1</vt:lpstr>
      <vt:lpstr>Zadatak 1</vt:lpstr>
      <vt:lpstr>Zadatak 2</vt:lpstr>
      <vt:lpstr>Zadatak 2</vt:lpstr>
      <vt:lpstr>Zadatak 2</vt:lpstr>
      <vt:lpstr>Zadatak 2</vt:lpstr>
      <vt:lpstr>Zadatak 2</vt:lpstr>
      <vt:lpstr>Zadatak 2</vt:lpstr>
      <vt:lpstr>Zadatak 2</vt:lpstr>
      <vt:lpstr>Zadatak 2</vt:lpstr>
      <vt:lpstr>Zadatak 2</vt:lpstr>
      <vt:lpstr>Zadatak 3</vt:lpstr>
      <vt:lpstr>Zadatak 3</vt:lpstr>
      <vt:lpstr>Zadatak 3</vt:lpstr>
      <vt:lpstr>Zadatak 3</vt:lpstr>
      <vt:lpstr>Zadatak 3</vt:lpstr>
      <vt:lpstr>Zadatak 3</vt:lpstr>
      <vt:lpstr>Zadatak 3</vt:lpstr>
      <vt:lpstr>Zadatak 3</vt:lpstr>
      <vt:lpstr>Zadatak 3</vt:lpstr>
      <vt:lpstr>Zadatak 3</vt:lpstr>
      <vt:lpstr>Zadatak za vježbu</vt:lpstr>
      <vt:lpstr>Zadatak za vježbu</vt:lpstr>
      <vt:lpstr>Rješenje</vt:lpstr>
      <vt:lpstr>Rješenje</vt:lpstr>
      <vt:lpstr>Rješenje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Obnovljivi izvori energije</dc:title>
  <dc:creator>Predrag</dc:creator>
  <cp:lastModifiedBy>Predrag Mrsic</cp:lastModifiedBy>
  <cp:revision>160</cp:revision>
  <dcterms:created xsi:type="dcterms:W3CDTF">2020-03-18T10:17:52Z</dcterms:created>
  <dcterms:modified xsi:type="dcterms:W3CDTF">2021-04-09T05:59:25Z</dcterms:modified>
</cp:coreProperties>
</file>