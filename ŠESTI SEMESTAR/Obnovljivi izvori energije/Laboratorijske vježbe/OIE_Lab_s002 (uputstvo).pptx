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82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FACE2D26-4B6A-4190-B1D1-FB511B5A57BD}" type="datetimeFigureOut">
              <a:rPr lang="en-US" smtClean="0"/>
              <a:pPr/>
              <a:t>3/26/2021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4B7FED8-1226-4287-809D-F233D8619EF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611F8064-07CB-46C2-96A1-910538027201}" type="datetimeFigureOut">
              <a:rPr lang="en-US" smtClean="0"/>
              <a:pPr/>
              <a:t>3/26/2021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BFFD3A20-1641-49DB-B8BC-89E53BCE97F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FD3A20-1641-49DB-B8BC-89E53BCE97F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FD3A20-1641-49DB-B8BC-89E53BCE97F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14E78-2A7D-4A65-85B4-61F75D26CBF8}" type="datetime1">
              <a:rPr lang="en-US" smtClean="0"/>
              <a:pPr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BEAC-02D3-44EC-976C-F9D976A56C51}" type="datetime1">
              <a:rPr lang="en-US" smtClean="0"/>
              <a:pPr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7C51-2474-4A6D-A708-A1B6183736F3}" type="datetime1">
              <a:rPr lang="en-US" smtClean="0"/>
              <a:pPr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06145-D88F-4111-AADE-0B9FD367C81E}" type="datetime1">
              <a:rPr lang="en-US" smtClean="0"/>
              <a:pPr/>
              <a:t>3/26/2021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94748-A106-418C-A0F3-E188031639CE}" type="datetime1">
              <a:rPr lang="en-US" smtClean="0"/>
              <a:pPr/>
              <a:t>3/26/2021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92EAB-0082-4B26-8970-497F437F8261}" type="datetime1">
              <a:rPr lang="en-US" smtClean="0"/>
              <a:pPr/>
              <a:t>3/26/2021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7A7F1-5305-4E16-9103-B7B5338E6A34}" type="datetime1">
              <a:rPr lang="en-US" smtClean="0"/>
              <a:pPr/>
              <a:t>3/26/2021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230D-CB48-4BAF-90DC-9E442003C51E}" type="datetime1">
              <a:rPr lang="en-US" smtClean="0"/>
              <a:pPr/>
              <a:t>3/26/2021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63E2-B944-47A8-B715-0464452AC746}" type="datetime1">
              <a:rPr lang="en-US" smtClean="0"/>
              <a:pPr/>
              <a:t>3/26/2021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2543-7A5E-45A6-8267-1CB5A4D75D0A}" type="datetime1">
              <a:rPr lang="en-US" smtClean="0"/>
              <a:pPr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88055-E903-47EF-B04E-810126E01727}" type="datetime1">
              <a:rPr lang="en-US" smtClean="0"/>
              <a:pPr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B87F4-51AB-47B2-8ED1-901671C6E44F}" type="datetime1">
              <a:rPr lang="en-US" smtClean="0"/>
              <a:pPr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Obnovljivi</a:t>
            </a:r>
            <a:r>
              <a:rPr lang="en-US" dirty="0"/>
              <a:t> </a:t>
            </a:r>
            <a:r>
              <a:rPr lang="en-US" dirty="0" err="1"/>
              <a:t>izvori</a:t>
            </a:r>
            <a:r>
              <a:rPr lang="en-US" dirty="0"/>
              <a:t> </a:t>
            </a:r>
            <a:r>
              <a:rPr lang="en-US" dirty="0" err="1"/>
              <a:t>energije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Druge</a:t>
            </a:r>
            <a:r>
              <a:rPr lang="en-US" dirty="0" smtClean="0"/>
              <a:t> </a:t>
            </a:r>
            <a:r>
              <a:rPr lang="en-US" dirty="0" err="1" smtClean="0"/>
              <a:t>laboratorijske</a:t>
            </a:r>
            <a:r>
              <a:rPr lang="en-US" dirty="0" smtClean="0"/>
              <a:t> </a:t>
            </a:r>
            <a:r>
              <a:rPr lang="en-US" dirty="0" err="1" smtClean="0"/>
              <a:t>vježbe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6700" y="0"/>
            <a:ext cx="8610600" cy="1219200"/>
            <a:chOff x="152400" y="0"/>
            <a:chExt cx="8610600" cy="1219200"/>
          </a:xfrm>
        </p:grpSpPr>
        <p:sp>
          <p:nvSpPr>
            <p:cNvPr id="6" name="TextBox 5"/>
            <p:cNvSpPr txBox="1"/>
            <p:nvPr/>
          </p:nvSpPr>
          <p:spPr>
            <a:xfrm>
              <a:off x="304800" y="0"/>
              <a:ext cx="54864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 </a:t>
              </a:r>
            </a:p>
            <a:p>
              <a:r>
                <a:rPr lang="en-US" dirty="0" smtClean="0"/>
                <a:t>       	</a:t>
              </a:r>
              <a:r>
                <a:rPr lang="sr-Latn-BA" dirty="0" smtClean="0"/>
                <a:t>Univerzitet u </a:t>
              </a:r>
              <a:r>
                <a:rPr lang="sr-Latn-BA" dirty="0" err="1" smtClean="0"/>
                <a:t>Banjoj</a:t>
              </a:r>
              <a:r>
                <a:rPr lang="sr-Latn-BA" dirty="0" smtClean="0"/>
                <a:t> Luci</a:t>
              </a:r>
              <a:endParaRPr lang="en-US" dirty="0" smtClean="0"/>
            </a:p>
            <a:p>
              <a:r>
                <a:rPr lang="sr-Latn-BA" dirty="0" smtClean="0"/>
                <a:t>	Elektrotehnički fakultet</a:t>
              </a:r>
              <a:endParaRPr lang="en-US" dirty="0" smtClean="0"/>
            </a:p>
            <a:p>
              <a:r>
                <a:rPr lang="sr-Latn-BA" dirty="0" smtClean="0"/>
                <a:t>	</a:t>
              </a:r>
              <a:r>
                <a:rPr lang="sr-Latn-BA" dirty="0" err="1" smtClean="0"/>
                <a:t>Obnovljivi</a:t>
              </a:r>
              <a:r>
                <a:rPr lang="sr-Latn-BA" dirty="0" smtClean="0"/>
                <a:t> izvori energije</a:t>
              </a:r>
              <a:endParaRPr lang="en-US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2400" y="289996"/>
              <a:ext cx="1005840" cy="8678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" name="Group 12"/>
            <p:cNvGrpSpPr/>
            <p:nvPr/>
          </p:nvGrpSpPr>
          <p:grpSpPr>
            <a:xfrm>
              <a:off x="152400" y="228600"/>
              <a:ext cx="8610600" cy="990600"/>
              <a:chOff x="152400" y="228600"/>
              <a:chExt cx="5562600" cy="990600"/>
            </a:xfrm>
          </p:grpSpPr>
          <p:cxnSp>
            <p:nvCxnSpPr>
              <p:cNvPr id="9" name="Straight Connector 8"/>
              <p:cNvCxnSpPr/>
              <p:nvPr/>
            </p:nvCxnSpPr>
            <p:spPr>
              <a:xfrm>
                <a:off x="152400" y="228600"/>
                <a:ext cx="5562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152400" y="1219200"/>
                <a:ext cx="5562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 dirty="0" smtClean="0"/>
              <a:t>Banja </a:t>
            </a:r>
            <a:r>
              <a:rPr lang="nn-NO" dirty="0" smtClean="0"/>
              <a:t>Luka</a:t>
            </a:r>
            <a:r>
              <a:rPr lang="sr-Latn-BA" dirty="0" smtClean="0"/>
              <a:t>, 26. mart 2021. godine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l-PL" sz="2800" b="1" dirty="0" err="1" smtClean="0"/>
              <a:t>Zadatak</a:t>
            </a:r>
            <a:r>
              <a:rPr lang="pl-PL" sz="2800" b="1" dirty="0" smtClean="0"/>
              <a:t> </a:t>
            </a:r>
            <a:r>
              <a:rPr lang="pl-PL" sz="2800" b="1" dirty="0"/>
              <a:t>1: </a:t>
            </a:r>
            <a:r>
              <a:rPr lang="pl-PL" sz="2800" b="1" dirty="0" err="1"/>
              <a:t>Direktno</a:t>
            </a:r>
            <a:r>
              <a:rPr lang="pl-PL" sz="2800" b="1" dirty="0"/>
              <a:t> i </a:t>
            </a:r>
            <a:r>
              <a:rPr lang="pl-PL" sz="2800" b="1" dirty="0" err="1"/>
              <a:t>difuzno</a:t>
            </a:r>
            <a:r>
              <a:rPr lang="pl-PL" sz="2800" b="1" dirty="0"/>
              <a:t> </a:t>
            </a:r>
            <a:r>
              <a:rPr lang="pl-PL" sz="2800" b="1" dirty="0" err="1"/>
              <a:t>zračenje</a:t>
            </a:r>
            <a:r>
              <a:rPr lang="pl-PL" sz="2800" b="1" dirty="0"/>
              <a:t> na </a:t>
            </a:r>
            <a:r>
              <a:rPr lang="pl-PL" sz="2800" b="1" dirty="0" smtClean="0"/>
              <a:t>panel</a:t>
            </a:r>
          </a:p>
          <a:p>
            <a:pPr marL="0" indent="0">
              <a:buNone/>
            </a:pPr>
            <a:r>
              <a:rPr lang="en-US" sz="2800" dirty="0" err="1" smtClean="0"/>
              <a:t>Koristeći</a:t>
            </a:r>
            <a:r>
              <a:rPr lang="en-US" sz="2800" dirty="0" smtClean="0"/>
              <a:t> </a:t>
            </a:r>
            <a:r>
              <a:rPr lang="en-US" sz="2800" dirty="0" err="1" smtClean="0"/>
              <a:t>funkciju</a:t>
            </a:r>
            <a:r>
              <a:rPr lang="en-US" sz="2800" dirty="0" smtClean="0"/>
              <a:t> </a:t>
            </a:r>
            <a:r>
              <a:rPr lang="en-US" sz="2800" i="1" dirty="0" err="1" smtClean="0"/>
              <a:t>SolarRadiation</a:t>
            </a:r>
            <a:r>
              <a:rPr lang="en-US" sz="2800" dirty="0" smtClean="0"/>
              <a:t> </a:t>
            </a:r>
            <a:r>
              <a:rPr lang="en-US" sz="2800" dirty="0" err="1" smtClean="0"/>
              <a:t>za</a:t>
            </a:r>
            <a:r>
              <a:rPr lang="en-US" sz="2800" dirty="0" smtClean="0"/>
              <a:t> </a:t>
            </a:r>
            <a:r>
              <a:rPr lang="en-US" sz="2800" dirty="0" err="1" smtClean="0"/>
              <a:t>današnji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za</a:t>
            </a:r>
            <a:r>
              <a:rPr lang="en-US" sz="2800" dirty="0" smtClean="0"/>
              <a:t> </a:t>
            </a:r>
            <a:r>
              <a:rPr lang="en-US" sz="2800" dirty="0" err="1" smtClean="0"/>
              <a:t>Banju</a:t>
            </a:r>
            <a:r>
              <a:rPr lang="sr-Latn-BA" sz="2800" dirty="0"/>
              <a:t> </a:t>
            </a:r>
            <a:r>
              <a:rPr lang="en-US" sz="2800" dirty="0" err="1" smtClean="0"/>
              <a:t>Luku</a:t>
            </a:r>
            <a:r>
              <a:rPr lang="en-US" sz="2800" dirty="0" smtClean="0"/>
              <a:t> (44,7667° N;</a:t>
            </a:r>
            <a:r>
              <a:rPr lang="sr-Latn-BA" sz="2800" dirty="0" smtClean="0"/>
              <a:t> </a:t>
            </a:r>
            <a:r>
              <a:rPr lang="en-US" sz="2800" dirty="0" smtClean="0"/>
              <a:t>17,1833° E) u </a:t>
            </a:r>
            <a:r>
              <a:rPr lang="en-US" sz="2800" dirty="0" err="1" smtClean="0"/>
              <a:t>solarno</a:t>
            </a:r>
            <a:r>
              <a:rPr lang="en-US" sz="2800" dirty="0" smtClean="0"/>
              <a:t> </a:t>
            </a:r>
            <a:r>
              <a:rPr lang="en-US" sz="2800" dirty="0" err="1" smtClean="0"/>
              <a:t>podne</a:t>
            </a:r>
            <a:r>
              <a:rPr lang="en-US" sz="2800" dirty="0" smtClean="0"/>
              <a:t> </a:t>
            </a:r>
            <a:r>
              <a:rPr lang="en-US" sz="2800" dirty="0" err="1" smtClean="0"/>
              <a:t>odrediti</a:t>
            </a:r>
            <a:r>
              <a:rPr lang="en-US" sz="2800" dirty="0" smtClean="0"/>
              <a:t>:</a:t>
            </a:r>
          </a:p>
          <a:p>
            <a:pPr>
              <a:buNone/>
            </a:pPr>
            <a:r>
              <a:rPr lang="en-US" sz="2800" dirty="0" smtClean="0"/>
              <a:t>a) </a:t>
            </a:r>
            <a:r>
              <a:rPr lang="en-US" sz="2800" dirty="0" err="1" smtClean="0"/>
              <a:t>direktnu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 </a:t>
            </a:r>
            <a:r>
              <a:rPr lang="en-US" sz="2800" dirty="0" err="1" smtClean="0"/>
              <a:t>difuznu</a:t>
            </a:r>
            <a:r>
              <a:rPr lang="en-US" sz="2800" dirty="0" smtClean="0"/>
              <a:t> iradijansu </a:t>
            </a:r>
            <a:r>
              <a:rPr lang="en-US" sz="2800" dirty="0" err="1" smtClean="0"/>
              <a:t>na</a:t>
            </a:r>
            <a:r>
              <a:rPr lang="en-US" sz="2800" dirty="0" smtClean="0"/>
              <a:t> </a:t>
            </a:r>
            <a:r>
              <a:rPr lang="en-US" sz="2800" dirty="0" err="1" smtClean="0"/>
              <a:t>horizontalnu</a:t>
            </a:r>
            <a:r>
              <a:rPr lang="en-US" sz="2800" dirty="0" smtClean="0"/>
              <a:t> </a:t>
            </a:r>
            <a:r>
              <a:rPr lang="en-US" sz="2800" dirty="0" err="1" smtClean="0"/>
              <a:t>podlogu</a:t>
            </a:r>
            <a:r>
              <a:rPr lang="en-US" sz="2800" dirty="0" smtClean="0"/>
              <a:t>,</a:t>
            </a:r>
          </a:p>
          <a:p>
            <a:pPr>
              <a:buNone/>
            </a:pPr>
            <a:r>
              <a:rPr lang="en-US" sz="2800" dirty="0" smtClean="0"/>
              <a:t>b) </a:t>
            </a:r>
            <a:r>
              <a:rPr lang="en-US" sz="2800" dirty="0" err="1" smtClean="0"/>
              <a:t>direktnu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 </a:t>
            </a:r>
            <a:r>
              <a:rPr lang="en-US" sz="2800" dirty="0" err="1" smtClean="0"/>
              <a:t>difuznu</a:t>
            </a:r>
            <a:r>
              <a:rPr lang="en-US" sz="2800" dirty="0" smtClean="0"/>
              <a:t> iradijansu </a:t>
            </a:r>
            <a:r>
              <a:rPr lang="en-US" sz="2800" dirty="0" err="1" smtClean="0"/>
              <a:t>na</a:t>
            </a:r>
            <a:r>
              <a:rPr lang="en-US" sz="2800" dirty="0" smtClean="0"/>
              <a:t> </a:t>
            </a:r>
            <a:r>
              <a:rPr lang="en-US" sz="2800" dirty="0" err="1" smtClean="0"/>
              <a:t>vertikalnu</a:t>
            </a:r>
            <a:r>
              <a:rPr lang="en-US" sz="2800" dirty="0" smtClean="0"/>
              <a:t> </a:t>
            </a:r>
            <a:r>
              <a:rPr lang="en-US" sz="2800" dirty="0" err="1" smtClean="0"/>
              <a:t>ploču</a:t>
            </a:r>
            <a:r>
              <a:rPr lang="en-US" sz="2800" dirty="0" smtClean="0"/>
              <a:t> </a:t>
            </a:r>
            <a:r>
              <a:rPr lang="en-US" sz="2800" dirty="0" err="1" smtClean="0"/>
              <a:t>koja</a:t>
            </a:r>
            <a:r>
              <a:rPr lang="en-US" sz="2800" dirty="0" smtClean="0"/>
              <a:t> je </a:t>
            </a:r>
            <a:r>
              <a:rPr lang="en-US" sz="2800" dirty="0" err="1" smtClean="0"/>
              <a:t>okrenuta</a:t>
            </a:r>
            <a:r>
              <a:rPr lang="en-US" sz="2800" dirty="0" smtClean="0"/>
              <a:t> </a:t>
            </a:r>
            <a:r>
              <a:rPr lang="en-US" sz="2800" dirty="0" err="1" smtClean="0"/>
              <a:t>prema</a:t>
            </a:r>
            <a:r>
              <a:rPr lang="en-US" sz="2800" dirty="0" smtClean="0"/>
              <a:t> </a:t>
            </a:r>
            <a:r>
              <a:rPr lang="en-US" sz="2800" dirty="0" err="1" smtClean="0"/>
              <a:t>jugu</a:t>
            </a:r>
            <a:r>
              <a:rPr lang="en-US" sz="2800" dirty="0" smtClean="0"/>
              <a:t>,</a:t>
            </a:r>
          </a:p>
          <a:p>
            <a:pPr>
              <a:buNone/>
            </a:pPr>
            <a:r>
              <a:rPr lang="en-US" sz="2800" dirty="0" smtClean="0"/>
              <a:t>c) </a:t>
            </a:r>
            <a:r>
              <a:rPr lang="en-US" sz="2800" dirty="0" err="1" smtClean="0"/>
              <a:t>direktnu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 </a:t>
            </a:r>
            <a:r>
              <a:rPr lang="en-US" sz="2800" dirty="0" err="1" smtClean="0"/>
              <a:t>difuznu</a:t>
            </a:r>
            <a:r>
              <a:rPr lang="en-US" sz="2800" dirty="0" smtClean="0"/>
              <a:t> iradijansu </a:t>
            </a:r>
            <a:r>
              <a:rPr lang="en-US" sz="2800" dirty="0" err="1" smtClean="0"/>
              <a:t>na</a:t>
            </a:r>
            <a:r>
              <a:rPr lang="en-US" sz="2800" dirty="0" smtClean="0"/>
              <a:t> </a:t>
            </a:r>
            <a:r>
              <a:rPr lang="en-US" sz="2800" dirty="0" err="1" smtClean="0"/>
              <a:t>vertikalnu</a:t>
            </a:r>
            <a:r>
              <a:rPr lang="en-US" sz="2800" dirty="0" smtClean="0"/>
              <a:t> </a:t>
            </a:r>
            <a:r>
              <a:rPr lang="en-US" sz="2800" dirty="0" err="1" smtClean="0"/>
              <a:t>ploču</a:t>
            </a:r>
            <a:r>
              <a:rPr lang="en-US" sz="2800" dirty="0" smtClean="0"/>
              <a:t> </a:t>
            </a:r>
            <a:r>
              <a:rPr lang="en-US" sz="2800" dirty="0" err="1" smtClean="0"/>
              <a:t>koja</a:t>
            </a:r>
            <a:r>
              <a:rPr lang="en-US" sz="2800" dirty="0" smtClean="0"/>
              <a:t> je </a:t>
            </a:r>
            <a:r>
              <a:rPr lang="en-US" sz="2800" dirty="0" err="1" smtClean="0"/>
              <a:t>okrenuta</a:t>
            </a:r>
            <a:r>
              <a:rPr lang="en-US" sz="2800" dirty="0" smtClean="0"/>
              <a:t> </a:t>
            </a:r>
            <a:r>
              <a:rPr lang="en-US" sz="2800" dirty="0" err="1" smtClean="0"/>
              <a:t>prema</a:t>
            </a:r>
            <a:r>
              <a:rPr lang="en-US" sz="2800" dirty="0" smtClean="0"/>
              <a:t> </a:t>
            </a:r>
            <a:r>
              <a:rPr lang="en-US" sz="2800" dirty="0" err="1" smtClean="0"/>
              <a:t>sjeveru</a:t>
            </a:r>
            <a:r>
              <a:rPr lang="en-US" sz="2800" dirty="0" smtClean="0"/>
              <a:t>,</a:t>
            </a:r>
          </a:p>
          <a:p>
            <a:pPr>
              <a:buNone/>
            </a:pPr>
            <a:r>
              <a:rPr lang="en-US" sz="2800" dirty="0" smtClean="0"/>
              <a:t>d) </a:t>
            </a:r>
            <a:r>
              <a:rPr lang="en-US" sz="2800" dirty="0" err="1" smtClean="0"/>
              <a:t>optimalan</a:t>
            </a:r>
            <a:r>
              <a:rPr lang="en-US" sz="2800" dirty="0" smtClean="0"/>
              <a:t> </a:t>
            </a:r>
            <a:r>
              <a:rPr lang="en-US" sz="2800" dirty="0" err="1" smtClean="0"/>
              <a:t>ugao</a:t>
            </a:r>
            <a:r>
              <a:rPr lang="en-US" sz="2800" dirty="0" smtClean="0"/>
              <a:t> </a:t>
            </a:r>
            <a:r>
              <a:rPr lang="en-US" sz="2800" dirty="0" err="1" smtClean="0"/>
              <a:t>panela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sz="2600" dirty="0" smtClean="0"/>
              <a:t>Da biste uradili ovaj zadatak, prvo treba da preuzmete funkciju </a:t>
            </a:r>
            <a:r>
              <a:rPr lang="en-US" sz="2400" i="1" dirty="0" err="1" smtClean="0"/>
              <a:t>SolarRadiation</a:t>
            </a:r>
            <a:r>
              <a:rPr lang="sr-Latn-BA" sz="2400" dirty="0" smtClean="0"/>
              <a:t> sa </a:t>
            </a:r>
            <a:r>
              <a:rPr lang="sr-Latn-BA" sz="2400" dirty="0" err="1" smtClean="0"/>
              <a:t>Moodle</a:t>
            </a:r>
            <a:r>
              <a:rPr lang="sr-Latn-BA" sz="2400" dirty="0" smtClean="0"/>
              <a:t> stranice predmeta </a:t>
            </a:r>
            <a:endParaRPr lang="sr-Latn-BA" sz="2600" dirty="0"/>
          </a:p>
          <a:p>
            <a:pPr lvl="1"/>
            <a:r>
              <a:rPr lang="sr-Latn-BA" sz="2200" dirty="0" smtClean="0"/>
              <a:t>desnim klikom na funkciju pojaviće se meni sa koga treba da izaberete </a:t>
            </a:r>
            <a:r>
              <a:rPr lang="sr-Latn-BA" sz="2200" i="1" dirty="0" smtClean="0"/>
              <a:t>Save Link As...</a:t>
            </a:r>
          </a:p>
          <a:p>
            <a:pPr lvl="1"/>
            <a:r>
              <a:rPr lang="sr-Latn-BA" sz="2200" dirty="0" smtClean="0"/>
              <a:t>snimite funkciju u folder</a:t>
            </a:r>
          </a:p>
          <a:p>
            <a:endParaRPr lang="en-US" sz="2600" dirty="0"/>
          </a:p>
        </p:txBody>
      </p:sp>
      <p:pic>
        <p:nvPicPr>
          <p:cNvPr id="1027" name="Picture 3"/>
          <p:cNvPicPr>
            <a:picLocks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376363" y="3905250"/>
            <a:ext cx="6391275" cy="2876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i="1" dirty="0" err="1" smtClean="0"/>
              <a:t>SolarRadiation</a:t>
            </a:r>
            <a:r>
              <a:rPr lang="sr-Latn-BA" i="1" dirty="0" smtClean="0"/>
              <a:t> 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sz="2600" dirty="0" smtClean="0"/>
              <a:t>Da biste pristupili funkciji koju ste preuzeli sa </a:t>
            </a:r>
            <a:r>
              <a:rPr lang="sr-Latn-BA" sz="2600" dirty="0" err="1" smtClean="0"/>
              <a:t>Moodle</a:t>
            </a:r>
            <a:r>
              <a:rPr lang="sr-Latn-BA" sz="2600" dirty="0" smtClean="0"/>
              <a:t> stranice predmeta, potrebno je da putanju foldera u koji ste snimili funkciju, kopirate u </a:t>
            </a:r>
            <a:r>
              <a:rPr lang="sr-Latn-BA" sz="2600" dirty="0" err="1" smtClean="0"/>
              <a:t>Matlab</a:t>
            </a:r>
            <a:r>
              <a:rPr lang="sr-Latn-BA" sz="2600" dirty="0" smtClean="0"/>
              <a:t> </a:t>
            </a:r>
            <a:endParaRPr lang="en-US" sz="26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2971800"/>
            <a:ext cx="5667375" cy="28765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4038600"/>
            <a:ext cx="6019800" cy="27527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i="1" dirty="0" err="1" smtClean="0"/>
              <a:t>SolarRadiation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172200" cy="48006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Nakon kopiranja putanje, funkcija treba da se nalazi u </a:t>
            </a:r>
            <a:r>
              <a:rPr lang="en-US" sz="2600" i="1" dirty="0" smtClean="0"/>
              <a:t>Current Folder-</a:t>
            </a:r>
            <a:r>
              <a:rPr lang="en-US" sz="2600" dirty="0" smtClean="0"/>
              <a:t>u </a:t>
            </a:r>
            <a:r>
              <a:rPr lang="sr-Latn-BA" sz="2600" dirty="0" err="1" smtClean="0"/>
              <a:t>Matlaba</a:t>
            </a:r>
            <a:endParaRPr lang="sr-Latn-BA" sz="2600" dirty="0" smtClean="0"/>
          </a:p>
          <a:p>
            <a:r>
              <a:rPr lang="sr-Latn-BA" sz="2600" dirty="0" smtClean="0"/>
              <a:t>Da bi se funkcija mogla pozivati treba je snimiti kao </a:t>
            </a:r>
            <a:r>
              <a:rPr lang="sr-Latn-BA" sz="2600" i="1" dirty="0" smtClean="0"/>
              <a:t>m-file</a:t>
            </a:r>
          </a:p>
          <a:p>
            <a:pPr lvl="1"/>
            <a:r>
              <a:rPr lang="sr-Latn-BA" sz="2200" dirty="0" smtClean="0"/>
              <a:t>otvoriti funkciju iz </a:t>
            </a:r>
            <a:r>
              <a:rPr lang="sr-Latn-BA" sz="2200" dirty="0" err="1" smtClean="0"/>
              <a:t>Matlab</a:t>
            </a:r>
            <a:r>
              <a:rPr lang="sr-Latn-BA" sz="2200" dirty="0" smtClean="0"/>
              <a:t>-a</a:t>
            </a:r>
          </a:p>
          <a:p>
            <a:pPr lvl="1"/>
            <a:r>
              <a:rPr lang="sr-Latn-BA" sz="2200" dirty="0" smtClean="0"/>
              <a:t> kliknuti na </a:t>
            </a:r>
            <a:r>
              <a:rPr lang="sr-Latn-BA" sz="2200" i="1" dirty="0" smtClean="0"/>
              <a:t>Save As...</a:t>
            </a:r>
          </a:p>
          <a:p>
            <a:pPr lvl="1"/>
            <a:r>
              <a:rPr lang="sr-Latn-BA" sz="2200" dirty="0" smtClean="0"/>
              <a:t>iza naziva funkcije dodati “.m”</a:t>
            </a:r>
          </a:p>
          <a:p>
            <a:pPr lvl="1"/>
            <a:r>
              <a:rPr lang="sr-Latn-BA" sz="2200" dirty="0" smtClean="0"/>
              <a:t>kliknuti na </a:t>
            </a:r>
            <a:r>
              <a:rPr lang="sr-Latn-BA" sz="2200" i="1" dirty="0" smtClean="0"/>
              <a:t>Save</a:t>
            </a:r>
          </a:p>
          <a:p>
            <a:r>
              <a:rPr lang="sr-Latn-BA" sz="2600" dirty="0" smtClean="0"/>
              <a:t>Ako je procedura dobro urađena, u </a:t>
            </a:r>
            <a:r>
              <a:rPr lang="en-US" sz="2600" i="1" dirty="0" smtClean="0"/>
              <a:t>Current Folder </a:t>
            </a:r>
            <a:r>
              <a:rPr lang="sr-Latn-BA" sz="2600" i="1" dirty="0" smtClean="0"/>
              <a:t>-</a:t>
            </a:r>
            <a:r>
              <a:rPr lang="sr-Latn-BA" sz="2600" dirty="0" smtClean="0"/>
              <a:t>u </a:t>
            </a:r>
            <a:r>
              <a:rPr lang="sr-Latn-BA" sz="2600" dirty="0" err="1" smtClean="0"/>
              <a:t>Matlab</a:t>
            </a:r>
            <a:r>
              <a:rPr lang="sr-Latn-BA" sz="2600" dirty="0" smtClean="0"/>
              <a:t>-a potrebno je da se pojavi “</a:t>
            </a:r>
            <a:r>
              <a:rPr lang="en-US" sz="2800" i="1" dirty="0" err="1" smtClean="0"/>
              <a:t>SolarRadiation</a:t>
            </a:r>
            <a:r>
              <a:rPr lang="sr-Latn-BA" sz="2800" i="1" dirty="0" smtClean="0"/>
              <a:t>.m</a:t>
            </a:r>
            <a:r>
              <a:rPr lang="sr-Latn-BA" sz="2800" dirty="0" smtClean="0"/>
              <a:t> </a:t>
            </a:r>
            <a:r>
              <a:rPr lang="sr-Latn-BA" sz="2600" dirty="0" smtClean="0"/>
              <a:t>”</a:t>
            </a:r>
          </a:p>
          <a:p>
            <a:pPr lvl="1"/>
            <a:endParaRPr lang="sr-Latn-BA" sz="2200" dirty="0" smtClean="0"/>
          </a:p>
          <a:p>
            <a:endParaRPr lang="en-US" sz="26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 b="12057"/>
          <a:stretch>
            <a:fillRect/>
          </a:stretch>
        </p:blipFill>
        <p:spPr bwMode="auto">
          <a:xfrm>
            <a:off x="6705600" y="990600"/>
            <a:ext cx="2371725" cy="2362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 l="6340"/>
          <a:stretch>
            <a:fillRect/>
          </a:stretch>
        </p:blipFill>
        <p:spPr bwMode="auto">
          <a:xfrm>
            <a:off x="6705600" y="3429000"/>
            <a:ext cx="2368296" cy="73340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05600" y="4267200"/>
            <a:ext cx="2368296" cy="252423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836" y="5654040"/>
            <a:ext cx="8832328" cy="82296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i="1" dirty="0" err="1" smtClean="0"/>
              <a:t>SolarRadiation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Funkcija </a:t>
            </a:r>
            <a:r>
              <a:rPr lang="en-US" sz="2600" i="1" dirty="0" err="1" smtClean="0"/>
              <a:t>SolarRadiation</a:t>
            </a:r>
            <a:r>
              <a:rPr lang="sr-Latn-BA" sz="2600" i="1" dirty="0" smtClean="0"/>
              <a:t> </a:t>
            </a:r>
            <a:r>
              <a:rPr lang="sr-Latn-BA" sz="2600" dirty="0" smtClean="0"/>
              <a:t>proračunava direktni u difuznu  komponentu zračenja na proizvoljno postavljen kolektor (i </a:t>
            </a:r>
            <a:r>
              <a:rPr lang="sr-Latn-BA" sz="2600" dirty="0" err="1" smtClean="0"/>
              <a:t>neprigušeno</a:t>
            </a:r>
            <a:r>
              <a:rPr lang="sr-Latn-BA" sz="2600" dirty="0" smtClean="0"/>
              <a:t> zračenje prije ulaska u Zemljinu atmosferu) </a:t>
            </a:r>
          </a:p>
          <a:p>
            <a:r>
              <a:rPr lang="sr-Latn-BA" sz="2600" dirty="0" smtClean="0"/>
              <a:t>Argumenti funkcije su:</a:t>
            </a:r>
          </a:p>
          <a:p>
            <a:pPr lvl="1"/>
            <a:r>
              <a:rPr lang="en-US" sz="2200" dirty="0" err="1" smtClean="0"/>
              <a:t>nDay</a:t>
            </a:r>
            <a:r>
              <a:rPr lang="sr-Latn-BA" sz="2200" dirty="0" smtClean="0"/>
              <a:t>			-&gt;  posmatrani dan u godini</a:t>
            </a:r>
            <a:endParaRPr lang="en-US" sz="2200" dirty="0" smtClean="0"/>
          </a:p>
          <a:p>
            <a:pPr lvl="1"/>
            <a:r>
              <a:rPr lang="en-US" sz="2200" dirty="0" err="1" smtClean="0"/>
              <a:t>SunAltitude</a:t>
            </a:r>
            <a:r>
              <a:rPr lang="sr-Latn-BA" sz="2200" dirty="0" smtClean="0"/>
              <a:t>		-&gt; ugao elevacije Sunca</a:t>
            </a:r>
          </a:p>
          <a:p>
            <a:pPr lvl="1"/>
            <a:r>
              <a:rPr lang="en-US" sz="2200" dirty="0" err="1" smtClean="0"/>
              <a:t>TiltAngle</a:t>
            </a:r>
            <a:r>
              <a:rPr lang="sr-Latn-BA" sz="2200" dirty="0" smtClean="0"/>
              <a:t>	 		-&gt;  nagib </a:t>
            </a:r>
            <a:r>
              <a:rPr lang="pl-PL" sz="2200" dirty="0" smtClean="0"/>
              <a:t>kolektora </a:t>
            </a:r>
            <a:endParaRPr lang="sr-Latn-BA" sz="2200" dirty="0"/>
          </a:p>
          <a:p>
            <a:pPr lvl="1"/>
            <a:r>
              <a:rPr lang="en-US" sz="2200" dirty="0" err="1" smtClean="0"/>
              <a:t>SolarAzimuthAngle</a:t>
            </a:r>
            <a:r>
              <a:rPr lang="sr-Latn-BA" sz="2200" dirty="0" smtClean="0"/>
              <a:t>	-&gt; azimutni ugao Sunca </a:t>
            </a:r>
          </a:p>
          <a:p>
            <a:pPr lvl="1"/>
            <a:r>
              <a:rPr lang="en-US" sz="2200" dirty="0" err="1" smtClean="0"/>
              <a:t>CollectorAzimuthAngle</a:t>
            </a:r>
            <a:r>
              <a:rPr lang="sr-Latn-BA" sz="2200" dirty="0" smtClean="0"/>
              <a:t> 	 -&gt; ugao </a:t>
            </a:r>
            <a:r>
              <a:rPr lang="sr-Latn-BA" sz="2200" dirty="0" err="1" smtClean="0"/>
              <a:t>azimutalne</a:t>
            </a:r>
            <a:r>
              <a:rPr lang="sr-Latn-BA" sz="2200" dirty="0" smtClean="0"/>
              <a:t> orijentacije kolektora </a:t>
            </a:r>
            <a:endParaRPr lang="en-US" sz="2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i="1" dirty="0" err="1" smtClean="0"/>
              <a:t>SolarRadiation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0480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Na početku funkcije se ispituje da li je ugao elevacije Sunca veći od nule  </a:t>
            </a:r>
          </a:p>
          <a:p>
            <a:pPr lvl="1"/>
            <a:r>
              <a:rPr lang="sr-Latn-BA" sz="2200" dirty="0" smtClean="0"/>
              <a:t>ako je manji od nule funkcija vraća nulte vrijednosti zračenja i prekida se izvršavanje funkcije</a:t>
            </a:r>
          </a:p>
          <a:p>
            <a:pPr lvl="1"/>
            <a:r>
              <a:rPr lang="sr-Latn-BA" sz="2200" dirty="0" smtClean="0"/>
              <a:t>ako je veći od nule dio koda prikazan na slajdu se ne izvršava</a:t>
            </a:r>
            <a:endParaRPr lang="en-US" sz="2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48" y="4800600"/>
            <a:ext cx="8833104" cy="156697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i="1" dirty="0" err="1" smtClean="0"/>
              <a:t>SolarRadiation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sz="2600" dirty="0" smtClean="0"/>
              <a:t>Zatim se vrši proračun direktne i difuzne iradijanse, i iradijanse na ulazu u Zemljinu atmosferu </a:t>
            </a:r>
            <a:endParaRPr lang="sr-Latn-BA" sz="2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37" y="2743200"/>
            <a:ext cx="8761863" cy="384048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i="1" dirty="0" err="1" smtClean="0"/>
              <a:t>SolarRadiation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sz="2600" dirty="0" smtClean="0"/>
              <a:t>Na kraju funkcije se provjerava da li je direktna komponenta iradijanse i iradijanse na ulazu u Zemljinu atmosferu manja od nule </a:t>
            </a:r>
          </a:p>
          <a:p>
            <a:pPr lvl="1"/>
            <a:r>
              <a:rPr lang="sr-Latn-BA" sz="2200" dirty="0" smtClean="0"/>
              <a:t>ako je manja od nule dodjeljuje se vrijednost nula </a:t>
            </a:r>
          </a:p>
          <a:p>
            <a:pPr>
              <a:buNone/>
            </a:pPr>
            <a:endParaRPr lang="sr-Latn-BA" sz="2600" dirty="0"/>
          </a:p>
          <a:p>
            <a:pPr>
              <a:buNone/>
            </a:pPr>
            <a:endParaRPr lang="en-US" sz="2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48" y="4953000"/>
            <a:ext cx="8833104" cy="153519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55448" y="3505200"/>
            <a:ext cx="8833104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sr-Latn-BA" sz="2400" dirty="0" smtClean="0">
                <a:solidFill>
                  <a:srgbClr val="FF0000"/>
                </a:solidFill>
              </a:rPr>
              <a:t>Negativna vrijednost iradijanse se može dobiti ako je kolektor postavljen tako da direktna komponenta zračenja pada na njegovu poleđinu!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768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Za određivanje solarnog podneva koristićemo funkciju </a:t>
            </a:r>
            <a:r>
              <a:rPr lang="sr-Latn-BA" sz="2600" i="1" dirty="0" err="1" smtClean="0"/>
              <a:t>SunPosition</a:t>
            </a:r>
            <a:endParaRPr lang="sr-Latn-BA" sz="2600" i="1" dirty="0" smtClean="0"/>
          </a:p>
          <a:p>
            <a:pPr lvl="1"/>
            <a:r>
              <a:rPr lang="sr-Latn-BA" sz="2200" dirty="0" smtClean="0"/>
              <a:t>kopirati funkciju </a:t>
            </a:r>
            <a:r>
              <a:rPr lang="sr-Latn-BA" sz="2200" i="1" dirty="0" err="1" smtClean="0"/>
              <a:t>SunPosition</a:t>
            </a:r>
            <a:r>
              <a:rPr lang="sr-Latn-BA" sz="2200" i="1" dirty="0" smtClean="0"/>
              <a:t> </a:t>
            </a:r>
            <a:r>
              <a:rPr lang="sr-Latn-BA" sz="2200" dirty="0" smtClean="0"/>
              <a:t>u </a:t>
            </a:r>
            <a:r>
              <a:rPr lang="sr-Latn-BA" sz="2200" i="1" dirty="0" err="1" smtClean="0"/>
              <a:t>Current</a:t>
            </a:r>
            <a:r>
              <a:rPr lang="sr-Latn-BA" sz="2200" i="1" dirty="0" smtClean="0"/>
              <a:t> Folder</a:t>
            </a:r>
            <a:r>
              <a:rPr lang="sr-Latn-BA" sz="2200" dirty="0" smtClean="0"/>
              <a:t> </a:t>
            </a:r>
            <a:r>
              <a:rPr lang="sr-Latn-BA" sz="2200" dirty="0" err="1" smtClean="0"/>
              <a:t>Matlab</a:t>
            </a:r>
            <a:r>
              <a:rPr lang="sr-Latn-BA" sz="2200" dirty="0" smtClean="0"/>
              <a:t>-a </a:t>
            </a:r>
          </a:p>
          <a:p>
            <a:pPr lvl="1"/>
            <a:r>
              <a:rPr lang="sr-Latn-BA" sz="2200" dirty="0" smtClean="0"/>
              <a:t>iskoristiti skriptu za određivanje solarnog podneva sa prvih </a:t>
            </a:r>
            <a:r>
              <a:rPr lang="sr-Latn-BA" sz="2200" dirty="0" err="1" smtClean="0"/>
              <a:t>vježbi</a:t>
            </a:r>
            <a:r>
              <a:rPr lang="sr-Latn-BA" sz="2200" dirty="0" smtClean="0"/>
              <a:t> ili napisati novu, kao što je prikazano na slajdu 11 </a:t>
            </a:r>
          </a:p>
          <a:p>
            <a:pPr lvl="1"/>
            <a:r>
              <a:rPr lang="sr-Latn-BA" sz="2200" dirty="0" smtClean="0"/>
              <a:t>pokretanjem </a:t>
            </a:r>
            <a:r>
              <a:rPr lang="sr-Latn-BA" sz="2200" dirty="0" err="1" smtClean="0"/>
              <a:t>skripte</a:t>
            </a:r>
            <a:r>
              <a:rPr lang="sr-Latn-BA" sz="2200" dirty="0" smtClean="0"/>
              <a:t> dobija se dijagram prikazan na slajdu 12 sa koga se može vidjeti da solarno podne 20. marta nastupa u 12,99 h</a:t>
            </a:r>
          </a:p>
          <a:p>
            <a:r>
              <a:rPr lang="sr-Latn-BA" sz="2600" dirty="0" smtClean="0"/>
              <a:t>Da bismo odredili </a:t>
            </a:r>
            <a:r>
              <a:rPr lang="en-US" sz="2400" dirty="0" err="1" smtClean="0"/>
              <a:t>direktnu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difuznu</a:t>
            </a:r>
            <a:r>
              <a:rPr lang="en-US" sz="2400" dirty="0" smtClean="0"/>
              <a:t> iradijansu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horizontalnu</a:t>
            </a:r>
            <a:r>
              <a:rPr lang="en-US" sz="2400" dirty="0" smtClean="0"/>
              <a:t> </a:t>
            </a:r>
            <a:r>
              <a:rPr lang="en-US" sz="2400" dirty="0" err="1" smtClean="0"/>
              <a:t>podlogu</a:t>
            </a:r>
            <a:r>
              <a:rPr lang="sr-Latn-BA" sz="2400" dirty="0" smtClean="0"/>
              <a:t> potrebno je da napišemo novu skriptu</a:t>
            </a:r>
            <a:r>
              <a:rPr lang="sr-Latn-BA" sz="2400" i="1" dirty="0" smtClean="0"/>
              <a:t> </a:t>
            </a:r>
            <a:r>
              <a:rPr lang="sr-Latn-BA" sz="2400" dirty="0" smtClean="0"/>
              <a:t>ili samo da unesemo odgovarajuće argumente funkciji </a:t>
            </a:r>
            <a:r>
              <a:rPr lang="sr-Latn-BA" sz="2400" i="1" dirty="0" err="1" smtClean="0"/>
              <a:t>SolarRadiation</a:t>
            </a:r>
            <a:r>
              <a:rPr lang="sr-Latn-BA" sz="2400" dirty="0" smtClean="0"/>
              <a:t> koju kopiramo u komandni prozor </a:t>
            </a:r>
            <a:r>
              <a:rPr lang="sr-Latn-BA" sz="2400" dirty="0" err="1" smtClean="0"/>
              <a:t>Matlab</a:t>
            </a:r>
            <a:r>
              <a:rPr lang="sr-Latn-BA" sz="2400" dirty="0" smtClean="0"/>
              <a:t>-a </a:t>
            </a:r>
          </a:p>
          <a:p>
            <a:pPr lvl="1">
              <a:buNone/>
            </a:pPr>
            <a:endParaRPr lang="sr-Latn-BA" sz="2200" dirty="0" smtClean="0"/>
          </a:p>
          <a:p>
            <a:endParaRPr lang="sr-Latn-BA" sz="2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48" y="125136"/>
            <a:ext cx="8833104" cy="665666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48" y="116586"/>
            <a:ext cx="8833104" cy="6624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 r="4279"/>
          <a:stretch>
            <a:fillRect/>
          </a:stretch>
        </p:blipFill>
        <p:spPr bwMode="auto">
          <a:xfrm>
            <a:off x="155448" y="5486400"/>
            <a:ext cx="8833104" cy="83890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448" y="2113372"/>
            <a:ext cx="8833104" cy="283962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sz="2600" dirty="0" smtClean="0"/>
              <a:t>Skripta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r>
              <a:rPr lang="sr-Latn-BA" sz="2600" dirty="0" smtClean="0"/>
              <a:t>Kopiranje funkcije u komandni prozor </a:t>
            </a:r>
            <a:r>
              <a:rPr lang="sr-Latn-BA" sz="2600" dirty="0" err="1" smtClean="0"/>
              <a:t>Matlaba</a:t>
            </a:r>
            <a:r>
              <a:rPr lang="sr-Latn-BA" sz="2600" dirty="0" smtClean="0"/>
              <a:t>-a  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48" y="2286000"/>
            <a:ext cx="8833104" cy="406368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sz="2600" dirty="0" smtClean="0"/>
              <a:t>Pokretanjem </a:t>
            </a:r>
            <a:r>
              <a:rPr lang="sr-Latn-BA" sz="2600" dirty="0" err="1" smtClean="0"/>
              <a:t>skripte</a:t>
            </a:r>
            <a:r>
              <a:rPr lang="sr-Latn-BA" sz="2600" dirty="0" smtClean="0"/>
              <a:t> dobijaju se tražena zračenja 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038600" y="3852208"/>
            <a:ext cx="4648200" cy="19389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sr-Latn-BA" sz="2400" dirty="0" smtClean="0">
                <a:solidFill>
                  <a:srgbClr val="FF0000"/>
                </a:solidFill>
              </a:rPr>
              <a:t>Primijetiti da u posmatranom primjeru (horizontalno postavljena ploča), </a:t>
            </a:r>
            <a:r>
              <a:rPr lang="sr-Latn-BA" sz="2400" i="1" dirty="0" err="1" smtClean="0">
                <a:solidFill>
                  <a:srgbClr val="FF0000"/>
                </a:solidFill>
              </a:rPr>
              <a:t>CollectorAzimuthAngle</a:t>
            </a:r>
            <a:r>
              <a:rPr lang="sr-Latn-BA" sz="2400" dirty="0" smtClean="0">
                <a:solidFill>
                  <a:srgbClr val="FF0000"/>
                </a:solidFill>
              </a:rPr>
              <a:t> može imati proizvoljnu vrijednost jer ne utiče na proračun!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24400" cy="45259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Da bismo odredili zračenje na vertikalnu ploču koja je okrenuta ka jugu, treba da promijenimo </a:t>
            </a:r>
            <a:r>
              <a:rPr lang="sr-Latn-BA" sz="2600" i="1" dirty="0" err="1" smtClean="0"/>
              <a:t>TiltAngle</a:t>
            </a:r>
            <a:r>
              <a:rPr lang="sr-Latn-BA" sz="2600" dirty="0" smtClean="0"/>
              <a:t> na 90° 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48" y="3675413"/>
            <a:ext cx="8833104" cy="280158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5440" y="1600200"/>
            <a:ext cx="3566160" cy="392625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48" y="3904013"/>
            <a:ext cx="8833104" cy="280158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24400" cy="45259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Da bismo odredili zračenje na vertikalnu ploču koja je okrenuta ka sjeveru, treba da promijenimo </a:t>
            </a:r>
            <a:r>
              <a:rPr lang="sr-Latn-BA" sz="2600" i="1" dirty="0" err="1" smtClean="0"/>
              <a:t>CollectorAzimuthAngle</a:t>
            </a:r>
            <a:r>
              <a:rPr lang="sr-Latn-BA" sz="2600" i="1" dirty="0" smtClean="0"/>
              <a:t> </a:t>
            </a:r>
            <a:r>
              <a:rPr lang="sr-Latn-BA" sz="2600" dirty="0" smtClean="0"/>
              <a:t>na 180° 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5440" y="1881456"/>
            <a:ext cx="3566160" cy="390974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sz="2600" dirty="0" smtClean="0"/>
              <a:t>Primijetiti da se difuzna komponenta zračenja ne mijenja okretanjem ploče prema sjeveru, a da direktna pada na nulu jer je ploča okrenuta na suprotnu stranu u odnosu na Sunce</a:t>
            </a:r>
          </a:p>
          <a:p>
            <a:r>
              <a:rPr lang="sr-Latn-BA" sz="2600" dirty="0" smtClean="0"/>
              <a:t>Za određivanje optimalnog ugla nagiba ploče potrebno je izračunati ukupno zračenje na ploču za različite nagibe i odrediti ugao za koji se ima najveće zračenje </a:t>
            </a:r>
          </a:p>
          <a:p>
            <a:r>
              <a:rPr lang="sr-Latn-BA" sz="2600" dirty="0" smtClean="0"/>
              <a:t>Skripta za određivanje optimalnog nagiba ploče je data na slajdu 18, a dijagram na slajdu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5448" y="5486400"/>
            <a:ext cx="8833104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sr-Latn-BA" sz="2400" dirty="0" smtClean="0">
                <a:solidFill>
                  <a:srgbClr val="FF0000"/>
                </a:solidFill>
              </a:rPr>
              <a:t>Pošto je ugao elevacije Sunca u toku dana simetričan u odnosu na jug, </a:t>
            </a:r>
            <a:r>
              <a:rPr lang="sr-Latn-BA" sz="2400" dirty="0" err="1" smtClean="0">
                <a:solidFill>
                  <a:srgbClr val="FF0000"/>
                </a:solidFill>
              </a:rPr>
              <a:t>azimutalni</a:t>
            </a:r>
            <a:r>
              <a:rPr lang="sr-Latn-BA" sz="2400" dirty="0" smtClean="0">
                <a:solidFill>
                  <a:srgbClr val="FF0000"/>
                </a:solidFill>
              </a:rPr>
              <a:t> ugao ploče treba biti nula (ploča okrenuta ka jugu)!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48" y="1851463"/>
            <a:ext cx="8833104" cy="45493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48" y="116586"/>
            <a:ext cx="8833104" cy="6624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657600" y="4267200"/>
            <a:ext cx="41910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sr-Latn-BA" sz="2400" dirty="0" smtClean="0">
                <a:solidFill>
                  <a:srgbClr val="FF0000"/>
                </a:solidFill>
              </a:rPr>
              <a:t>Optimalan ugao panela je 44,2°!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pl-PL" sz="2600" b="1" dirty="0" err="1" smtClean="0"/>
              <a:t>Zadatak</a:t>
            </a:r>
            <a:r>
              <a:rPr lang="pl-PL" sz="2600" b="1" dirty="0" smtClean="0"/>
              <a:t> </a:t>
            </a:r>
            <a:r>
              <a:rPr lang="pl-PL" sz="2600" b="1" dirty="0"/>
              <a:t>2</a:t>
            </a:r>
            <a:r>
              <a:rPr lang="pl-PL" sz="2600" b="1" dirty="0" smtClean="0"/>
              <a:t>: </a:t>
            </a:r>
            <a:r>
              <a:rPr lang="en-US" sz="2600" b="1" dirty="0" err="1" smtClean="0"/>
              <a:t>Optimalan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ugao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panela</a:t>
            </a:r>
            <a:endParaRPr lang="pl-PL" sz="2600" b="1" dirty="0" smtClean="0"/>
          </a:p>
          <a:p>
            <a:pPr marL="0" indent="0">
              <a:buNone/>
            </a:pPr>
            <a:r>
              <a:rPr lang="en-US" sz="2600" dirty="0" smtClean="0"/>
              <a:t>K</a:t>
            </a:r>
            <a:r>
              <a:rPr lang="sr-Latn-BA" sz="2600" dirty="0" smtClean="0"/>
              <a:t>osi zid zgrade Elektrotehničkog fakulteta u </a:t>
            </a:r>
            <a:r>
              <a:rPr lang="sr-Latn-BA" sz="2600" dirty="0" err="1" smtClean="0"/>
              <a:t>Banjoj</a:t>
            </a:r>
            <a:r>
              <a:rPr lang="sr-Latn-BA" sz="2600" dirty="0" smtClean="0"/>
              <a:t> Luci postavljen je pod uglom 60° i okrenut prema jugoistoku (35°). Ako bi se na zid Fakulteta postavili </a:t>
            </a:r>
            <a:r>
              <a:rPr lang="sr-Latn-BA" sz="2600" dirty="0" err="1" smtClean="0"/>
              <a:t>fotonaponski</a:t>
            </a:r>
            <a:r>
              <a:rPr lang="sr-Latn-BA" sz="2600" dirty="0" smtClean="0"/>
              <a:t> paneli odrediti koliko je dostupno energije Sunčevog zračenja po kvadratnom metru površine na godišnjem nivou. Koliko je to procentualno manje u odnosu na teorijski maksimum (kada bi zid bio okrenut ka jugu, a nagib iznosio 44,7667°)?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sz="2600" dirty="0" smtClean="0"/>
              <a:t>Da bismo odredili tražene energije, treba da napišemo skriptu koja će računati godišnju energiju na </a:t>
            </a:r>
            <a:r>
              <a:rPr lang="sr-Latn-BA" sz="2600" dirty="0" err="1" smtClean="0"/>
              <a:t>prizvoljno</a:t>
            </a:r>
            <a:r>
              <a:rPr lang="sr-Latn-BA" sz="2600" dirty="0" smtClean="0"/>
              <a:t> postavljenu ploču</a:t>
            </a:r>
          </a:p>
          <a:p>
            <a:pPr lvl="1"/>
            <a:r>
              <a:rPr lang="sr-Latn-BA" sz="2200" dirty="0" smtClean="0"/>
              <a:t>prvo treba da učitamo podatke o lokaciji i položaju ploče</a:t>
            </a:r>
          </a:p>
          <a:p>
            <a:pPr lvl="1"/>
            <a:r>
              <a:rPr lang="sr-Latn-BA" sz="2200" dirty="0" err="1" smtClean="0"/>
              <a:t>dfinišemo</a:t>
            </a:r>
            <a:r>
              <a:rPr lang="sr-Latn-BA" sz="2200" dirty="0" smtClean="0"/>
              <a:t> matricu rezultata</a:t>
            </a:r>
          </a:p>
          <a:p>
            <a:pPr lvl="1"/>
            <a:r>
              <a:rPr lang="sr-Latn-BA" sz="2200" dirty="0" smtClean="0"/>
              <a:t>pomoću funkcije </a:t>
            </a:r>
            <a:r>
              <a:rPr lang="sr-Latn-BA" sz="2200" i="1" dirty="0" err="1" smtClean="0"/>
              <a:t>SunPosition</a:t>
            </a:r>
            <a:r>
              <a:rPr lang="sr-Latn-BA" sz="2200" dirty="0" smtClean="0"/>
              <a:t> izračunamo poziciju Sunca</a:t>
            </a:r>
          </a:p>
          <a:p>
            <a:pPr lvl="1"/>
            <a:r>
              <a:rPr lang="sr-Latn-BA" sz="2200" dirty="0" smtClean="0"/>
              <a:t>pomoću funkcije </a:t>
            </a:r>
            <a:r>
              <a:rPr lang="sr-Latn-BA" sz="2200" i="1" dirty="0" err="1" smtClean="0"/>
              <a:t>SolarRadiation</a:t>
            </a:r>
            <a:r>
              <a:rPr lang="sr-Latn-BA" sz="2200" dirty="0" smtClean="0"/>
              <a:t> izračunamo iradijanse</a:t>
            </a:r>
          </a:p>
          <a:p>
            <a:pPr lvl="1"/>
            <a:r>
              <a:rPr lang="sr-Latn-BA" sz="2200" dirty="0" smtClean="0"/>
              <a:t>snimimo rezultate </a:t>
            </a:r>
          </a:p>
          <a:p>
            <a:pPr lvl="1"/>
            <a:r>
              <a:rPr lang="sr-Latn-BA" sz="2200" dirty="0" smtClean="0"/>
              <a:t>sve prethodno pobrojano treba za izvršimo za sve dane u godini i sve časove u danu </a:t>
            </a:r>
          </a:p>
          <a:p>
            <a:pPr lvl="1"/>
            <a:r>
              <a:rPr lang="sr-Latn-BA" sz="2200" dirty="0" smtClean="0"/>
              <a:t>na kraju sumiramo rezultate na nivou godine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48" y="1143000"/>
            <a:ext cx="8833104" cy="565272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48" y="1819488"/>
            <a:ext cx="8833104" cy="34383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55448" y="5410200"/>
            <a:ext cx="8833104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sr-Latn-BA" sz="2400" dirty="0" smtClean="0"/>
              <a:t>Pokretanjem prethodne </a:t>
            </a:r>
            <a:r>
              <a:rPr lang="sr-Latn-BA" sz="2400" dirty="0" err="1" smtClean="0"/>
              <a:t>skripte</a:t>
            </a:r>
            <a:r>
              <a:rPr lang="sr-Latn-BA" sz="2400" dirty="0" smtClean="0"/>
              <a:t> dobija se energije koja je dostupna po metru kvadratnom površine ako bi paneli bili postavljeni pod uglom od 44,7667 stepeni i okrenuti ka jugu. </a:t>
            </a:r>
            <a:endParaRPr 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82640" y="1379220"/>
            <a:ext cx="3108960" cy="349758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sz="2600" dirty="0" smtClean="0"/>
              <a:t>Da bismo dobili energiju koja je dostupna na kosom zidu potrebno je da unesemo</a:t>
            </a:r>
          </a:p>
          <a:p>
            <a:pPr lvl="1"/>
            <a:r>
              <a:rPr lang="sr-Latn-BA" sz="2200" dirty="0" err="1" smtClean="0"/>
              <a:t>TiltAngle</a:t>
            </a:r>
            <a:r>
              <a:rPr lang="sr-Latn-BA" sz="2200" dirty="0" smtClean="0"/>
              <a:t> = 60 °</a:t>
            </a:r>
          </a:p>
          <a:p>
            <a:pPr lvl="1"/>
            <a:r>
              <a:rPr lang="sr-Latn-BA" sz="2200" dirty="0" err="1" smtClean="0"/>
              <a:t>CollectorAzimuthAngle</a:t>
            </a:r>
            <a:r>
              <a:rPr lang="sr-Latn-BA" sz="2200" dirty="0" smtClean="0"/>
              <a:t> = 35°</a:t>
            </a:r>
          </a:p>
          <a:p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5" name="Picture 4" descr="Polozaj Sunca - Uglovi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3409019"/>
            <a:ext cx="4446684" cy="2153581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54040" y="2133600"/>
            <a:ext cx="3108960" cy="352842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55448" y="5798403"/>
            <a:ext cx="8833104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sr-Latn-BA" sz="2400" dirty="0" smtClean="0"/>
              <a:t>Postavljanjem panela na kosi zid dobija se 12,01 % manje energije u odnosu na teorijski maksimum.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600" b="1" dirty="0" err="1" smtClean="0"/>
              <a:t>Zadatak</a:t>
            </a:r>
            <a:r>
              <a:rPr lang="pl-PL" sz="2600" b="1" dirty="0" smtClean="0"/>
              <a:t> 2: </a:t>
            </a:r>
            <a:r>
              <a:rPr lang="en-US" sz="2600" b="1" dirty="0" err="1" smtClean="0"/>
              <a:t>Jednoosno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i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dvoosno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praćenje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putanje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Sunca</a:t>
            </a:r>
            <a:endParaRPr lang="pl-PL" sz="2600" b="1" dirty="0" smtClean="0"/>
          </a:p>
          <a:p>
            <a:pPr marL="0" indent="0">
              <a:buNone/>
            </a:pPr>
            <a:r>
              <a:rPr lang="en-US" sz="2600" dirty="0" err="1" smtClean="0"/>
              <a:t>Odrediti</a:t>
            </a:r>
            <a:r>
              <a:rPr lang="en-US" sz="2600" dirty="0" smtClean="0"/>
              <a:t> </a:t>
            </a:r>
            <a:r>
              <a:rPr lang="en-US" sz="2600" dirty="0" err="1" smtClean="0"/>
              <a:t>koliko</a:t>
            </a:r>
            <a:r>
              <a:rPr lang="en-US" sz="2600" dirty="0" smtClean="0"/>
              <a:t> bi se </a:t>
            </a:r>
            <a:r>
              <a:rPr lang="en-US" sz="2600" dirty="0" err="1" smtClean="0"/>
              <a:t>više</a:t>
            </a:r>
            <a:r>
              <a:rPr lang="en-US" sz="2600" dirty="0" smtClean="0"/>
              <a:t> </a:t>
            </a:r>
            <a:r>
              <a:rPr lang="en-US" sz="2600" dirty="0" err="1" smtClean="0"/>
              <a:t>energije</a:t>
            </a:r>
            <a:r>
              <a:rPr lang="en-US" sz="2600" dirty="0" smtClean="0"/>
              <a:t> </a:t>
            </a:r>
            <a:r>
              <a:rPr lang="en-US" sz="2600" dirty="0" err="1" smtClean="0"/>
              <a:t>moglo</a:t>
            </a:r>
            <a:r>
              <a:rPr lang="en-US" sz="2600" dirty="0" smtClean="0"/>
              <a:t> </a:t>
            </a:r>
            <a:r>
              <a:rPr lang="en-US" sz="2600" dirty="0" err="1" smtClean="0"/>
              <a:t>proizvesti</a:t>
            </a:r>
            <a:r>
              <a:rPr lang="en-US" sz="2600" dirty="0" smtClean="0"/>
              <a:t> </a:t>
            </a:r>
            <a:r>
              <a:rPr lang="en-US" sz="2600" dirty="0" err="1" smtClean="0"/>
              <a:t>pri</a:t>
            </a:r>
            <a:r>
              <a:rPr lang="en-US" sz="2600" dirty="0" smtClean="0"/>
              <a:t> </a:t>
            </a:r>
            <a:r>
              <a:rPr lang="en-US" sz="2600" dirty="0" err="1" smtClean="0"/>
              <a:t>praćenju</a:t>
            </a:r>
            <a:r>
              <a:rPr lang="en-US" sz="2600" dirty="0" smtClean="0"/>
              <a:t> </a:t>
            </a:r>
            <a:r>
              <a:rPr lang="en-US" sz="2600" dirty="0" err="1" smtClean="0"/>
              <a:t>putanje</a:t>
            </a:r>
            <a:r>
              <a:rPr lang="en-US" sz="2600" dirty="0" smtClean="0"/>
              <a:t> </a:t>
            </a:r>
            <a:r>
              <a:rPr lang="en-US" sz="2600" dirty="0" err="1" smtClean="0"/>
              <a:t>Sunca</a:t>
            </a:r>
            <a:r>
              <a:rPr lang="en-US" sz="2600" dirty="0" smtClean="0"/>
              <a:t> </a:t>
            </a:r>
            <a:r>
              <a:rPr lang="en-US" sz="2600" dirty="0" err="1" smtClean="0"/>
              <a:t>po</a:t>
            </a:r>
            <a:r>
              <a:rPr lang="sr-Latn-BA" sz="2600" dirty="0" smtClean="0"/>
              <a:t> </a:t>
            </a:r>
            <a:r>
              <a:rPr lang="en-US" sz="2600" dirty="0" err="1" smtClean="0"/>
              <a:t>jednoj</a:t>
            </a:r>
            <a:r>
              <a:rPr lang="en-US" sz="2600" dirty="0" smtClean="0"/>
              <a:t> </a:t>
            </a:r>
            <a:r>
              <a:rPr lang="en-US" sz="2600" dirty="0" err="1" smtClean="0"/>
              <a:t>odnosno</a:t>
            </a:r>
            <a:r>
              <a:rPr lang="en-US" sz="2600" dirty="0" smtClean="0"/>
              <a:t> </a:t>
            </a:r>
            <a:r>
              <a:rPr lang="en-US" sz="2600" dirty="0" err="1" smtClean="0"/>
              <a:t>dvije</a:t>
            </a:r>
            <a:r>
              <a:rPr lang="en-US" sz="2600" dirty="0" smtClean="0"/>
              <a:t> </a:t>
            </a:r>
            <a:r>
              <a:rPr lang="en-US" sz="2600" dirty="0" err="1" smtClean="0"/>
              <a:t>ose</a:t>
            </a:r>
            <a:r>
              <a:rPr lang="en-US" sz="2600" dirty="0" smtClean="0"/>
              <a:t> u </a:t>
            </a:r>
            <a:r>
              <a:rPr lang="en-US" sz="2600" dirty="0" err="1" smtClean="0"/>
              <a:t>odnosu</a:t>
            </a:r>
            <a:r>
              <a:rPr lang="en-US" sz="2600" dirty="0" smtClean="0"/>
              <a:t> </a:t>
            </a:r>
            <a:r>
              <a:rPr lang="en-US" sz="2600" dirty="0" err="1" smtClean="0"/>
              <a:t>na</a:t>
            </a:r>
            <a:r>
              <a:rPr lang="en-US" sz="2600" dirty="0" smtClean="0"/>
              <a:t> panel </a:t>
            </a:r>
            <a:r>
              <a:rPr lang="en-US" sz="2600" dirty="0" err="1" smtClean="0"/>
              <a:t>postavljen</a:t>
            </a:r>
            <a:r>
              <a:rPr lang="en-US" sz="2600" dirty="0" smtClean="0"/>
              <a:t> pod </a:t>
            </a:r>
            <a:r>
              <a:rPr lang="en-US" sz="2600" dirty="0" err="1" smtClean="0"/>
              <a:t>optimalnim</a:t>
            </a:r>
            <a:r>
              <a:rPr lang="en-US" sz="2600" dirty="0" smtClean="0"/>
              <a:t> </a:t>
            </a:r>
            <a:r>
              <a:rPr lang="en-US" sz="2600" dirty="0" err="1" smtClean="0"/>
              <a:t>uglovima</a:t>
            </a:r>
            <a:r>
              <a:rPr lang="en-US" sz="2600" dirty="0" smtClean="0"/>
              <a:t> (</a:t>
            </a:r>
            <a:r>
              <a:rPr lang="en-US" sz="2600" dirty="0" err="1" smtClean="0"/>
              <a:t>kada</a:t>
            </a:r>
            <a:r>
              <a:rPr lang="en-US" sz="2600" dirty="0" smtClean="0"/>
              <a:t> bi</a:t>
            </a:r>
            <a:r>
              <a:rPr lang="sr-Latn-BA" sz="2600" dirty="0" smtClean="0"/>
              <a:t> </a:t>
            </a:r>
            <a:r>
              <a:rPr lang="en-US" sz="2600" dirty="0" smtClean="0"/>
              <a:t>panel bio </a:t>
            </a:r>
            <a:r>
              <a:rPr lang="en-US" sz="2600" dirty="0" err="1" smtClean="0"/>
              <a:t>okrenut</a:t>
            </a:r>
            <a:r>
              <a:rPr lang="en-US" sz="2600" dirty="0" smtClean="0"/>
              <a:t> ka </a:t>
            </a:r>
            <a:r>
              <a:rPr lang="en-US" sz="2600" dirty="0" err="1" smtClean="0"/>
              <a:t>jugu</a:t>
            </a:r>
            <a:r>
              <a:rPr lang="en-US" sz="2600" dirty="0" smtClean="0"/>
              <a:t>, a </a:t>
            </a:r>
            <a:r>
              <a:rPr lang="en-US" sz="2600" dirty="0" err="1" smtClean="0"/>
              <a:t>nagib</a:t>
            </a:r>
            <a:r>
              <a:rPr lang="en-US" sz="2600" dirty="0" smtClean="0"/>
              <a:t> </a:t>
            </a:r>
            <a:r>
              <a:rPr lang="en-US" sz="2600" dirty="0" err="1" smtClean="0"/>
              <a:t>iznosio</a:t>
            </a:r>
            <a:r>
              <a:rPr lang="en-US" sz="2600" dirty="0" smtClean="0"/>
              <a:t> 44,7667°) u </a:t>
            </a:r>
            <a:r>
              <a:rPr lang="sr-Latn-BA" sz="2600" dirty="0" smtClean="0"/>
              <a:t>B</a:t>
            </a:r>
            <a:r>
              <a:rPr lang="en-US" sz="2600" dirty="0" err="1" smtClean="0"/>
              <a:t>anjoj</a:t>
            </a:r>
            <a:r>
              <a:rPr lang="en-US" sz="2600" dirty="0" smtClean="0"/>
              <a:t> </a:t>
            </a:r>
            <a:r>
              <a:rPr lang="en-US" sz="2600" dirty="0" err="1" smtClean="0"/>
              <a:t>Luci</a:t>
            </a:r>
            <a:r>
              <a:rPr lang="en-US" sz="2600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sz="2600" dirty="0" smtClean="0"/>
              <a:t>Koristeći skriptu sa 22. i 23. slajda dobijamo energiju dostupnu na panel koji je </a:t>
            </a:r>
            <a:r>
              <a:rPr lang="en-US" sz="2600" dirty="0" err="1" smtClean="0"/>
              <a:t>postavljen</a:t>
            </a:r>
            <a:r>
              <a:rPr lang="en-US" sz="2600" dirty="0" smtClean="0"/>
              <a:t> pod </a:t>
            </a:r>
            <a:r>
              <a:rPr lang="en-US" sz="2600" dirty="0" err="1" smtClean="0"/>
              <a:t>optimalnim</a:t>
            </a:r>
            <a:r>
              <a:rPr lang="en-US" sz="2600" dirty="0" smtClean="0"/>
              <a:t> </a:t>
            </a:r>
            <a:r>
              <a:rPr lang="en-US" sz="2600" dirty="0" err="1" smtClean="0"/>
              <a:t>uglovima</a:t>
            </a:r>
            <a:r>
              <a:rPr lang="sr-Latn-BA" sz="2600" dirty="0" smtClean="0"/>
              <a:t> 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2895600"/>
            <a:ext cx="3108960" cy="349758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467100"/>
            <a:ext cx="3569031" cy="292608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48" y="4442763"/>
            <a:ext cx="8833104" cy="226283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172200" cy="45259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Ako panel prati putanju Sunca po azimutu potrebno je izjednačiti </a:t>
            </a:r>
            <a:r>
              <a:rPr lang="sr-Latn-BA" sz="2600" dirty="0" err="1" smtClean="0"/>
              <a:t>azimutalni</a:t>
            </a:r>
            <a:r>
              <a:rPr lang="sr-Latn-BA" sz="2600" dirty="0" smtClean="0"/>
              <a:t> ugao panela sa </a:t>
            </a:r>
            <a:r>
              <a:rPr lang="sr-Latn-BA" sz="2600" dirty="0" err="1" smtClean="0"/>
              <a:t>azimutalnim</a:t>
            </a:r>
            <a:r>
              <a:rPr lang="sr-Latn-BA" sz="2600" dirty="0" smtClean="0"/>
              <a:t> uglom Sunca</a:t>
            </a:r>
          </a:p>
          <a:p>
            <a:pPr lvl="1"/>
            <a:r>
              <a:rPr lang="sr-Latn-BA" sz="2200" dirty="0" smtClean="0"/>
              <a:t>poslije funkcije </a:t>
            </a:r>
            <a:r>
              <a:rPr lang="sr-Latn-BA" sz="2200" i="1" dirty="0" err="1" smtClean="0"/>
              <a:t>SunPosition</a:t>
            </a:r>
            <a:r>
              <a:rPr lang="sr-Latn-BA" sz="2200" dirty="0" smtClean="0"/>
              <a:t>, a prije funkcije </a:t>
            </a:r>
            <a:r>
              <a:rPr lang="sr-Latn-BA" sz="2200" i="1" dirty="0" err="1" smtClean="0"/>
              <a:t>SolarRadiation</a:t>
            </a:r>
            <a:r>
              <a:rPr lang="sr-Latn-BA" sz="2200" dirty="0" smtClean="0"/>
              <a:t> dodajemo </a:t>
            </a:r>
            <a:r>
              <a:rPr lang="sr-Latn-BA" sz="2200" dirty="0" err="1" smtClean="0"/>
              <a:t>CollectorAzimuthAngle</a:t>
            </a:r>
            <a:r>
              <a:rPr lang="sr-Latn-BA" sz="2200" dirty="0" smtClean="0"/>
              <a:t> = </a:t>
            </a:r>
            <a:r>
              <a:rPr lang="sr-Latn-BA" sz="2200" dirty="0" err="1" smtClean="0"/>
              <a:t>SolarAzimuthAngle</a:t>
            </a:r>
            <a:endParaRPr lang="sr-Latn-BA" sz="2200" dirty="0" smtClean="0"/>
          </a:p>
          <a:p>
            <a:pPr lvl="1"/>
            <a:r>
              <a:rPr lang="en-US" sz="2200" dirty="0" err="1" smtClean="0"/>
              <a:t>TiltAngle</a:t>
            </a:r>
            <a:r>
              <a:rPr lang="en-US" sz="2200" dirty="0" smtClean="0"/>
              <a:t> = 44.7667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6" name="Picture 5" descr="Tracking systems.emf"/>
          <p:cNvPicPr>
            <a:picLocks noChangeAspect="1"/>
          </p:cNvPicPr>
          <p:nvPr/>
        </p:nvPicPr>
        <p:blipFill>
          <a:blip r:embed="rId3" cstate="print"/>
          <a:srcRect l="54226" t="48197" r="9041"/>
          <a:stretch>
            <a:fillRect/>
          </a:stretch>
        </p:blipFill>
        <p:spPr>
          <a:xfrm>
            <a:off x="6400800" y="1177022"/>
            <a:ext cx="2560320" cy="30139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48" y="4175284"/>
            <a:ext cx="8833104" cy="253031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19800" cy="4525963"/>
          </a:xfrm>
        </p:spPr>
        <p:txBody>
          <a:bodyPr/>
          <a:lstStyle/>
          <a:p>
            <a:r>
              <a:rPr lang="sr-Latn-BA" sz="2600" dirty="0" smtClean="0"/>
              <a:t>Ako se vrši praćenje pozicije Sunca po dvije ose izjednačiti </a:t>
            </a:r>
            <a:r>
              <a:rPr lang="sr-Latn-BA" sz="2600" dirty="0" err="1" smtClean="0"/>
              <a:t>azimutalni</a:t>
            </a:r>
            <a:r>
              <a:rPr lang="sr-Latn-BA" sz="2600" dirty="0" smtClean="0"/>
              <a:t> ugao panela, sa </a:t>
            </a:r>
            <a:r>
              <a:rPr lang="sr-Latn-BA" sz="2600" dirty="0" err="1" smtClean="0"/>
              <a:t>azimutalnim</a:t>
            </a:r>
            <a:r>
              <a:rPr lang="sr-Latn-BA" sz="2600" dirty="0" smtClean="0"/>
              <a:t> uglom Sunca i ugao nagiba panela uskladiti sa uglom elevacije Sunca tako da ugao </a:t>
            </a:r>
            <a:r>
              <a:rPr lang="sr-Latn-BA" sz="2600" dirty="0" err="1" smtClean="0"/>
              <a:t>incidencije</a:t>
            </a:r>
            <a:r>
              <a:rPr lang="sr-Latn-BA" sz="2600" dirty="0" smtClean="0"/>
              <a:t> bude jednak nuli</a:t>
            </a:r>
          </a:p>
          <a:p>
            <a:endParaRPr lang="sr-Latn-BA" sz="26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5" name="Picture 4" descr="Tracking systems.emf"/>
          <p:cNvPicPr>
            <a:picLocks noChangeAspect="1"/>
          </p:cNvPicPr>
          <p:nvPr/>
        </p:nvPicPr>
        <p:blipFill>
          <a:blip r:embed="rId3" cstate="print"/>
          <a:srcRect l="10495" r="56270" b="53898"/>
          <a:stretch>
            <a:fillRect/>
          </a:stretch>
        </p:blipFill>
        <p:spPr>
          <a:xfrm>
            <a:off x="6477000" y="1447800"/>
            <a:ext cx="2316472" cy="26822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sz="2600" dirty="0" smtClean="0"/>
              <a:t>Pokretanjem </a:t>
            </a:r>
            <a:r>
              <a:rPr lang="sr-Latn-BA" sz="2600" dirty="0" err="1" smtClean="0"/>
              <a:t>skripti</a:t>
            </a:r>
            <a:r>
              <a:rPr lang="sr-Latn-BA" sz="2600" dirty="0" smtClean="0"/>
              <a:t> dobijaju se rezultati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787928"/>
            <a:ext cx="3108960" cy="360839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91100" y="2819400"/>
            <a:ext cx="3200400" cy="357691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988571" y="2286000"/>
            <a:ext cx="296061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2600" dirty="0" smtClean="0"/>
              <a:t>Jednoosno praćenje </a:t>
            </a:r>
            <a:endParaRPr lang="en-US" sz="2600" dirty="0"/>
          </a:p>
        </p:txBody>
      </p:sp>
      <p:sp>
        <p:nvSpPr>
          <p:cNvPr id="8" name="TextBox 7"/>
          <p:cNvSpPr txBox="1"/>
          <p:nvPr/>
        </p:nvSpPr>
        <p:spPr>
          <a:xfrm>
            <a:off x="5244778" y="2286000"/>
            <a:ext cx="269304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2600" dirty="0" err="1" smtClean="0"/>
              <a:t>Dvoosno</a:t>
            </a:r>
            <a:r>
              <a:rPr lang="sr-Latn-BA" sz="2600" dirty="0" smtClean="0"/>
              <a:t> praćenje 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sz="2600" dirty="0" smtClean="0"/>
              <a:t>Fiksni panel: 2,31 </a:t>
            </a:r>
            <a:r>
              <a:rPr lang="sr-Latn-BA" sz="2600" dirty="0" err="1" smtClean="0"/>
              <a:t>MWh</a:t>
            </a:r>
            <a:r>
              <a:rPr lang="sr-Latn-BA" sz="2600" dirty="0" smtClean="0"/>
              <a:t>/</a:t>
            </a:r>
            <a:r>
              <a:rPr lang="sr-Latn-BA" sz="2600" dirty="0" err="1" smtClean="0"/>
              <a:t>m</a:t>
            </a:r>
            <a:r>
              <a:rPr lang="sr-Latn-BA" sz="2600" baseline="30000" dirty="0" err="1" smtClean="0"/>
              <a:t>2</a:t>
            </a:r>
            <a:endParaRPr lang="sr-Latn-BA" sz="2600" baseline="30000" dirty="0" smtClean="0"/>
          </a:p>
          <a:p>
            <a:r>
              <a:rPr lang="sr-Latn-BA" sz="2600" dirty="0" smtClean="0"/>
              <a:t>Jednoosno praćenje : 3,03 </a:t>
            </a:r>
            <a:r>
              <a:rPr lang="sr-Latn-BA" sz="2600" dirty="0" err="1" smtClean="0"/>
              <a:t>MWh</a:t>
            </a:r>
            <a:r>
              <a:rPr lang="sr-Latn-BA" sz="2600" dirty="0" smtClean="0"/>
              <a:t>/</a:t>
            </a:r>
            <a:r>
              <a:rPr lang="sr-Latn-BA" sz="2600" dirty="0" err="1" smtClean="0"/>
              <a:t>m</a:t>
            </a:r>
            <a:r>
              <a:rPr lang="sr-Latn-BA" sz="2600" baseline="30000" dirty="0" err="1" smtClean="0"/>
              <a:t>2</a:t>
            </a:r>
            <a:endParaRPr lang="sr-Latn-BA" sz="2600" dirty="0" smtClean="0"/>
          </a:p>
          <a:p>
            <a:r>
              <a:rPr lang="sr-Latn-BA" sz="2600" dirty="0" err="1" smtClean="0"/>
              <a:t>Dvoosno</a:t>
            </a:r>
            <a:r>
              <a:rPr lang="sr-Latn-BA" sz="2600" dirty="0" smtClean="0"/>
              <a:t> praćenje:  3,19 </a:t>
            </a:r>
            <a:r>
              <a:rPr lang="sr-Latn-BA" sz="2600" dirty="0" err="1" smtClean="0"/>
              <a:t>MWh</a:t>
            </a:r>
            <a:r>
              <a:rPr lang="sr-Latn-BA" sz="2600" dirty="0" smtClean="0"/>
              <a:t>/</a:t>
            </a:r>
            <a:r>
              <a:rPr lang="sr-Latn-BA" sz="2600" dirty="0" err="1" smtClean="0"/>
              <a:t>m</a:t>
            </a:r>
            <a:r>
              <a:rPr lang="sr-Latn-BA" sz="2600" baseline="30000" dirty="0" err="1" smtClean="0"/>
              <a:t>2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3924" y="3810000"/>
            <a:ext cx="8833104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sr-Latn-BA" sz="2400" dirty="0" smtClean="0"/>
              <a:t>Fiksiranjem panela pod optimalnim uglom dostupno je 27,6 % manje energije nego kada bi se pratila pozicija Sunca po dvije ose. 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53924" y="5048071"/>
            <a:ext cx="8833104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sr-Latn-BA" sz="2400" dirty="0" smtClean="0"/>
              <a:t>Jednoosnim praćenjem položaja Sunca (rotacija vertikalne ose) dostupno je oko 5 % manje energije nego kada bi se pratila pozicija Sunca po dvije ose.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Zadaci za vježbu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BA" sz="2600" dirty="0" smtClean="0"/>
              <a:t>Napisati skriptu i izračunati energiju koja je dostupna na panel koji jednoosno prati poziciju Sunca - sistem za rotaciju oko nagnute N-S ose. Pretpostaviti da je ugao nagiba kolektora Σ jednak uglu geografske širine razmatrane lokacije.</a:t>
            </a:r>
          </a:p>
          <a:p>
            <a:r>
              <a:rPr lang="sr-Latn-BA" sz="2600" dirty="0" smtClean="0"/>
              <a:t>Napisati skriptu i nacrtati dijagram dnevne insolacije u toku godine za različite uglove nagiba kolektora uz pretpostavku da je po azimutu kolektor okrenut ka jugu. Krive nacrtati na jednom dijagramu za uglove nagiba kolektora od 30, 40, 50 i 60° (sličan dijagram je dat na slici 4.12 u knjizi).</a:t>
            </a:r>
          </a:p>
          <a:p>
            <a:endParaRPr lang="sr-Latn-BA" sz="2600" dirty="0" smtClean="0"/>
          </a:p>
          <a:p>
            <a:endParaRPr lang="sr-Latn-BA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1219</Words>
  <Application>Microsoft Office PowerPoint</Application>
  <PresentationFormat>On-screen Show (4:3)</PresentationFormat>
  <Paragraphs>152</Paragraphs>
  <Slides>31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Obnovljivi izvori energije</vt:lpstr>
      <vt:lpstr>Zadatak 1</vt:lpstr>
      <vt:lpstr>Zadatak 1</vt:lpstr>
      <vt:lpstr>SolarRadiation </vt:lpstr>
      <vt:lpstr>SolarRadiation</vt:lpstr>
      <vt:lpstr>SolarRadiation</vt:lpstr>
      <vt:lpstr>SolarRadiation</vt:lpstr>
      <vt:lpstr>SolarRadiation</vt:lpstr>
      <vt:lpstr>SolarRadiation</vt:lpstr>
      <vt:lpstr>Zadatak 1</vt:lpstr>
      <vt:lpstr>Slide 11</vt:lpstr>
      <vt:lpstr>Slide 12</vt:lpstr>
      <vt:lpstr>Zadatak 1</vt:lpstr>
      <vt:lpstr>Zadatak 1</vt:lpstr>
      <vt:lpstr>Zadatak 1</vt:lpstr>
      <vt:lpstr>Zadatak 1</vt:lpstr>
      <vt:lpstr>Zadatak 1</vt:lpstr>
      <vt:lpstr>Zadatak 1</vt:lpstr>
      <vt:lpstr>Slide 19</vt:lpstr>
      <vt:lpstr>Zadatak 2</vt:lpstr>
      <vt:lpstr>Zadatak 2</vt:lpstr>
      <vt:lpstr>Zadatak 2</vt:lpstr>
      <vt:lpstr>Zadatak 2</vt:lpstr>
      <vt:lpstr>Zadatak 2</vt:lpstr>
      <vt:lpstr>Zadatak 3</vt:lpstr>
      <vt:lpstr>Zadatak 3</vt:lpstr>
      <vt:lpstr>Zadatak 3</vt:lpstr>
      <vt:lpstr>Zadatak 3</vt:lpstr>
      <vt:lpstr>Zadatak 3</vt:lpstr>
      <vt:lpstr>Zadatak 3</vt:lpstr>
      <vt:lpstr>Zadaci za vježbu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Obnovljivi izvori energije</dc:title>
  <dc:creator>Predrag</dc:creator>
  <cp:lastModifiedBy>Predrag Mrsic</cp:lastModifiedBy>
  <cp:revision>93</cp:revision>
  <dcterms:created xsi:type="dcterms:W3CDTF">2020-03-18T10:17:52Z</dcterms:created>
  <dcterms:modified xsi:type="dcterms:W3CDTF">2021-03-26T10:35:14Z</dcterms:modified>
</cp:coreProperties>
</file>