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87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45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4" Type="http://schemas.openxmlformats.org/officeDocument/2006/relationships/image" Target="../media/image66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5" Type="http://schemas.openxmlformats.org/officeDocument/2006/relationships/image" Target="../media/image70.wmf"/><Relationship Id="rId4" Type="http://schemas.openxmlformats.org/officeDocument/2006/relationships/image" Target="../media/image75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E2D26-4B6A-4190-B1D1-FB511B5A57BD}" type="datetimeFigureOut">
              <a:rPr lang="en-US" smtClean="0"/>
              <a:pPr/>
              <a:t>4/1/2021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7FED8-1226-4287-809D-F233D8619EF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F8064-07CB-46C2-96A1-910538027201}" type="datetimeFigureOut">
              <a:rPr lang="en-US" smtClean="0"/>
              <a:pPr/>
              <a:t>4/1/2021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D3A20-1641-49DB-B8BC-89E53BCE97F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14E78-2A7D-4A65-85B4-61F75D26CBF8}" type="datetime1">
              <a:rPr lang="en-US" smtClean="0"/>
              <a:pPr/>
              <a:t>4/1/2021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BEAC-02D3-44EC-976C-F9D976A56C51}" type="datetime1">
              <a:rPr lang="en-US" smtClean="0"/>
              <a:pPr/>
              <a:t>4/1/2021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7C51-2474-4A6D-A708-A1B6183736F3}" type="datetime1">
              <a:rPr lang="en-US" smtClean="0"/>
              <a:pPr/>
              <a:t>4/1/2021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06145-D88F-4111-AADE-0B9FD367C81E}" type="datetime1">
              <a:rPr lang="en-US" smtClean="0"/>
              <a:pPr/>
              <a:t>4/1/2021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94748-A106-418C-A0F3-E188031639CE}" type="datetime1">
              <a:rPr lang="en-US" smtClean="0"/>
              <a:pPr/>
              <a:t>4/1/2021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92EAB-0082-4B26-8970-497F437F8261}" type="datetime1">
              <a:rPr lang="en-US" smtClean="0"/>
              <a:pPr/>
              <a:t>4/1/2021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7A7F1-5305-4E16-9103-B7B5338E6A34}" type="datetime1">
              <a:rPr lang="en-US" smtClean="0"/>
              <a:pPr/>
              <a:t>4/1/2021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230D-CB48-4BAF-90DC-9E442003C51E}" type="datetime1">
              <a:rPr lang="en-US" smtClean="0"/>
              <a:pPr/>
              <a:t>4/1/2021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63E2-B944-47A8-B715-0464452AC746}" type="datetime1">
              <a:rPr lang="en-US" smtClean="0"/>
              <a:pPr/>
              <a:t>4/1/2021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2543-7A5E-45A6-8267-1CB5A4D75D0A}" type="datetime1">
              <a:rPr lang="en-US" smtClean="0"/>
              <a:pPr/>
              <a:t>4/1/2021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8055-E903-47EF-B04E-810126E01727}" type="datetime1">
              <a:rPr lang="en-US" smtClean="0"/>
              <a:pPr/>
              <a:t>4/1/2021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B87F4-51AB-47B2-8ED1-901671C6E44F}" type="datetime1">
              <a:rPr lang="en-US" smtClean="0"/>
              <a:pPr/>
              <a:t>4/1/2021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15.bin"/><Relationship Id="rId4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26.bin"/><Relationship Id="rId4" Type="http://schemas.openxmlformats.org/officeDocument/2006/relationships/oleObject" Target="../embeddings/oleObject2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29.bin"/><Relationship Id="rId4" Type="http://schemas.openxmlformats.org/officeDocument/2006/relationships/oleObject" Target="../embeddings/oleObject2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3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oleObject" Target="../embeddings/oleObject3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7.bin"/><Relationship Id="rId5" Type="http://schemas.openxmlformats.org/officeDocument/2006/relationships/oleObject" Target="../embeddings/oleObject36.bin"/><Relationship Id="rId4" Type="http://schemas.openxmlformats.org/officeDocument/2006/relationships/oleObject" Target="../embeddings/oleObject3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2.bin"/><Relationship Id="rId5" Type="http://schemas.openxmlformats.org/officeDocument/2006/relationships/oleObject" Target="../embeddings/oleObject41.bin"/><Relationship Id="rId4" Type="http://schemas.openxmlformats.org/officeDocument/2006/relationships/oleObject" Target="../embeddings/oleObject40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47.bin"/><Relationship Id="rId5" Type="http://schemas.openxmlformats.org/officeDocument/2006/relationships/oleObject" Target="../embeddings/oleObject46.bin"/><Relationship Id="rId4" Type="http://schemas.openxmlformats.org/officeDocument/2006/relationships/oleObject" Target="../embeddings/oleObject4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50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52.bin"/><Relationship Id="rId4" Type="http://schemas.openxmlformats.org/officeDocument/2006/relationships/oleObject" Target="../embeddings/oleObject5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oleObject" Target="../embeddings/oleObject55.bin"/><Relationship Id="rId4" Type="http://schemas.openxmlformats.org/officeDocument/2006/relationships/oleObject" Target="../embeddings/oleObject5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59.bin"/><Relationship Id="rId5" Type="http://schemas.openxmlformats.org/officeDocument/2006/relationships/oleObject" Target="../embeddings/oleObject58.bin"/><Relationship Id="rId4" Type="http://schemas.openxmlformats.org/officeDocument/2006/relationships/oleObject" Target="../embeddings/oleObject5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63.bin"/><Relationship Id="rId5" Type="http://schemas.openxmlformats.org/officeDocument/2006/relationships/oleObject" Target="../embeddings/oleObject62.bin"/><Relationship Id="rId4" Type="http://schemas.openxmlformats.org/officeDocument/2006/relationships/oleObject" Target="../embeddings/oleObject6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68.bin"/><Relationship Id="rId5" Type="http://schemas.openxmlformats.org/officeDocument/2006/relationships/oleObject" Target="../embeddings/oleObject67.bin"/><Relationship Id="rId4" Type="http://schemas.openxmlformats.org/officeDocument/2006/relationships/oleObject" Target="../embeddings/oleObject66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oleObject" Target="../embeddings/oleObject7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oleObject" Target="../embeddings/oleObject7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BA" dirty="0" smtClean="0"/>
              <a:t>Obnovljivi izvori energije</a:t>
            </a:r>
            <a:endParaRPr lang="sr-Latn-B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BA" dirty="0" smtClean="0"/>
              <a:t>Zadaci za prve računske vježbe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6700" y="0"/>
            <a:ext cx="8610600" cy="1219200"/>
            <a:chOff x="152400" y="0"/>
            <a:chExt cx="8610600" cy="1219200"/>
          </a:xfrm>
        </p:grpSpPr>
        <p:sp>
          <p:nvSpPr>
            <p:cNvPr id="6" name="TextBox 5"/>
            <p:cNvSpPr txBox="1"/>
            <p:nvPr/>
          </p:nvSpPr>
          <p:spPr>
            <a:xfrm>
              <a:off x="304800" y="0"/>
              <a:ext cx="54864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r-Latn-BA" dirty="0" smtClean="0"/>
                <a:t> </a:t>
              </a:r>
            </a:p>
            <a:p>
              <a:r>
                <a:rPr lang="sr-Latn-BA" dirty="0" smtClean="0"/>
                <a:t>       	Univerzitet u </a:t>
              </a:r>
              <a:r>
                <a:rPr lang="sr-Latn-BA" dirty="0" err="1" smtClean="0"/>
                <a:t>Banjoj</a:t>
              </a:r>
              <a:r>
                <a:rPr lang="sr-Latn-BA" dirty="0" smtClean="0"/>
                <a:t> Luci</a:t>
              </a:r>
            </a:p>
            <a:p>
              <a:r>
                <a:rPr lang="sr-Latn-BA" dirty="0" smtClean="0"/>
                <a:t>	Elektrotehnički fakultet</a:t>
              </a:r>
            </a:p>
            <a:p>
              <a:r>
                <a:rPr lang="sr-Latn-BA" dirty="0" smtClean="0"/>
                <a:t>	Obnovljivi izvori energije</a:t>
              </a:r>
              <a:endParaRPr lang="sr-Latn-BA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2400" y="289996"/>
              <a:ext cx="1005840" cy="8678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" name="Group 12"/>
            <p:cNvGrpSpPr/>
            <p:nvPr/>
          </p:nvGrpSpPr>
          <p:grpSpPr>
            <a:xfrm>
              <a:off x="152400" y="228600"/>
              <a:ext cx="8610600" cy="990600"/>
              <a:chOff x="152400" y="228600"/>
              <a:chExt cx="5562600" cy="990600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152400" y="228600"/>
                <a:ext cx="5562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152400" y="1219200"/>
                <a:ext cx="5562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r-Latn-BA" dirty="0" smtClean="0"/>
              <a:t>Banja Luka</a:t>
            </a:r>
            <a:r>
              <a:rPr lang="sr-Latn-BA" dirty="0" smtClean="0"/>
              <a:t>, Republika Srpska, BiH</a:t>
            </a:r>
            <a:endParaRPr lang="sr-Latn-B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3581400"/>
            <a:ext cx="8229600" cy="2544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Ugao pri kome izlazi i zalazi Sunce u odnosu na jug je isti po apsolutnoj vrijednosti</a:t>
            </a:r>
            <a:endParaRPr lang="en-US" sz="2600" dirty="0" smtClean="0"/>
          </a:p>
          <a:p>
            <a:r>
              <a:rPr lang="sr-Latn-BA" sz="2600" dirty="0" smtClean="0"/>
              <a:t>Na osnovu izlaska i zalaska </a:t>
            </a:r>
            <a:r>
              <a:rPr lang="sr-Latn-BA" sz="2600" dirty="0" smtClean="0"/>
              <a:t>Sunca </a:t>
            </a:r>
            <a:r>
              <a:rPr lang="sr-Latn-BA" sz="2600" dirty="0" smtClean="0"/>
              <a:t>može se odrediti solarno podne:</a:t>
            </a:r>
            <a:endParaRPr lang="en-US" sz="2600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" y="1219200"/>
            <a:ext cx="8778240" cy="2233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1254125" y="5619750"/>
          <a:ext cx="6635750" cy="781050"/>
        </p:xfrm>
        <a:graphic>
          <a:graphicData uri="http://schemas.openxmlformats.org/presentationml/2006/ole">
            <p:oleObj spid="_x0000_s6146" name="Equation" r:id="rId4" imgW="3314520" imgH="3934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Satni ugao u trenutku izlaska Sunca iznosi:</a:t>
            </a:r>
          </a:p>
          <a:p>
            <a:endParaRPr lang="sr-Latn-BA" sz="2600" b="1" dirty="0" smtClean="0"/>
          </a:p>
          <a:p>
            <a:endParaRPr lang="sr-Latn-BA" sz="2600" b="1" dirty="0" smtClean="0"/>
          </a:p>
          <a:p>
            <a:r>
              <a:rPr lang="sr-Latn-BA" sz="2800" dirty="0" smtClean="0"/>
              <a:t>Ako iskoristimo činjenicu da je elevacioni ugao u trenutku izlaska </a:t>
            </a:r>
            <a:r>
              <a:rPr lang="sr-Latn-BA" sz="2800" dirty="0" smtClean="0"/>
              <a:t>Sunca </a:t>
            </a:r>
            <a:r>
              <a:rPr lang="sr-Latn-BA" sz="2800" dirty="0" smtClean="0"/>
              <a:t>jednak nuli, </a:t>
            </a:r>
            <a:br>
              <a:rPr lang="sr-Latn-BA" sz="2800" dirty="0" smtClean="0"/>
            </a:br>
            <a:r>
              <a:rPr lang="sr-Latn-BA" sz="2800" dirty="0" smtClean="0"/>
              <a:t>može se izračunati ugao </a:t>
            </a:r>
            <a:br>
              <a:rPr lang="sr-Latn-BA" sz="2800" dirty="0" smtClean="0"/>
            </a:br>
            <a:r>
              <a:rPr lang="sr-Latn-BA" sz="2800" dirty="0" smtClean="0"/>
              <a:t>deklinacije</a:t>
            </a:r>
            <a:r>
              <a:rPr lang="en-US" sz="2800" dirty="0" smtClean="0"/>
              <a:t>.</a:t>
            </a:r>
            <a:endParaRPr lang="sr-Latn-BA" sz="2800" dirty="0" smtClean="0"/>
          </a:p>
          <a:p>
            <a:endParaRPr lang="sr-Latn-BA" sz="2800" dirty="0" smtClean="0"/>
          </a:p>
          <a:p>
            <a:endParaRPr lang="sr-Latn-BA" sz="2800" dirty="0" smtClean="0"/>
          </a:p>
          <a:p>
            <a:r>
              <a:rPr lang="sr-Latn-BA" sz="2800" dirty="0" smtClean="0"/>
              <a:t>Dakle, ako je </a:t>
            </a:r>
            <a:r>
              <a:rPr lang="el-GR" sz="2800" i="1" dirty="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sr-Latn-BA" sz="2800" i="1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sr-Latn-BA" sz="28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sr-Latn-BA" sz="2800" dirty="0" smtClean="0"/>
              <a:t>, iz:</a:t>
            </a:r>
            <a:endParaRPr lang="pl-PL" sz="26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723900" y="1828800"/>
          <a:ext cx="7543800" cy="895350"/>
        </p:xfrm>
        <a:graphic>
          <a:graphicData uri="http://schemas.openxmlformats.org/presentationml/2006/ole">
            <p:oleObj spid="_x0000_s5130" name="Equation" r:id="rId3" imgW="3771720" imgH="444240" progId="Equation.DSMT4">
              <p:embed/>
            </p:oleObj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62400" y="3566593"/>
            <a:ext cx="5029200" cy="3062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3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133" name="Object 13"/>
          <p:cNvGraphicFramePr>
            <a:graphicFrameLocks noChangeAspect="1"/>
          </p:cNvGraphicFramePr>
          <p:nvPr/>
        </p:nvGraphicFramePr>
        <p:xfrm>
          <a:off x="609600" y="6038850"/>
          <a:ext cx="6038850" cy="514350"/>
        </p:xfrm>
        <a:graphic>
          <a:graphicData uri="http://schemas.openxmlformats.org/presentationml/2006/ole">
            <p:oleObj spid="_x0000_s5133" name="Equation" r:id="rId5" imgW="3022560" imgH="2538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r-Latn-BA" sz="2600" dirty="0" smtClean="0"/>
              <a:t>dobija se:</a:t>
            </a:r>
          </a:p>
          <a:p>
            <a:pPr>
              <a:buNone/>
            </a:pPr>
            <a:endParaRPr lang="sr-Latn-BA" sz="2600" b="1" dirty="0" smtClean="0"/>
          </a:p>
          <a:p>
            <a:pPr>
              <a:buNone/>
            </a:pPr>
            <a:endParaRPr lang="sr-Latn-BA" sz="2600" b="1" dirty="0" smtClean="0"/>
          </a:p>
          <a:p>
            <a:pPr>
              <a:buNone/>
            </a:pPr>
            <a:endParaRPr lang="sr-Latn-BA" sz="2600" b="1" dirty="0" smtClean="0"/>
          </a:p>
          <a:p>
            <a:r>
              <a:rPr lang="sr-Latn-BA" sz="2600" dirty="0" smtClean="0"/>
              <a:t>Na osnovu ugla deklinacije i geografske širine može se odrediti elevacioni ugao u solarno podne.</a:t>
            </a:r>
          </a:p>
          <a:p>
            <a:r>
              <a:rPr lang="sr-Latn-BA" sz="2600" dirty="0" smtClean="0"/>
              <a:t> Jedan način je da se ugao deklinacije, geografska širina i satni ugao uvrste u izraz:</a:t>
            </a:r>
          </a:p>
          <a:p>
            <a:pPr marL="0" indent="0">
              <a:buNone/>
            </a:pPr>
            <a:endParaRPr lang="sr-Latn-BA" sz="2600" dirty="0" smtClean="0"/>
          </a:p>
          <a:p>
            <a:pPr indent="0">
              <a:buNone/>
            </a:pPr>
            <a:r>
              <a:rPr lang="sr-Latn-BA" sz="2600" dirty="0" smtClean="0"/>
              <a:t>znamo da je satni ugao u solarno podne jednak nuli</a:t>
            </a:r>
          </a:p>
          <a:p>
            <a:pPr marL="0" indent="346075">
              <a:tabLst>
                <a:tab pos="346075" algn="l"/>
              </a:tabLst>
            </a:pPr>
            <a:r>
              <a:rPr lang="sr-Latn-BA" sz="2600" dirty="0" smtClean="0"/>
              <a:t>Drugi način je da se slike (sa sljedećeg slajda) zaključi 	čemu je jednak elevacioni ugao u solarno podne.</a:t>
            </a:r>
            <a:endParaRPr lang="pl-PL" sz="26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6801" name="Object 1"/>
          <p:cNvGraphicFramePr>
            <a:graphicFrameLocks noChangeAspect="1"/>
          </p:cNvGraphicFramePr>
          <p:nvPr/>
        </p:nvGraphicFramePr>
        <p:xfrm>
          <a:off x="522288" y="1752600"/>
          <a:ext cx="8099425" cy="1382713"/>
        </p:xfrm>
        <a:graphic>
          <a:graphicData uri="http://schemas.openxmlformats.org/presentationml/2006/ole">
            <p:oleObj spid="_x0000_s76801" name="Equation" r:id="rId3" imgW="4051080" imgH="685800" progId="Equation.DSMT4">
              <p:embed/>
            </p:oleObj>
          </a:graphicData>
        </a:graphic>
      </p:graphicFrame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6803" name="Object 3"/>
          <p:cNvGraphicFramePr>
            <a:graphicFrameLocks noChangeAspect="1"/>
          </p:cNvGraphicFramePr>
          <p:nvPr/>
        </p:nvGraphicFramePr>
        <p:xfrm>
          <a:off x="1641475" y="4895850"/>
          <a:ext cx="5861050" cy="514350"/>
        </p:xfrm>
        <a:graphic>
          <a:graphicData uri="http://schemas.openxmlformats.org/presentationml/2006/ole">
            <p:oleObj spid="_x0000_s76803" name="Equation" r:id="rId4" imgW="2933640" imgH="2538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endParaRPr lang="pl-PL" sz="2600" b="1" dirty="0" smtClean="0"/>
          </a:p>
          <a:p>
            <a:endParaRPr lang="pl-PL" sz="2600" b="1" dirty="0" smtClean="0"/>
          </a:p>
          <a:p>
            <a:endParaRPr lang="pl-PL" sz="2600" b="1" dirty="0" smtClean="0"/>
          </a:p>
          <a:p>
            <a:endParaRPr lang="pl-PL" sz="2600" b="1" dirty="0" smtClean="0"/>
          </a:p>
          <a:p>
            <a:endParaRPr lang="pl-PL" sz="2600" b="1" dirty="0" smtClean="0"/>
          </a:p>
          <a:p>
            <a:endParaRPr lang="pl-PL" sz="2600" b="1" dirty="0" smtClean="0"/>
          </a:p>
          <a:p>
            <a:endParaRPr lang="pl-PL" sz="2600" dirty="0" smtClean="0"/>
          </a:p>
          <a:p>
            <a:endParaRPr lang="pl-PL" sz="2600" dirty="0" smtClean="0"/>
          </a:p>
          <a:p>
            <a:endParaRPr lang="pl-PL" sz="2600" dirty="0" smtClean="0"/>
          </a:p>
          <a:p>
            <a:r>
              <a:rPr lang="sr-Latn-BA" sz="2800" dirty="0" smtClean="0"/>
              <a:t>Koristeći sliku dobijamo da je:</a:t>
            </a:r>
            <a:endParaRPr lang="pl-PL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7989" y="1219200"/>
            <a:ext cx="6188023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5777" name="Object 1"/>
          <p:cNvGraphicFramePr>
            <a:graphicFrameLocks noChangeAspect="1"/>
          </p:cNvGraphicFramePr>
          <p:nvPr/>
        </p:nvGraphicFramePr>
        <p:xfrm>
          <a:off x="1168400" y="6096000"/>
          <a:ext cx="6807200" cy="476250"/>
        </p:xfrm>
        <a:graphic>
          <a:graphicData uri="http://schemas.openxmlformats.org/presentationml/2006/ole">
            <p:oleObj spid="_x0000_s75777" name="Equation" r:id="rId4" imgW="3403440" imgH="2412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lnSpcReduction="10000"/>
          </a:bodyPr>
          <a:lstStyle/>
          <a:p>
            <a:r>
              <a:rPr lang="sr-Latn-BA" sz="2600" dirty="0" smtClean="0"/>
              <a:t>Dakle, u solarno podne Sunčevi zraci padaju na horizontalnu podlogu, koja se nalazi na 42,29° sjeverne geografske širine, pod uglom od 59,30°</a:t>
            </a:r>
          </a:p>
          <a:p>
            <a:r>
              <a:rPr lang="sr-Latn-CS" sz="2600" dirty="0" smtClean="0"/>
              <a:t>Iz ugla deklinacije može se odrediti redni broj posmatranog dana u godini. </a:t>
            </a:r>
          </a:p>
          <a:p>
            <a:r>
              <a:rPr lang="sr-Latn-CS" sz="2600" dirty="0" smtClean="0"/>
              <a:t>Koristeći izraz:</a:t>
            </a:r>
          </a:p>
          <a:p>
            <a:endParaRPr lang="sr-Latn-CS" sz="2600" dirty="0" smtClean="0"/>
          </a:p>
          <a:p>
            <a:pPr>
              <a:buNone/>
            </a:pPr>
            <a:endParaRPr lang="sr-Latn-CS" sz="2600" dirty="0" smtClean="0"/>
          </a:p>
          <a:p>
            <a:pPr indent="0">
              <a:buNone/>
            </a:pPr>
            <a:r>
              <a:rPr lang="sr-Latn-CS" sz="2600" dirty="0" smtClean="0"/>
              <a:t>dobija se:</a:t>
            </a:r>
            <a:endParaRPr lang="en-US" sz="2600" dirty="0" smtClean="0"/>
          </a:p>
          <a:p>
            <a:pPr indent="0">
              <a:buNone/>
            </a:pPr>
            <a:endParaRPr lang="sr-Latn-BA" sz="2600" dirty="0" smtClean="0"/>
          </a:p>
          <a:p>
            <a:pPr indent="0">
              <a:buNone/>
            </a:pPr>
            <a:endParaRPr lang="en-US" sz="2600" dirty="0" smtClean="0"/>
          </a:p>
          <a:p>
            <a:r>
              <a:rPr lang="sr-Latn-CS" sz="2600" dirty="0" smtClean="0"/>
              <a:t>Dakle, posmatrani dan je 111 dan u godini. </a:t>
            </a:r>
            <a:r>
              <a:rPr lang="sr-Latn-CS" sz="2600" dirty="0" smtClean="0">
                <a:solidFill>
                  <a:srgbClr val="FF0000"/>
                </a:solidFill>
              </a:rPr>
              <a:t>(Pri ovom proračunu voditi računa o stepenima i </a:t>
            </a:r>
            <a:r>
              <a:rPr lang="sr-Latn-CS" sz="2600" dirty="0" err="1" smtClean="0">
                <a:solidFill>
                  <a:srgbClr val="FF0000"/>
                </a:solidFill>
              </a:rPr>
              <a:t>radijanima</a:t>
            </a:r>
            <a:r>
              <a:rPr lang="sr-Latn-CS" sz="2600" dirty="0" smtClean="0">
                <a:solidFill>
                  <a:srgbClr val="FF0000"/>
                </a:solidFill>
              </a:rPr>
              <a:t>!)</a:t>
            </a:r>
            <a:endParaRPr lang="en-US" sz="2600" dirty="0" smtClean="0">
              <a:solidFill>
                <a:srgbClr val="FF0000"/>
              </a:solidFill>
            </a:endParaRPr>
          </a:p>
          <a:p>
            <a:endParaRPr lang="pl-PL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4753" name="Object 1"/>
          <p:cNvGraphicFramePr>
            <a:graphicFrameLocks noChangeAspect="1"/>
          </p:cNvGraphicFramePr>
          <p:nvPr/>
        </p:nvGraphicFramePr>
        <p:xfrm>
          <a:off x="2851150" y="3581400"/>
          <a:ext cx="3441700" cy="857250"/>
        </p:xfrm>
        <a:graphic>
          <a:graphicData uri="http://schemas.openxmlformats.org/presentationml/2006/ole">
            <p:oleObj spid="_x0000_s74753" name="Equation" r:id="rId3" imgW="1726920" imgH="431640" progId="Equation.DSMT4">
              <p:embed/>
            </p:oleObj>
          </a:graphicData>
        </a:graphic>
      </p:graphicFrame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1885950" y="4800600"/>
          <a:ext cx="5372100" cy="914400"/>
        </p:xfrm>
        <a:graphic>
          <a:graphicData uri="http://schemas.openxmlformats.org/presentationml/2006/ole">
            <p:oleObj spid="_x0000_s74755" name="Equation" r:id="rId4" imgW="2679700" imgH="4572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86400"/>
          </a:xfrm>
        </p:spPr>
        <p:txBody>
          <a:bodyPr>
            <a:noAutofit/>
          </a:bodyPr>
          <a:lstStyle/>
          <a:p>
            <a:r>
              <a:rPr lang="sr-Latn-CS" sz="2600" dirty="0" smtClean="0"/>
              <a:t>Koristeći model </a:t>
            </a:r>
            <a:r>
              <a:rPr lang="sr-Latn-CS" sz="2600" dirty="0" smtClean="0"/>
              <a:t>za vedar dan </a:t>
            </a:r>
            <a:r>
              <a:rPr lang="sr-Latn-CS" sz="2600" dirty="0" smtClean="0"/>
              <a:t>za proračun </a:t>
            </a:r>
            <a:r>
              <a:rPr lang="sr-Latn-CS" sz="2600" dirty="0" err="1" smtClean="0"/>
              <a:t>iradijanse</a:t>
            </a:r>
            <a:r>
              <a:rPr lang="sr-Latn-CS" sz="2600" dirty="0" smtClean="0"/>
              <a:t>, dobija </a:t>
            </a:r>
            <a:r>
              <a:rPr lang="sr-Latn-CS" sz="2600" dirty="0" smtClean="0"/>
              <a:t>se da je prividni </a:t>
            </a:r>
            <a:r>
              <a:rPr lang="sr-Latn-CS" sz="2600" dirty="0" err="1" smtClean="0"/>
              <a:t>fluks</a:t>
            </a:r>
            <a:r>
              <a:rPr lang="sr-Latn-CS" sz="2600" dirty="0" smtClean="0"/>
              <a:t> zračenja van atmosfere:</a:t>
            </a:r>
          </a:p>
          <a:p>
            <a:endParaRPr lang="sr-Latn-CS" sz="2800" dirty="0" smtClean="0"/>
          </a:p>
          <a:p>
            <a:endParaRPr lang="sr-Latn-CS" sz="2600" dirty="0" smtClean="0"/>
          </a:p>
          <a:p>
            <a:pPr>
              <a:buNone/>
            </a:pPr>
            <a:endParaRPr lang="sr-Latn-CS" sz="2600" dirty="0" smtClean="0"/>
          </a:p>
          <a:p>
            <a:pPr>
              <a:buNone/>
            </a:pPr>
            <a:r>
              <a:rPr lang="sr-Latn-CS" sz="2600" dirty="0" smtClean="0"/>
              <a:t>	i optička debljina:</a:t>
            </a:r>
          </a:p>
          <a:p>
            <a:pPr>
              <a:buNone/>
            </a:pPr>
            <a:endParaRPr lang="sr-Latn-CS" sz="2800" dirty="0" smtClean="0"/>
          </a:p>
          <a:p>
            <a:pPr>
              <a:buNone/>
            </a:pPr>
            <a:endParaRPr lang="sr-Latn-CS" sz="2800" dirty="0" smtClean="0"/>
          </a:p>
          <a:p>
            <a:pPr>
              <a:buNone/>
            </a:pPr>
            <a:endParaRPr lang="sr-Latn-CS" sz="2600" dirty="0" smtClean="0"/>
          </a:p>
          <a:p>
            <a:r>
              <a:rPr lang="sr-Latn-CS" sz="2600" dirty="0" smtClean="0"/>
              <a:t>Koristeći elevacioni ugao Sunca u solarno podne dobija se odnos vazdušne mase:</a:t>
            </a:r>
            <a:endParaRPr lang="en-US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3729" name="Object 1"/>
          <p:cNvGraphicFramePr>
            <a:graphicFrameLocks noChangeAspect="1"/>
          </p:cNvGraphicFramePr>
          <p:nvPr/>
        </p:nvGraphicFramePr>
        <p:xfrm>
          <a:off x="1700213" y="2057400"/>
          <a:ext cx="5743575" cy="1676400"/>
        </p:xfrm>
        <a:graphic>
          <a:graphicData uri="http://schemas.openxmlformats.org/presentationml/2006/ole">
            <p:oleObj spid="_x0000_s73729" name="Equation" r:id="rId3" imgW="2869920" imgH="838080" progId="Equation.DSMT4">
              <p:embed/>
            </p:oleObj>
          </a:graphicData>
        </a:graphic>
      </p:graphicFrame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3731" name="Object 3"/>
          <p:cNvGraphicFramePr>
            <a:graphicFrameLocks noChangeAspect="1"/>
          </p:cNvGraphicFramePr>
          <p:nvPr/>
        </p:nvGraphicFramePr>
        <p:xfrm>
          <a:off x="1844675" y="3886200"/>
          <a:ext cx="5457825" cy="1676400"/>
        </p:xfrm>
        <a:graphic>
          <a:graphicData uri="http://schemas.openxmlformats.org/presentationml/2006/ole">
            <p:oleObj spid="_x0000_s73731" name="Equation" r:id="rId4" imgW="2730240" imgH="8380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Autofit/>
          </a:bodyPr>
          <a:lstStyle/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Uvrštavajući prividni </a:t>
            </a:r>
            <a:r>
              <a:rPr lang="sr-Latn-BA" sz="2600" dirty="0" err="1" smtClean="0"/>
              <a:t>fluks</a:t>
            </a:r>
            <a:r>
              <a:rPr lang="sr-Latn-BA" sz="2600" dirty="0" smtClean="0"/>
              <a:t> zračenja van atmosfere, optičku debljinu i odnos vazdušne mase u izraz za računanje direktne </a:t>
            </a:r>
            <a:r>
              <a:rPr lang="sr-Latn-BA" sz="2600" dirty="0" err="1" smtClean="0"/>
              <a:t>iradijanse</a:t>
            </a:r>
            <a:r>
              <a:rPr lang="sr-Latn-BA" sz="2600" dirty="0" smtClean="0"/>
              <a:t> na normalnu podlogu dobija se: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Da bi se dobila snaga Sunčevog zračenja na horizontalnu podlogu potrebno je direktnu komponentu zračenja pomnožiti sa sinusom ugla koji sunčevi zraci zaklapaju sa podlogom: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2705" name="Object 1"/>
          <p:cNvGraphicFramePr>
            <a:graphicFrameLocks noChangeAspect="1"/>
          </p:cNvGraphicFramePr>
          <p:nvPr/>
        </p:nvGraphicFramePr>
        <p:xfrm>
          <a:off x="2524125" y="1295400"/>
          <a:ext cx="4095750" cy="838200"/>
        </p:xfrm>
        <a:graphic>
          <a:graphicData uri="http://schemas.openxmlformats.org/presentationml/2006/ole">
            <p:oleObj spid="_x0000_s72705" name="Equation" r:id="rId3" imgW="2044440" imgH="419040" progId="Equation.DSMT4">
              <p:embed/>
            </p:oleObj>
          </a:graphicData>
        </a:graphic>
      </p:graphicFrame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2707" name="Object 3"/>
          <p:cNvGraphicFramePr>
            <a:graphicFrameLocks noChangeAspect="1"/>
          </p:cNvGraphicFramePr>
          <p:nvPr/>
        </p:nvGraphicFramePr>
        <p:xfrm>
          <a:off x="1876425" y="3867150"/>
          <a:ext cx="5391150" cy="781050"/>
        </p:xfrm>
        <a:graphic>
          <a:graphicData uri="http://schemas.openxmlformats.org/presentationml/2006/ole">
            <p:oleObj spid="_x0000_s72707" name="Equation" r:id="rId4" imgW="2692080" imgH="3934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smtClean="0"/>
              <a:t>Zadatak 1</a:t>
            </a:r>
            <a:endParaRPr lang="sr-Latn-B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Autofit/>
          </a:bodyPr>
          <a:lstStyle/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Koristeći aproksimaciju da je difuzno zračenje na horizontalnu podlogu proporcionalno direktnom:</a:t>
            </a:r>
          </a:p>
          <a:p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gdje je koeficijent proporcionalnosti:</a:t>
            </a:r>
          </a:p>
          <a:p>
            <a:pPr>
              <a:buNone/>
            </a:pPr>
            <a:endParaRPr lang="sr-Latn-BA" sz="2600" dirty="0" smtClean="0"/>
          </a:p>
          <a:p>
            <a:pPr>
              <a:buNone/>
            </a:pPr>
            <a:endParaRPr lang="sr-Latn-BA" sz="2600" dirty="0" smtClean="0"/>
          </a:p>
          <a:p>
            <a:pPr>
              <a:buNone/>
            </a:pPr>
            <a:endParaRPr lang="sr-Latn-BA" sz="2600" dirty="0" smtClean="0"/>
          </a:p>
          <a:p>
            <a:pPr>
              <a:buNone/>
            </a:pPr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dobija 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sr-Latn-BA" smtClean="0"/>
              <a:pPr/>
              <a:t>9</a:t>
            </a:fld>
            <a:endParaRPr lang="sr-Latn-BA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83969" name="Object 1"/>
          <p:cNvGraphicFramePr>
            <a:graphicFrameLocks noChangeAspect="1"/>
          </p:cNvGraphicFramePr>
          <p:nvPr/>
        </p:nvGraphicFramePr>
        <p:xfrm>
          <a:off x="1581150" y="1352550"/>
          <a:ext cx="5981700" cy="781050"/>
        </p:xfrm>
        <a:graphic>
          <a:graphicData uri="http://schemas.openxmlformats.org/presentationml/2006/ole">
            <p:oleObj spid="_x0000_s83969" name="Equation" r:id="rId3" imgW="2984400" imgH="393480" progId="Equation.DSMT4">
              <p:embed/>
            </p:oleObj>
          </a:graphicData>
        </a:graphic>
      </p:graphicFrame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83971" name="Object 3"/>
          <p:cNvGraphicFramePr>
            <a:graphicFrameLocks noChangeAspect="1"/>
          </p:cNvGraphicFramePr>
          <p:nvPr/>
        </p:nvGraphicFramePr>
        <p:xfrm>
          <a:off x="3765550" y="3124200"/>
          <a:ext cx="1612900" cy="457200"/>
        </p:xfrm>
        <a:graphic>
          <a:graphicData uri="http://schemas.openxmlformats.org/presentationml/2006/ole">
            <p:oleObj spid="_x0000_s83971" name="Equation" r:id="rId4" imgW="799920" imgH="228600" progId="Equation.DSMT4">
              <p:embed/>
            </p:oleObj>
          </a:graphicData>
        </a:graphic>
      </p:graphicFrame>
      <p:sp>
        <p:nvSpPr>
          <p:cNvPr id="83974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83976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83975" name="Object 7"/>
          <p:cNvGraphicFramePr>
            <a:graphicFrameLocks noChangeAspect="1"/>
          </p:cNvGraphicFramePr>
          <p:nvPr/>
        </p:nvGraphicFramePr>
        <p:xfrm>
          <a:off x="1747838" y="4191000"/>
          <a:ext cx="5648325" cy="1676400"/>
        </p:xfrm>
        <a:graphic>
          <a:graphicData uri="http://schemas.openxmlformats.org/presentationml/2006/ole">
            <p:oleObj spid="_x0000_s83975" name="Equation" r:id="rId5" imgW="2819160" imgH="8380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CS" sz="2600" dirty="0" smtClean="0"/>
              <a:t>Na kraju, sumiranjem direktne i difuzne komponente dobija se ukupno zračenje na horizontalnu podlogu:</a:t>
            </a:r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2945" name="Object 1"/>
          <p:cNvGraphicFramePr>
            <a:graphicFrameLocks noChangeAspect="1"/>
          </p:cNvGraphicFramePr>
          <p:nvPr/>
        </p:nvGraphicFramePr>
        <p:xfrm>
          <a:off x="2028825" y="1371600"/>
          <a:ext cx="5086350" cy="781050"/>
        </p:xfrm>
        <a:graphic>
          <a:graphicData uri="http://schemas.openxmlformats.org/presentationml/2006/ole">
            <p:oleObj spid="_x0000_s82945" name="Equation" r:id="rId3" imgW="2539800" imgH="393480" progId="Equation.DSMT4">
              <p:embed/>
            </p:oleObj>
          </a:graphicData>
        </a:graphic>
      </p:graphicFrame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2947" name="Object 3"/>
          <p:cNvGraphicFramePr>
            <a:graphicFrameLocks noChangeAspect="1"/>
          </p:cNvGraphicFramePr>
          <p:nvPr/>
        </p:nvGraphicFramePr>
        <p:xfrm>
          <a:off x="1857375" y="3124200"/>
          <a:ext cx="5429250" cy="781050"/>
        </p:xfrm>
        <a:graphic>
          <a:graphicData uri="http://schemas.openxmlformats.org/presentationml/2006/ole">
            <p:oleObj spid="_x0000_s82947" name="Equation" r:id="rId4" imgW="2717640" imgH="3934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90800"/>
            <a:ext cx="8229600" cy="37338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Prvo je potrebno da izračunamo redi broj dana u godini:</a:t>
            </a:r>
          </a:p>
          <a:p>
            <a:endParaRPr lang="sr-Latn-BA" sz="2600" dirty="0" smtClean="0"/>
          </a:p>
          <a:p>
            <a:r>
              <a:rPr lang="sr-Latn-BA" sz="2600" dirty="0" smtClean="0"/>
              <a:t>Na osnovu rednog broja dana u godini možemo izračunati ugao deklinacije: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" y="1295400"/>
            <a:ext cx="8778240" cy="123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8067" name="Object 3"/>
          <p:cNvGraphicFramePr>
            <a:graphicFrameLocks noChangeAspect="1"/>
          </p:cNvGraphicFramePr>
          <p:nvPr/>
        </p:nvGraphicFramePr>
        <p:xfrm>
          <a:off x="2630488" y="3124200"/>
          <a:ext cx="3883025" cy="352425"/>
        </p:xfrm>
        <a:graphic>
          <a:graphicData uri="http://schemas.openxmlformats.org/presentationml/2006/ole">
            <p:oleObj spid="_x0000_s88067" name="Equation" r:id="rId4" imgW="1942920" imgH="177480" progId="Equation.DSMT4">
              <p:embed/>
            </p:oleObj>
          </a:graphicData>
        </a:graphic>
      </p:graphicFrame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2053431" y="4483100"/>
          <a:ext cx="5037138" cy="1765300"/>
        </p:xfrm>
        <a:graphic>
          <a:graphicData uri="http://schemas.openxmlformats.org/presentationml/2006/ole">
            <p:oleObj spid="_x0000_s88068" name="Equation" r:id="rId5" imgW="2527200" imgH="8888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Satni ugao u </a:t>
            </a:r>
            <a:r>
              <a:rPr lang="sr-Latn-BA" sz="2600" dirty="0" smtClean="0"/>
              <a:t>solarno podne iznosi:</a:t>
            </a:r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pa je elevacioni ugao Sunca u solarno podne: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1800" dirty="0" smtClean="0"/>
          </a:p>
          <a:p>
            <a:r>
              <a:rPr lang="sr-Latn-BA" sz="2600" dirty="0" smtClean="0"/>
              <a:t>Satni ugao tri sata prije solarnog podneva je:</a:t>
            </a:r>
          </a:p>
          <a:p>
            <a:pPr>
              <a:buNone/>
            </a:pPr>
            <a:endParaRPr lang="sr-Latn-BA" sz="2600" dirty="0" smtClean="0"/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7041" name="Object 1"/>
          <p:cNvGraphicFramePr>
            <a:graphicFrameLocks noChangeAspect="1"/>
          </p:cNvGraphicFramePr>
          <p:nvPr/>
        </p:nvGraphicFramePr>
        <p:xfrm>
          <a:off x="1943100" y="1854200"/>
          <a:ext cx="5257800" cy="844550"/>
        </p:xfrm>
        <a:graphic>
          <a:graphicData uri="http://schemas.openxmlformats.org/presentationml/2006/ole">
            <p:oleObj spid="_x0000_s87041" name="Equation" r:id="rId3" imgW="2628720" imgH="419040" progId="Equation.DSMT4">
              <p:embed/>
            </p:oleObj>
          </a:graphicData>
        </a:graphic>
      </p:graphicFrame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1603375" y="3143250"/>
          <a:ext cx="5937250" cy="514350"/>
        </p:xfrm>
        <a:graphic>
          <a:graphicData uri="http://schemas.openxmlformats.org/presentationml/2006/ole">
            <p:oleObj spid="_x0000_s87043" name="Equation" r:id="rId4" imgW="2971800" imgH="253800" progId="Equation.DSMT4">
              <p:embed/>
            </p:oleObj>
          </a:graphicData>
        </a:graphic>
      </p:graphicFrame>
      <p:graphicFrame>
        <p:nvGraphicFramePr>
          <p:cNvPr id="87045" name="Object 5"/>
          <p:cNvGraphicFramePr>
            <a:graphicFrameLocks noChangeAspect="1"/>
          </p:cNvGraphicFramePr>
          <p:nvPr/>
        </p:nvGraphicFramePr>
        <p:xfrm>
          <a:off x="1566863" y="3868737"/>
          <a:ext cx="6011862" cy="1465263"/>
        </p:xfrm>
        <a:graphic>
          <a:graphicData uri="http://schemas.openxmlformats.org/presentationml/2006/ole">
            <p:oleObj spid="_x0000_s87045" name="Equation" r:id="rId5" imgW="3009600" imgH="723600" progId="Equation.DSMT4">
              <p:embed/>
            </p:oleObj>
          </a:graphicData>
        </a:graphic>
      </p:graphicFrame>
      <p:graphicFrame>
        <p:nvGraphicFramePr>
          <p:cNvPr id="87046" name="Object 6"/>
          <p:cNvGraphicFramePr>
            <a:graphicFrameLocks noChangeAspect="1"/>
          </p:cNvGraphicFramePr>
          <p:nvPr/>
        </p:nvGraphicFramePr>
        <p:xfrm>
          <a:off x="2882900" y="5867400"/>
          <a:ext cx="3378200" cy="844550"/>
        </p:xfrm>
        <a:graphic>
          <a:graphicData uri="http://schemas.openxmlformats.org/presentationml/2006/ole">
            <p:oleObj spid="_x0000_s87046" name="Equation" r:id="rId6" imgW="1688760" imgH="4190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smtClean="0"/>
              <a:t>Zadatak 2</a:t>
            </a:r>
            <a:endParaRPr lang="sr-Latn-B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r-Latn-BA" sz="2600" dirty="0" smtClean="0"/>
              <a:t>	pa je elevacioni ugao Sunca:</a:t>
            </a:r>
          </a:p>
          <a:p>
            <a:pPr>
              <a:buNone/>
            </a:pPr>
            <a:endParaRPr lang="sr-Latn-BA" sz="2600" dirty="0" smtClean="0"/>
          </a:p>
          <a:p>
            <a:pPr>
              <a:buNone/>
            </a:pPr>
            <a:endParaRPr lang="sr-Latn-BA" sz="2600" dirty="0" smtClean="0"/>
          </a:p>
          <a:p>
            <a:pPr>
              <a:buNone/>
            </a:pPr>
            <a:endParaRPr lang="sr-Latn-BA" sz="2600" dirty="0" smtClean="0"/>
          </a:p>
          <a:p>
            <a:r>
              <a:rPr lang="sr-Latn-BA" sz="2600" dirty="0" smtClean="0"/>
              <a:t>Satni ugao tri sata nakon solarnog podneva je: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pa je elevacioni ugao Sunca:</a:t>
            </a:r>
          </a:p>
          <a:p>
            <a:endParaRPr lang="sr-Latn-BA" sz="2600" dirty="0" smtClean="0"/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sr-Latn-BA" smtClean="0"/>
              <a:pPr/>
              <a:t>13</a:t>
            </a:fld>
            <a:endParaRPr lang="sr-Latn-BA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1477963" y="1739900"/>
          <a:ext cx="6188075" cy="1465263"/>
        </p:xfrm>
        <a:graphic>
          <a:graphicData uri="http://schemas.openxmlformats.org/presentationml/2006/ole">
            <p:oleObj spid="_x0000_s96258" name="Equation" r:id="rId3" imgW="3098520" imgH="723600" progId="Equation.DSMT4">
              <p:embed/>
            </p:oleObj>
          </a:graphicData>
        </a:graphic>
      </p:graphicFrame>
      <p:graphicFrame>
        <p:nvGraphicFramePr>
          <p:cNvPr id="96259" name="Object 3"/>
          <p:cNvGraphicFramePr>
            <a:graphicFrameLocks noChangeAspect="1"/>
          </p:cNvGraphicFramePr>
          <p:nvPr/>
        </p:nvGraphicFramePr>
        <p:xfrm>
          <a:off x="2590800" y="3657600"/>
          <a:ext cx="3962400" cy="844550"/>
        </p:xfrm>
        <a:graphic>
          <a:graphicData uri="http://schemas.openxmlformats.org/presentationml/2006/ole">
            <p:oleObj spid="_x0000_s96259" name="Equation" r:id="rId4" imgW="1981080" imgH="419040" progId="Equation.DSMT4">
              <p:embed/>
            </p:oleObj>
          </a:graphicData>
        </a:graphic>
      </p:graphicFrame>
      <p:graphicFrame>
        <p:nvGraphicFramePr>
          <p:cNvPr id="96260" name="Object 4"/>
          <p:cNvGraphicFramePr>
            <a:graphicFrameLocks noChangeAspect="1"/>
          </p:cNvGraphicFramePr>
          <p:nvPr/>
        </p:nvGraphicFramePr>
        <p:xfrm>
          <a:off x="1389063" y="5092700"/>
          <a:ext cx="6367462" cy="1466850"/>
        </p:xfrm>
        <a:graphic>
          <a:graphicData uri="http://schemas.openxmlformats.org/presentationml/2006/ole">
            <p:oleObj spid="_x0000_s96260" name="Equation" r:id="rId5" imgW="3187440" imgH="723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Azimutalni ugao Sunca u solarno podne je: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tri sata prije solarnog podneva: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tri sata nakon solarnog podneva: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1854200" y="1717675"/>
          <a:ext cx="5435600" cy="949325"/>
        </p:xfrm>
        <a:graphic>
          <a:graphicData uri="http://schemas.openxmlformats.org/presentationml/2006/ole">
            <p:oleObj spid="_x0000_s97283" name="Equation" r:id="rId3" imgW="2717640" imgH="469800" progId="Equation.DSMT4">
              <p:embed/>
            </p:oleObj>
          </a:graphicData>
        </a:graphic>
      </p:graphicFrame>
      <p:graphicFrame>
        <p:nvGraphicFramePr>
          <p:cNvPr id="97284" name="Object 4"/>
          <p:cNvGraphicFramePr>
            <a:graphicFrameLocks noChangeAspect="1"/>
          </p:cNvGraphicFramePr>
          <p:nvPr/>
        </p:nvGraphicFramePr>
        <p:xfrm>
          <a:off x="1003300" y="3135313"/>
          <a:ext cx="7137400" cy="1436687"/>
        </p:xfrm>
        <a:graphic>
          <a:graphicData uri="http://schemas.openxmlformats.org/presentationml/2006/ole">
            <p:oleObj spid="_x0000_s97284" name="Equation" r:id="rId4" imgW="3568680" imgH="711000" progId="Equation.DSMT4">
              <p:embed/>
            </p:oleObj>
          </a:graphicData>
        </a:graphic>
      </p:graphicFrame>
      <p:graphicFrame>
        <p:nvGraphicFramePr>
          <p:cNvPr id="97285" name="Object 5"/>
          <p:cNvGraphicFramePr>
            <a:graphicFrameLocks noChangeAspect="1"/>
          </p:cNvGraphicFramePr>
          <p:nvPr/>
        </p:nvGraphicFramePr>
        <p:xfrm>
          <a:off x="850900" y="5116512"/>
          <a:ext cx="7442200" cy="1436688"/>
        </p:xfrm>
        <a:graphic>
          <a:graphicData uri="http://schemas.openxmlformats.org/presentationml/2006/ole">
            <p:oleObj spid="_x0000_s97285" name="Equation" r:id="rId5" imgW="3720960" imgH="7110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sr-Latn-CS" sz="2600" dirty="0" smtClean="0"/>
              <a:t>Koristeći model za vedar dan za proračun </a:t>
            </a:r>
            <a:r>
              <a:rPr lang="sr-Latn-CS" sz="2600" dirty="0" err="1" smtClean="0"/>
              <a:t>iradijanse</a:t>
            </a:r>
            <a:r>
              <a:rPr lang="sr-Latn-CS" sz="2600" dirty="0" smtClean="0"/>
              <a:t>, dobija se da se prividni </a:t>
            </a:r>
            <a:r>
              <a:rPr lang="sr-Latn-CS" sz="2600" dirty="0" err="1" smtClean="0"/>
              <a:t>fluks</a:t>
            </a:r>
            <a:r>
              <a:rPr lang="sr-Latn-CS" sz="2600" dirty="0" smtClean="0"/>
              <a:t> zračenja van atmosfere:</a:t>
            </a:r>
          </a:p>
          <a:p>
            <a:endParaRPr lang="sr-Latn-CS" sz="2600" dirty="0" smtClean="0"/>
          </a:p>
          <a:p>
            <a:endParaRPr lang="sr-Latn-CS" sz="2600" dirty="0" smtClean="0"/>
          </a:p>
          <a:p>
            <a:endParaRPr lang="sr-Latn-CS" sz="2600" dirty="0" smtClean="0"/>
          </a:p>
          <a:p>
            <a:pPr>
              <a:buNone/>
            </a:pPr>
            <a:r>
              <a:rPr lang="sr-Latn-CS" sz="2600" dirty="0" smtClean="0"/>
              <a:t>	</a:t>
            </a:r>
          </a:p>
          <a:p>
            <a:pPr>
              <a:buNone/>
            </a:pPr>
            <a:r>
              <a:rPr lang="sr-Latn-CS" sz="2600" dirty="0" smtClean="0"/>
              <a:t>i optička debljina:</a:t>
            </a:r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8306" name="Object 2"/>
          <p:cNvGraphicFramePr>
            <a:graphicFrameLocks noChangeAspect="1"/>
          </p:cNvGraphicFramePr>
          <p:nvPr/>
        </p:nvGraphicFramePr>
        <p:xfrm>
          <a:off x="1700213" y="2209800"/>
          <a:ext cx="5743575" cy="1676400"/>
        </p:xfrm>
        <a:graphic>
          <a:graphicData uri="http://schemas.openxmlformats.org/presentationml/2006/ole">
            <p:oleObj spid="_x0000_s98306" name="Equation" r:id="rId3" imgW="2869920" imgH="838080" progId="Equation.DSMT4">
              <p:embed/>
            </p:oleObj>
          </a:graphicData>
        </a:graphic>
      </p:graphicFrame>
      <p:graphicFrame>
        <p:nvGraphicFramePr>
          <p:cNvPr id="98307" name="Object 3"/>
          <p:cNvGraphicFramePr>
            <a:graphicFrameLocks noChangeAspect="1"/>
          </p:cNvGraphicFramePr>
          <p:nvPr/>
        </p:nvGraphicFramePr>
        <p:xfrm>
          <a:off x="1665288" y="4724400"/>
          <a:ext cx="5813425" cy="1676400"/>
        </p:xfrm>
        <a:graphic>
          <a:graphicData uri="http://schemas.openxmlformats.org/presentationml/2006/ole">
            <p:oleObj spid="_x0000_s98307" name="Equation" r:id="rId4" imgW="2908080" imgH="8380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sr-Latn-BA" sz="2600" dirty="0" smtClean="0"/>
              <a:t>Odnos vazdušne mase zavisi od doba dana, tj. elevacionog ugla Sunca.</a:t>
            </a:r>
          </a:p>
          <a:p>
            <a:r>
              <a:rPr lang="sr-Latn-CS" sz="2600" dirty="0" smtClean="0"/>
              <a:t>Koristeći elevacioni ugao Sunca u solarno podne dobija se odnos vazdušne mase:</a:t>
            </a:r>
          </a:p>
          <a:p>
            <a:endParaRPr lang="sr-Latn-CS" sz="2600" dirty="0" smtClean="0"/>
          </a:p>
          <a:p>
            <a:endParaRPr lang="sr-Latn-CS" sz="2600" dirty="0" smtClean="0"/>
          </a:p>
          <a:p>
            <a:r>
              <a:rPr lang="sr-Latn-CS" sz="2600" dirty="0" smtClean="0"/>
              <a:t>Tri sata prije solarnog podneva odnos vazdušne mase je:</a:t>
            </a:r>
          </a:p>
          <a:p>
            <a:endParaRPr lang="sr-Latn-CS" sz="2600" dirty="0" smtClean="0"/>
          </a:p>
          <a:p>
            <a:endParaRPr lang="sr-Latn-CS" sz="2600" dirty="0" smtClean="0"/>
          </a:p>
          <a:p>
            <a:r>
              <a:rPr lang="sr-Latn-CS" sz="2600" dirty="0" smtClean="0"/>
              <a:t>Kako je elevacioni ugao Sunca tri sata nakon solarnog podneva isti kao i elevacioni ugao Sunca tri sata prije solarnog podneva dobija se da je </a:t>
            </a:r>
            <a:r>
              <a:rPr lang="sr-Latn-CS" sz="2600" i="1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sr-Latn-CS" sz="2600" baseline="-25000" dirty="0" err="1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sr-Latn-CS" sz="26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sr-Latn-CS" sz="2600" i="1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sr-Latn-CS" sz="2600" baseline="-25000" dirty="0" err="1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600" baseline="-25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9330" name="Object 2"/>
          <p:cNvGraphicFramePr>
            <a:graphicFrameLocks noChangeAspect="1"/>
          </p:cNvGraphicFramePr>
          <p:nvPr/>
        </p:nvGraphicFramePr>
        <p:xfrm>
          <a:off x="1905000" y="2743200"/>
          <a:ext cx="4781550" cy="863600"/>
        </p:xfrm>
        <a:graphic>
          <a:graphicData uri="http://schemas.openxmlformats.org/presentationml/2006/ole">
            <p:oleObj spid="_x0000_s99330" name="Equation" r:id="rId3" imgW="2387520" imgH="431640" progId="Equation.DSMT4">
              <p:embed/>
            </p:oleObj>
          </a:graphicData>
        </a:graphic>
      </p:graphicFrame>
      <p:graphicFrame>
        <p:nvGraphicFramePr>
          <p:cNvPr id="99331" name="Object 3"/>
          <p:cNvGraphicFramePr>
            <a:graphicFrameLocks noChangeAspect="1"/>
          </p:cNvGraphicFramePr>
          <p:nvPr/>
        </p:nvGraphicFramePr>
        <p:xfrm>
          <a:off x="1917700" y="4114800"/>
          <a:ext cx="4806950" cy="863600"/>
        </p:xfrm>
        <a:graphic>
          <a:graphicData uri="http://schemas.openxmlformats.org/presentationml/2006/ole">
            <p:oleObj spid="_x0000_s99331" name="Equation" r:id="rId4" imgW="2400120" imgH="431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Direktna komponenta zračenja u solarno podne je:</a:t>
            </a:r>
          </a:p>
          <a:p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tri sata prije solarnog podneva:</a:t>
            </a:r>
          </a:p>
          <a:p>
            <a:pPr>
              <a:buNone/>
            </a:pPr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a tri sata nakon solarnog podneva:</a:t>
            </a:r>
          </a:p>
          <a:p>
            <a:pPr>
              <a:buNone/>
            </a:pPr>
            <a:endParaRPr lang="sr-Latn-BA" sz="2600" dirty="0" smtClean="0"/>
          </a:p>
          <a:p>
            <a:r>
              <a:rPr lang="sr-Latn-BA" sz="2600" dirty="0" smtClean="0"/>
              <a:t>Ugao </a:t>
            </a:r>
            <a:r>
              <a:rPr lang="sr-Latn-BA" sz="2600" dirty="0" err="1" smtClean="0"/>
              <a:t>incidencije</a:t>
            </a:r>
            <a:r>
              <a:rPr lang="sr-Latn-BA" sz="2600" dirty="0" smtClean="0"/>
              <a:t> se izračunava na osnovu:</a:t>
            </a:r>
          </a:p>
          <a:p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pa je:</a:t>
            </a:r>
          </a:p>
          <a:p>
            <a:pPr>
              <a:buNone/>
            </a:pPr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0356" name="Object 4"/>
          <p:cNvGraphicFramePr>
            <a:graphicFrameLocks noChangeAspect="1"/>
          </p:cNvGraphicFramePr>
          <p:nvPr/>
        </p:nvGraphicFramePr>
        <p:xfrm>
          <a:off x="1622425" y="1600200"/>
          <a:ext cx="5899150" cy="781050"/>
        </p:xfrm>
        <a:graphic>
          <a:graphicData uri="http://schemas.openxmlformats.org/presentationml/2006/ole">
            <p:oleObj spid="_x0000_s100356" name="Equation" r:id="rId3" imgW="2946240" imgH="393480" progId="Equation.DSMT4">
              <p:embed/>
            </p:oleObj>
          </a:graphicData>
        </a:graphic>
      </p:graphicFrame>
      <p:graphicFrame>
        <p:nvGraphicFramePr>
          <p:cNvPr id="100357" name="Object 5"/>
          <p:cNvGraphicFramePr>
            <a:graphicFrameLocks noChangeAspect="1"/>
          </p:cNvGraphicFramePr>
          <p:nvPr/>
        </p:nvGraphicFramePr>
        <p:xfrm>
          <a:off x="1597025" y="2514600"/>
          <a:ext cx="5949950" cy="781050"/>
        </p:xfrm>
        <a:graphic>
          <a:graphicData uri="http://schemas.openxmlformats.org/presentationml/2006/ole">
            <p:oleObj spid="_x0000_s100357" name="Equation" r:id="rId4" imgW="2971800" imgH="393480" progId="Equation.DSMT4">
              <p:embed/>
            </p:oleObj>
          </a:graphicData>
        </a:graphic>
      </p:graphicFrame>
      <p:graphicFrame>
        <p:nvGraphicFramePr>
          <p:cNvPr id="100358" name="Object 6"/>
          <p:cNvGraphicFramePr>
            <a:graphicFrameLocks noChangeAspect="1"/>
          </p:cNvGraphicFramePr>
          <p:nvPr/>
        </p:nvGraphicFramePr>
        <p:xfrm>
          <a:off x="1597025" y="3429000"/>
          <a:ext cx="5949950" cy="781050"/>
        </p:xfrm>
        <a:graphic>
          <a:graphicData uri="http://schemas.openxmlformats.org/presentationml/2006/ole">
            <p:oleObj spid="_x0000_s100358" name="Equation" r:id="rId5" imgW="2971800" imgH="393480" progId="Equation.DSMT4">
              <p:embed/>
            </p:oleObj>
          </a:graphicData>
        </a:graphic>
      </p:graphicFrame>
      <p:graphicFrame>
        <p:nvGraphicFramePr>
          <p:cNvPr id="100359" name="Object 7"/>
          <p:cNvGraphicFramePr>
            <a:graphicFrameLocks noChangeAspect="1"/>
          </p:cNvGraphicFramePr>
          <p:nvPr/>
        </p:nvGraphicFramePr>
        <p:xfrm>
          <a:off x="1706563" y="4572000"/>
          <a:ext cx="5732462" cy="514350"/>
        </p:xfrm>
        <a:graphic>
          <a:graphicData uri="http://schemas.openxmlformats.org/presentationml/2006/ole">
            <p:oleObj spid="_x0000_s100359" name="Equation" r:id="rId6" imgW="2857320" imgH="253800" progId="Equation.DSMT4">
              <p:embed/>
            </p:oleObj>
          </a:graphicData>
        </a:graphic>
      </p:graphicFrame>
      <p:graphicFrame>
        <p:nvGraphicFramePr>
          <p:cNvPr id="100360" name="Object 8"/>
          <p:cNvGraphicFramePr>
            <a:graphicFrameLocks noChangeAspect="1"/>
          </p:cNvGraphicFramePr>
          <p:nvPr/>
        </p:nvGraphicFramePr>
        <p:xfrm>
          <a:off x="572294" y="5638800"/>
          <a:ext cx="7999413" cy="1028700"/>
        </p:xfrm>
        <a:graphic>
          <a:graphicData uri="http://schemas.openxmlformats.org/presentationml/2006/ole">
            <p:oleObj spid="_x0000_s100360" name="Equation" r:id="rId7" imgW="3987720" imgH="5079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smtClean="0"/>
              <a:t>Zadatak 2</a:t>
            </a:r>
            <a:endParaRPr lang="sr-Latn-B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Koristeći aproksimaciju da je difuzna </a:t>
            </a:r>
            <a:r>
              <a:rPr lang="sr-Latn-BA" sz="2600" dirty="0" err="1" smtClean="0"/>
              <a:t>iradijansa</a:t>
            </a:r>
            <a:r>
              <a:rPr lang="sr-Latn-BA" sz="2600" dirty="0" smtClean="0"/>
              <a:t> na horizontalnu podlogu proporcionalna direktnoj:</a:t>
            </a:r>
          </a:p>
          <a:p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gdje je koeficijent proporcionalnosti:</a:t>
            </a:r>
          </a:p>
          <a:p>
            <a:pPr>
              <a:buNone/>
            </a:pPr>
            <a:endParaRPr lang="sr-Latn-BA" sz="2600" dirty="0" smtClean="0"/>
          </a:p>
          <a:p>
            <a:pPr>
              <a:buNone/>
            </a:pPr>
            <a:endParaRPr lang="sr-Latn-BA" sz="2600" dirty="0" smtClean="0"/>
          </a:p>
          <a:p>
            <a:pPr>
              <a:buNone/>
            </a:pPr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dobija 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sr-Latn-BA" smtClean="0"/>
              <a:pPr/>
              <a:t>18</a:t>
            </a:fld>
            <a:endParaRPr lang="sr-Latn-BA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106498" name="Object 2"/>
          <p:cNvGraphicFramePr>
            <a:graphicFrameLocks noChangeAspect="1"/>
          </p:cNvGraphicFramePr>
          <p:nvPr/>
        </p:nvGraphicFramePr>
        <p:xfrm>
          <a:off x="3765550" y="3124200"/>
          <a:ext cx="1612900" cy="457200"/>
        </p:xfrm>
        <a:graphic>
          <a:graphicData uri="http://schemas.openxmlformats.org/presentationml/2006/ole">
            <p:oleObj spid="_x0000_s106498" name="Equation" r:id="rId3" imgW="799920" imgH="228600" progId="Equation.DSMT4">
              <p:embed/>
            </p:oleObj>
          </a:graphicData>
        </a:graphic>
      </p:graphicFrame>
      <p:graphicFrame>
        <p:nvGraphicFramePr>
          <p:cNvPr id="106499" name="Object 3"/>
          <p:cNvGraphicFramePr>
            <a:graphicFrameLocks noChangeAspect="1"/>
          </p:cNvGraphicFramePr>
          <p:nvPr/>
        </p:nvGraphicFramePr>
        <p:xfrm>
          <a:off x="1709738" y="3886200"/>
          <a:ext cx="5724525" cy="1676400"/>
        </p:xfrm>
        <a:graphic>
          <a:graphicData uri="http://schemas.openxmlformats.org/presentationml/2006/ole">
            <p:oleObj spid="_x0000_s106499" name="Equation" r:id="rId4" imgW="2857320" imgH="838080" progId="Equation.DSMT4">
              <p:embed/>
            </p:oleObj>
          </a:graphicData>
        </a:graphic>
      </p:graphicFrame>
      <p:graphicFrame>
        <p:nvGraphicFramePr>
          <p:cNvPr id="106500" name="Object 4"/>
          <p:cNvGraphicFramePr>
            <a:graphicFrameLocks noChangeAspect="1"/>
          </p:cNvGraphicFramePr>
          <p:nvPr/>
        </p:nvGraphicFramePr>
        <p:xfrm>
          <a:off x="2253456" y="5461000"/>
          <a:ext cx="5426075" cy="787400"/>
        </p:xfrm>
        <a:graphic>
          <a:graphicData uri="http://schemas.openxmlformats.org/presentationml/2006/ole">
            <p:oleObj spid="_x0000_s106500" name="Equation" r:id="rId5" imgW="2692080" imgH="393480" progId="Equation.DSMT4">
              <p:embed/>
            </p:oleObj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1779587" y="6070600"/>
          <a:ext cx="6373813" cy="787400"/>
        </p:xfrm>
        <a:graphic>
          <a:graphicData uri="http://schemas.openxmlformats.org/presentationml/2006/ole">
            <p:oleObj spid="_x0000_s106501" name="Equation" r:id="rId6" imgW="3162240" imgH="393480" progId="Equation.DSMT4">
              <p:embed/>
            </p:oleObj>
          </a:graphicData>
        </a:graphic>
      </p:graphicFrame>
      <p:graphicFrame>
        <p:nvGraphicFramePr>
          <p:cNvPr id="106502" name="Object 6"/>
          <p:cNvGraphicFramePr>
            <a:graphicFrameLocks noChangeAspect="1"/>
          </p:cNvGraphicFramePr>
          <p:nvPr/>
        </p:nvGraphicFramePr>
        <p:xfrm>
          <a:off x="292894" y="1066800"/>
          <a:ext cx="8558213" cy="1028700"/>
        </p:xfrm>
        <a:graphic>
          <a:graphicData uri="http://schemas.openxmlformats.org/presentationml/2006/ole">
            <p:oleObj spid="_x0000_s106502" name="Equation" r:id="rId7" imgW="4267080" imgH="5079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Direktna </a:t>
            </a:r>
            <a:r>
              <a:rPr lang="sr-Latn-BA" sz="2600" dirty="0" err="1" smtClean="0"/>
              <a:t>iradijansa</a:t>
            </a:r>
            <a:r>
              <a:rPr lang="sr-Latn-BA" sz="2600" dirty="0" smtClean="0"/>
              <a:t> kolektora je: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Difuzna </a:t>
            </a:r>
            <a:r>
              <a:rPr lang="sr-Latn-BA" sz="2600" dirty="0" err="1" smtClean="0"/>
              <a:t>iradijansa</a:t>
            </a:r>
            <a:r>
              <a:rPr lang="sr-Latn-BA" sz="2600" dirty="0" smtClean="0"/>
              <a:t> kolektora je: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Ukupna iradijansa je:</a:t>
            </a:r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7523" name="Object 3"/>
          <p:cNvGraphicFramePr>
            <a:graphicFrameLocks noChangeAspect="1"/>
          </p:cNvGraphicFramePr>
          <p:nvPr/>
        </p:nvGraphicFramePr>
        <p:xfrm>
          <a:off x="1555750" y="1676400"/>
          <a:ext cx="6032500" cy="781050"/>
        </p:xfrm>
        <a:graphic>
          <a:graphicData uri="http://schemas.openxmlformats.org/presentationml/2006/ole">
            <p:oleObj spid="_x0000_s107523" name="Equation" r:id="rId3" imgW="3009600" imgH="393480" progId="Equation.DSMT4">
              <p:embed/>
            </p:oleObj>
          </a:graphicData>
        </a:graphic>
      </p:graphicFrame>
      <p:graphicFrame>
        <p:nvGraphicFramePr>
          <p:cNvPr id="107524" name="Object 4"/>
          <p:cNvGraphicFramePr>
            <a:graphicFrameLocks noChangeAspect="1"/>
          </p:cNvGraphicFramePr>
          <p:nvPr/>
        </p:nvGraphicFramePr>
        <p:xfrm>
          <a:off x="1034256" y="2438400"/>
          <a:ext cx="7075488" cy="781050"/>
        </p:xfrm>
        <a:graphic>
          <a:graphicData uri="http://schemas.openxmlformats.org/presentationml/2006/ole">
            <p:oleObj spid="_x0000_s107524" name="Equation" r:id="rId4" imgW="3530520" imgH="393480" progId="Equation.DSMT4">
              <p:embed/>
            </p:oleObj>
          </a:graphicData>
        </a:graphic>
      </p:graphicFrame>
      <p:graphicFrame>
        <p:nvGraphicFramePr>
          <p:cNvPr id="107525" name="Object 5"/>
          <p:cNvGraphicFramePr>
            <a:graphicFrameLocks noChangeAspect="1"/>
          </p:cNvGraphicFramePr>
          <p:nvPr/>
        </p:nvGraphicFramePr>
        <p:xfrm>
          <a:off x="989013" y="3683000"/>
          <a:ext cx="7165975" cy="979488"/>
        </p:xfrm>
        <a:graphic>
          <a:graphicData uri="http://schemas.openxmlformats.org/presentationml/2006/ole">
            <p:oleObj spid="_x0000_s107525" name="Equation" r:id="rId5" imgW="3568680" imgH="482400" progId="Equation.DSMT4">
              <p:embed/>
            </p:oleObj>
          </a:graphicData>
        </a:graphic>
      </p:graphicFrame>
      <p:graphicFrame>
        <p:nvGraphicFramePr>
          <p:cNvPr id="107526" name="Object 6"/>
          <p:cNvGraphicFramePr>
            <a:graphicFrameLocks noChangeAspect="1"/>
          </p:cNvGraphicFramePr>
          <p:nvPr/>
        </p:nvGraphicFramePr>
        <p:xfrm>
          <a:off x="530225" y="4572000"/>
          <a:ext cx="8085138" cy="979488"/>
        </p:xfrm>
        <a:graphic>
          <a:graphicData uri="http://schemas.openxmlformats.org/presentationml/2006/ole">
            <p:oleObj spid="_x0000_s107526" name="Equation" r:id="rId6" imgW="4025880" imgH="482400" progId="Equation.DSMT4">
              <p:embed/>
            </p:oleObj>
          </a:graphicData>
        </a:graphic>
      </p:graphicFrame>
      <p:graphicFrame>
        <p:nvGraphicFramePr>
          <p:cNvPr id="107527" name="Object 7"/>
          <p:cNvGraphicFramePr>
            <a:graphicFrameLocks noChangeAspect="1"/>
          </p:cNvGraphicFramePr>
          <p:nvPr/>
        </p:nvGraphicFramePr>
        <p:xfrm>
          <a:off x="3581400" y="6096000"/>
          <a:ext cx="1981200" cy="457200"/>
        </p:xfrm>
        <a:graphic>
          <a:graphicData uri="http://schemas.openxmlformats.org/presentationml/2006/ole">
            <p:oleObj spid="_x0000_s107527" name="Equation" r:id="rId7" imgW="99036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r-Latn-BA" sz="2600" dirty="0" smtClean="0"/>
              <a:t>	pa je: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8546" name="Object 2"/>
          <p:cNvGraphicFramePr>
            <a:graphicFrameLocks noChangeAspect="1"/>
          </p:cNvGraphicFramePr>
          <p:nvPr/>
        </p:nvGraphicFramePr>
        <p:xfrm>
          <a:off x="1587500" y="1651000"/>
          <a:ext cx="5969000" cy="787400"/>
        </p:xfrm>
        <a:graphic>
          <a:graphicData uri="http://schemas.openxmlformats.org/presentationml/2006/ole">
            <p:oleObj spid="_x0000_s108546" name="Equation" r:id="rId3" imgW="2984400" imgH="393480" progId="Equation.DSMT4">
              <p:embed/>
            </p:oleObj>
          </a:graphicData>
        </a:graphic>
      </p:graphicFrame>
      <p:graphicFrame>
        <p:nvGraphicFramePr>
          <p:cNvPr id="108547" name="Object 3"/>
          <p:cNvGraphicFramePr>
            <a:graphicFrameLocks noChangeAspect="1"/>
          </p:cNvGraphicFramePr>
          <p:nvPr/>
        </p:nvGraphicFramePr>
        <p:xfrm>
          <a:off x="1155700" y="2743200"/>
          <a:ext cx="6832600" cy="787400"/>
        </p:xfrm>
        <a:graphic>
          <a:graphicData uri="http://schemas.openxmlformats.org/presentationml/2006/ole">
            <p:oleObj spid="_x0000_s108547" name="Equation" r:id="rId4" imgW="3416040" imgH="3934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60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" y="1585912"/>
            <a:ext cx="8778240" cy="4246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67200"/>
            <a:ext cx="8229600" cy="23622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Direktna komponenta </a:t>
            </a:r>
            <a:r>
              <a:rPr lang="sr-Latn-BA" sz="26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sr-Latn-BA" sz="2600" i="1" baseline="-25000" dirty="0" smtClean="0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sr-Latn-BA" sz="2600" dirty="0" smtClean="0"/>
              <a:t> i difuzna komponenta </a:t>
            </a:r>
            <a:r>
              <a:rPr lang="sr-Latn-BA" sz="26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sr-Latn-BA" sz="2600" i="1" baseline="-25000" dirty="0" smtClean="0">
                <a:latin typeface="Times New Roman" pitchFamily="18" charset="0"/>
                <a:cs typeface="Times New Roman" pitchFamily="18" charset="0"/>
              </a:rPr>
              <a:t>DC</a:t>
            </a:r>
            <a:r>
              <a:rPr lang="sr-Latn-BA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BA" sz="2600" dirty="0" smtClean="0"/>
              <a:t>Sunčevog zračenja na modul se mogu izračunati na osnovu:</a:t>
            </a:r>
            <a:endParaRPr lang="en-US" sz="2600" dirty="0" smtClean="0"/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499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" y="1203507"/>
            <a:ext cx="8778240" cy="3063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4994" name="Object 2"/>
          <p:cNvGraphicFramePr>
            <a:graphicFrameLocks noChangeAspect="1"/>
          </p:cNvGraphicFramePr>
          <p:nvPr/>
        </p:nvGraphicFramePr>
        <p:xfrm>
          <a:off x="584200" y="5600700"/>
          <a:ext cx="5080000" cy="914400"/>
        </p:xfrm>
        <a:graphic>
          <a:graphicData uri="http://schemas.openxmlformats.org/presentationml/2006/ole">
            <p:oleObj spid="_x0000_s84994" name="Equation" r:id="rId4" imgW="2539800" imgH="457200" progId="Equation.DSMT4">
              <p:embed/>
            </p:oleObj>
          </a:graphicData>
        </a:graphic>
      </p:graphicFrame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4996" name="Object 4"/>
          <p:cNvGraphicFramePr>
            <a:graphicFrameLocks noChangeAspect="1"/>
          </p:cNvGraphicFramePr>
          <p:nvPr/>
        </p:nvGraphicFramePr>
        <p:xfrm>
          <a:off x="5765800" y="5619750"/>
          <a:ext cx="2908300" cy="876300"/>
        </p:xfrm>
        <a:graphic>
          <a:graphicData uri="http://schemas.openxmlformats.org/presentationml/2006/ole">
            <p:oleObj spid="_x0000_s84996" name="Equation" r:id="rId5" imgW="1447560" imgH="431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smtClean="0"/>
              <a:t>Zadatak 3</a:t>
            </a:r>
            <a:endParaRPr lang="sr-Latn-B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4102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gde su: </a:t>
            </a:r>
            <a:br>
              <a:rPr lang="sr-Latn-BA" sz="2600" dirty="0" smtClean="0"/>
            </a:br>
            <a:r>
              <a:rPr lang="sr-Latn-BA" sz="26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sr-Latn-BA" sz="2600" i="1" baseline="-25000" dirty="0" smtClean="0">
                <a:latin typeface="Times New Roman" pitchFamily="18" charset="0"/>
                <a:cs typeface="Times New Roman" pitchFamily="18" charset="0"/>
              </a:rPr>
              <a:t>BH</a:t>
            </a:r>
            <a:r>
              <a:rPr lang="sr-Latn-BA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BA" sz="2600" dirty="0" smtClean="0"/>
              <a:t> - horizontalna komponenta direktne </a:t>
            </a:r>
            <a:r>
              <a:rPr lang="sr-Latn-BA" sz="2600" dirty="0" err="1" smtClean="0"/>
              <a:t>iradijanse</a:t>
            </a:r>
            <a:r>
              <a:rPr lang="sr-Latn-BA" sz="2600" dirty="0" smtClean="0"/>
              <a:t>, </a:t>
            </a:r>
            <a:br>
              <a:rPr lang="sr-Latn-BA" sz="2600" dirty="0" smtClean="0"/>
            </a:br>
            <a:r>
              <a:rPr lang="sr-Latn-BA" sz="2600" i="1" dirty="0" smtClean="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sr-Latn-BA" sz="2600" i="1" dirty="0" smtClean="0"/>
              <a:t> 	 - </a:t>
            </a:r>
            <a:r>
              <a:rPr lang="sr-Latn-BA" sz="2600" dirty="0" smtClean="0"/>
              <a:t>incidentni ugao upadnog zračenja na panel, </a:t>
            </a:r>
            <a:r>
              <a:rPr lang="sr-Latn-BA" sz="2600" i="1" dirty="0" smtClean="0"/>
              <a:t/>
            </a:r>
            <a:br>
              <a:rPr lang="sr-Latn-BA" sz="2600" i="1" dirty="0" smtClean="0"/>
            </a:br>
            <a:r>
              <a:rPr lang="sr-Latn-BA" sz="2600" i="1" dirty="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sr-Latn-BA" sz="2600" dirty="0" smtClean="0"/>
              <a:t> 	 -  </a:t>
            </a:r>
            <a:r>
              <a:rPr lang="sr-Latn-BA" sz="2600" dirty="0" err="1" smtClean="0"/>
              <a:t>altitudni</a:t>
            </a:r>
            <a:r>
              <a:rPr lang="sr-Latn-BA" sz="2600" dirty="0" smtClean="0"/>
              <a:t> ugao Sunca,</a:t>
            </a:r>
            <a:r>
              <a:rPr lang="sr-Latn-BA" sz="2600" i="1" dirty="0" smtClean="0"/>
              <a:t> </a:t>
            </a:r>
            <a:br>
              <a:rPr lang="sr-Latn-BA" sz="2600" i="1" dirty="0" smtClean="0"/>
            </a:br>
            <a:r>
              <a:rPr lang="sr-Latn-BA" sz="26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sr-Latn-BA" sz="2600" i="1" baseline="-25000" dirty="0" smtClean="0">
                <a:latin typeface="Times New Roman" pitchFamily="18" charset="0"/>
                <a:cs typeface="Times New Roman" pitchFamily="18" charset="0"/>
              </a:rPr>
              <a:t>DH</a:t>
            </a:r>
            <a:r>
              <a:rPr lang="sr-Latn-BA" sz="2600" dirty="0" smtClean="0"/>
              <a:t>	 - difuzna komponenta </a:t>
            </a:r>
            <a:r>
              <a:rPr lang="sr-Latn-BA" sz="2600" dirty="0" err="1" smtClean="0"/>
              <a:t>iradijanse</a:t>
            </a:r>
            <a:r>
              <a:rPr lang="sr-Latn-BA" sz="2600" dirty="0" smtClean="0"/>
              <a:t> horizontalne	   	   površine</a:t>
            </a:r>
            <a:br>
              <a:rPr lang="sr-Latn-BA" sz="2600" dirty="0" smtClean="0"/>
            </a:br>
            <a:r>
              <a:rPr lang="sr-Latn-BA" sz="2600" i="1" dirty="0" smtClean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sr-Latn-BA" sz="2600" dirty="0" smtClean="0"/>
              <a:t>  	 - </a:t>
            </a:r>
            <a:r>
              <a:rPr lang="sr-Latn-BA" sz="2600" dirty="0" smtClean="0"/>
              <a:t>ugao nagiba </a:t>
            </a:r>
            <a:r>
              <a:rPr lang="sr-Latn-BA" sz="2600" dirty="0" smtClean="0"/>
              <a:t>panela</a:t>
            </a:r>
          </a:p>
          <a:p>
            <a:r>
              <a:rPr lang="sr-Latn-BA" sz="2600" dirty="0" smtClean="0"/>
              <a:t>Ugao </a:t>
            </a:r>
            <a:r>
              <a:rPr lang="sr-Latn-BA" sz="2600" dirty="0" err="1" smtClean="0"/>
              <a:t>incidencije</a:t>
            </a:r>
            <a:r>
              <a:rPr lang="sr-Latn-BA" sz="2600" dirty="0" smtClean="0"/>
              <a:t> se izračunava na osnovu:</a:t>
            </a:r>
          </a:p>
          <a:p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gde su:</a:t>
            </a:r>
            <a:r>
              <a:rPr lang="sr-Latn-BA" sz="2600" i="1" dirty="0" smtClean="0"/>
              <a:t> 	       </a:t>
            </a:r>
          </a:p>
          <a:p>
            <a:pPr>
              <a:buNone/>
            </a:pPr>
            <a:r>
              <a:rPr lang="sr-Latn-BA" sz="2600" i="1" dirty="0" smtClean="0"/>
              <a:t>		 - </a:t>
            </a:r>
            <a:r>
              <a:rPr lang="sr-Latn-BA" sz="2600" dirty="0" smtClean="0"/>
              <a:t>azimutalni </a:t>
            </a:r>
            <a:r>
              <a:rPr lang="sr-Latn-BA" sz="2600" dirty="0" smtClean="0"/>
              <a:t>ugao Sunca i </a:t>
            </a:r>
            <a:br>
              <a:rPr lang="sr-Latn-BA" sz="2600" dirty="0" smtClean="0"/>
            </a:br>
            <a:r>
              <a:rPr lang="sr-Latn-BA" sz="2600" dirty="0" smtClean="0"/>
              <a:t>	 - </a:t>
            </a:r>
            <a:r>
              <a:rPr lang="sr-Latn-BA" sz="2600" dirty="0" smtClean="0"/>
              <a:t>azimutalni </a:t>
            </a:r>
            <a:r>
              <a:rPr lang="sr-Latn-BA" sz="2600" dirty="0" smtClean="0"/>
              <a:t>ugao solarnog kolektora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sr-Latn-BA" smtClean="0"/>
              <a:pPr/>
              <a:t>23</a:t>
            </a:fld>
            <a:endParaRPr lang="sr-Latn-BA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92161" name="Object 1"/>
          <p:cNvGraphicFramePr>
            <a:graphicFrameLocks noChangeAspect="1"/>
          </p:cNvGraphicFramePr>
          <p:nvPr/>
        </p:nvGraphicFramePr>
        <p:xfrm>
          <a:off x="1704975" y="4648200"/>
          <a:ext cx="5732463" cy="514350"/>
        </p:xfrm>
        <a:graphic>
          <a:graphicData uri="http://schemas.openxmlformats.org/presentationml/2006/ole">
            <p:oleObj spid="_x0000_s92161" name="Equation" r:id="rId3" imgW="2857320" imgH="253800" progId="Equation.DSMT4">
              <p:embed/>
            </p:oleObj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838200" y="5562600"/>
          <a:ext cx="365760" cy="506436"/>
        </p:xfrm>
        <a:graphic>
          <a:graphicData uri="http://schemas.openxmlformats.org/presentationml/2006/ole">
            <p:oleObj spid="_x0000_s92162" name="Equation" r:id="rId4" imgW="164880" imgH="228600" progId="Equation.DSMT4">
              <p:embed/>
            </p:oleObj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838200" y="5943600"/>
          <a:ext cx="393700" cy="506413"/>
        </p:xfrm>
        <a:graphic>
          <a:graphicData uri="http://schemas.openxmlformats.org/presentationml/2006/ole">
            <p:oleObj spid="_x0000_s92163" name="Equation" r:id="rId5" imgW="17748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smtClean="0"/>
              <a:t>Zadatak 3</a:t>
            </a:r>
            <a:endParaRPr lang="sr-Latn-B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Ukupna </a:t>
            </a:r>
            <a:r>
              <a:rPr lang="sr-Latn-BA" sz="2600" dirty="0" err="1" smtClean="0"/>
              <a:t>iradijansa</a:t>
            </a:r>
            <a:r>
              <a:rPr lang="sr-Latn-BA" sz="2600" dirty="0" smtClean="0"/>
              <a:t> </a:t>
            </a:r>
            <a:r>
              <a:rPr lang="sr-Latn-BA" sz="2600" i="1" dirty="0" err="1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sr-Latn-BA" sz="2600" i="1" baseline="-250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sr-Latn-BA" sz="2600" dirty="0" smtClean="0"/>
              <a:t> na površini panela je (uz </a:t>
            </a:r>
            <a:r>
              <a:rPr lang="sr-Latn-BA" sz="2600" dirty="0" err="1" smtClean="0"/>
              <a:t>zanemarenje</a:t>
            </a:r>
            <a:r>
              <a:rPr lang="sr-Latn-BA" sz="2600" dirty="0" smtClean="0"/>
              <a:t> reflektovane komponente):</a:t>
            </a:r>
          </a:p>
          <a:p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	odakle se dobija:</a:t>
            </a:r>
          </a:p>
          <a:p>
            <a:pPr>
              <a:buNone/>
            </a:pPr>
            <a:endParaRPr lang="sr-Latn-BA" sz="2600" dirty="0" smtClean="0"/>
          </a:p>
          <a:p>
            <a:pPr>
              <a:buNone/>
            </a:pPr>
            <a:endParaRPr lang="sr-Latn-BA" sz="2600" dirty="0" smtClean="0"/>
          </a:p>
          <a:p>
            <a:r>
              <a:rPr lang="sr-Latn-BA" sz="2600" dirty="0" smtClean="0"/>
              <a:t>Nagib panela pri kome je ukupna </a:t>
            </a:r>
            <a:r>
              <a:rPr lang="sr-Latn-BA" sz="2600" dirty="0" err="1" smtClean="0"/>
              <a:t>iradijansa</a:t>
            </a:r>
            <a:r>
              <a:rPr lang="sr-Latn-BA" sz="2600" dirty="0" smtClean="0"/>
              <a:t>  maksimalna određuje se iz uslova:</a:t>
            </a:r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sr-Latn-BA" smtClean="0"/>
              <a:pPr/>
              <a:t>24</a:t>
            </a:fld>
            <a:endParaRPr lang="sr-Latn-BA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91137" name="Object 1"/>
          <p:cNvGraphicFramePr>
            <a:graphicFrameLocks noChangeAspect="1"/>
          </p:cNvGraphicFramePr>
          <p:nvPr/>
        </p:nvGraphicFramePr>
        <p:xfrm>
          <a:off x="3581400" y="2209800"/>
          <a:ext cx="1981200" cy="457200"/>
        </p:xfrm>
        <a:graphic>
          <a:graphicData uri="http://schemas.openxmlformats.org/presentationml/2006/ole">
            <p:oleObj spid="_x0000_s91137" name="Equation" r:id="rId3" imgW="990360" imgH="228600" progId="Equation.DSMT4">
              <p:embed/>
            </p:oleObj>
          </a:graphicData>
        </a:graphic>
      </p:graphicFrame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91139" name="Object 3"/>
          <p:cNvGraphicFramePr>
            <a:graphicFrameLocks noChangeAspect="1"/>
          </p:cNvGraphicFramePr>
          <p:nvPr/>
        </p:nvGraphicFramePr>
        <p:xfrm>
          <a:off x="79375" y="3124200"/>
          <a:ext cx="8985250" cy="876300"/>
        </p:xfrm>
        <a:graphic>
          <a:graphicData uri="http://schemas.openxmlformats.org/presentationml/2006/ole">
            <p:oleObj spid="_x0000_s91139" name="Equation" r:id="rId4" imgW="4483080" imgH="431640" progId="Equation.DSMT4">
              <p:embed/>
            </p:oleObj>
          </a:graphicData>
        </a:graphic>
      </p:graphicFrame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91141" name="Object 5"/>
          <p:cNvGraphicFramePr>
            <a:graphicFrameLocks noChangeAspect="1"/>
          </p:cNvGraphicFramePr>
          <p:nvPr/>
        </p:nvGraphicFramePr>
        <p:xfrm>
          <a:off x="4013200" y="4800600"/>
          <a:ext cx="1117600" cy="800100"/>
        </p:xfrm>
        <a:graphic>
          <a:graphicData uri="http://schemas.openxmlformats.org/presentationml/2006/ole">
            <p:oleObj spid="_x0000_s91141" name="Equation" r:id="rId5" imgW="558720" imgH="393480" progId="Equation.DSMT4">
              <p:embed/>
            </p:oleObj>
          </a:graphicData>
        </a:graphic>
      </p:graphicFrame>
      <p:sp>
        <p:nvSpPr>
          <p:cNvPr id="91144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91143" name="Object 7"/>
          <p:cNvGraphicFramePr>
            <a:graphicFrameLocks noChangeAspect="1"/>
          </p:cNvGraphicFramePr>
          <p:nvPr/>
        </p:nvGraphicFramePr>
        <p:xfrm>
          <a:off x="539750" y="5715000"/>
          <a:ext cx="8066088" cy="838200"/>
        </p:xfrm>
        <a:graphic>
          <a:graphicData uri="http://schemas.openxmlformats.org/presentationml/2006/ole">
            <p:oleObj spid="_x0000_s91143" name="Equation" r:id="rId6" imgW="4025880" imgH="4190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smtClean="0"/>
              <a:t>Zadatak 3</a:t>
            </a:r>
            <a:endParaRPr lang="sr-Latn-B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r-Latn-BA" sz="2600" dirty="0" smtClean="0"/>
              <a:t>	odakle se dobija:</a:t>
            </a:r>
          </a:p>
          <a:p>
            <a:pPr>
              <a:buNone/>
            </a:pPr>
            <a:endParaRPr lang="sr-Latn-BA" sz="2600" dirty="0" smtClean="0"/>
          </a:p>
          <a:p>
            <a:pPr>
              <a:buNone/>
            </a:pPr>
            <a:endParaRPr lang="sr-Latn-BA" sz="2600" dirty="0" smtClean="0"/>
          </a:p>
          <a:p>
            <a:r>
              <a:rPr lang="sr-Latn-BA" sz="2600" dirty="0" smtClean="0"/>
              <a:t>Ugao deklinacije </a:t>
            </a:r>
            <a:r>
              <a:rPr lang="sr-Latn-BA" sz="2600" i="1" dirty="0" smtClean="0"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sr-Latn-BA" sz="2600" dirty="0" smtClean="0"/>
              <a:t> i ugao elevacije </a:t>
            </a:r>
            <a:r>
              <a:rPr lang="sr-Latn-BA" sz="2600" i="1" dirty="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sr-Latn-BA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BA" sz="2600" dirty="0" smtClean="0"/>
              <a:t>Sunca 21. maja u solarno podne za geografsku širinu </a:t>
            </a:r>
            <a:r>
              <a:rPr lang="sr-Latn-BA" sz="2600" i="1" dirty="0" smtClean="0">
                <a:latin typeface="Times New Roman" pitchFamily="18" charset="0"/>
                <a:cs typeface="Times New Roman" pitchFamily="18" charset="0"/>
              </a:rPr>
              <a:t>L </a:t>
            </a:r>
            <a:r>
              <a:rPr lang="sr-Latn-BA" sz="2600" dirty="0" smtClean="0">
                <a:latin typeface="Times New Roman" pitchFamily="18" charset="0"/>
                <a:cs typeface="Times New Roman" pitchFamily="18" charset="0"/>
              </a:rPr>
              <a:t>= 44,8 </a:t>
            </a:r>
            <a:r>
              <a:rPr lang="sr-Latn-BA" sz="2600" dirty="0" smtClean="0"/>
              <a:t>su: 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Optimalni azimutalni ugao solarnog panela u sistemu za </a:t>
            </a:r>
            <a:r>
              <a:rPr lang="sr-Latn-BA" sz="2600" dirty="0" err="1" smtClean="0"/>
              <a:t>dvoosno</a:t>
            </a:r>
            <a:r>
              <a:rPr lang="sr-Latn-BA" sz="2600" dirty="0" smtClean="0"/>
              <a:t> praćenje Sunca je               , pa je u solarno podne je </a:t>
            </a:r>
          </a:p>
          <a:p>
            <a:pPr>
              <a:buNone/>
            </a:pPr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sr-Latn-BA" smtClean="0"/>
              <a:pPr/>
              <a:t>25</a:t>
            </a:fld>
            <a:endParaRPr lang="sr-Latn-BA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90113" name="Object 1"/>
          <p:cNvGraphicFramePr>
            <a:graphicFrameLocks noChangeAspect="1"/>
          </p:cNvGraphicFramePr>
          <p:nvPr/>
        </p:nvGraphicFramePr>
        <p:xfrm>
          <a:off x="2828925" y="1676400"/>
          <a:ext cx="3487738" cy="914400"/>
        </p:xfrm>
        <a:graphic>
          <a:graphicData uri="http://schemas.openxmlformats.org/presentationml/2006/ole">
            <p:oleObj spid="_x0000_s90113" name="Equation" r:id="rId3" imgW="1739880" imgH="457200" progId="Equation.DSMT4">
              <p:embed/>
            </p:oleObj>
          </a:graphicData>
        </a:graphic>
      </p:graphicFrame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90115" name="Object 3"/>
          <p:cNvGraphicFramePr>
            <a:graphicFrameLocks noChangeAspect="1"/>
          </p:cNvGraphicFramePr>
          <p:nvPr/>
        </p:nvGraphicFramePr>
        <p:xfrm>
          <a:off x="2076450" y="3505200"/>
          <a:ext cx="4991100" cy="876300"/>
        </p:xfrm>
        <a:graphic>
          <a:graphicData uri="http://schemas.openxmlformats.org/presentationml/2006/ole">
            <p:oleObj spid="_x0000_s90115" name="Equation" r:id="rId4" imgW="2489040" imgH="431640" progId="Equation.DSMT4">
              <p:embed/>
            </p:oleObj>
          </a:graphicData>
        </a:graphic>
      </p:graphicFrame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r-Latn-BA"/>
          </a:p>
        </p:txBody>
      </p:sp>
      <p:graphicFrame>
        <p:nvGraphicFramePr>
          <p:cNvPr id="90117" name="Object 5"/>
          <p:cNvGraphicFramePr>
            <a:graphicFrameLocks noChangeAspect="1"/>
          </p:cNvGraphicFramePr>
          <p:nvPr/>
        </p:nvGraphicFramePr>
        <p:xfrm>
          <a:off x="2790825" y="4419600"/>
          <a:ext cx="3562350" cy="495300"/>
        </p:xfrm>
        <a:graphic>
          <a:graphicData uri="http://schemas.openxmlformats.org/presentationml/2006/ole">
            <p:oleObj spid="_x0000_s90117" name="Equation" r:id="rId5" imgW="1777680" imgH="241200" progId="Equation.DSMT4">
              <p:embed/>
            </p:oleObj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4572000" y="5334000"/>
          <a:ext cx="1039813" cy="506413"/>
        </p:xfrm>
        <a:graphic>
          <a:graphicData uri="http://schemas.openxmlformats.org/presentationml/2006/ole">
            <p:oleObj spid="_x0000_s90118" name="Equation" r:id="rId6" imgW="469800" imgH="228600" progId="Equation.DSMT4">
              <p:embed/>
            </p:oleObj>
          </a:graphicData>
        </a:graphic>
      </p:graphicFrame>
      <p:graphicFrame>
        <p:nvGraphicFramePr>
          <p:cNvPr id="90119" name="Object 7"/>
          <p:cNvGraphicFramePr>
            <a:graphicFrameLocks noChangeAspect="1"/>
          </p:cNvGraphicFramePr>
          <p:nvPr/>
        </p:nvGraphicFramePr>
        <p:xfrm>
          <a:off x="2228850" y="5791200"/>
          <a:ext cx="1657350" cy="534987"/>
        </p:xfrm>
        <a:graphic>
          <a:graphicData uri="http://schemas.openxmlformats.org/presentationml/2006/ole">
            <p:oleObj spid="_x0000_s90119" name="Equation" r:id="rId7" imgW="749160" imgH="2412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054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Optimalni ugao nagiba panela je: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Ugao </a:t>
            </a:r>
            <a:r>
              <a:rPr lang="sr-Latn-BA" sz="2600" dirty="0" err="1" smtClean="0"/>
              <a:t>incidencije</a:t>
            </a:r>
            <a:r>
              <a:rPr lang="sr-Latn-BA" sz="2600" dirty="0" smtClean="0"/>
              <a:t> za </a:t>
            </a:r>
            <a:r>
              <a:rPr lang="sr-Latn-BA" sz="2600" i="1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sr-Latn-BA" sz="2600" dirty="0" smtClean="0"/>
              <a:t>je: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Direktna i difuzna </a:t>
            </a:r>
            <a:r>
              <a:rPr lang="sr-Latn-BA" sz="2600" dirty="0" err="1" smtClean="0"/>
              <a:t>iradijansa</a:t>
            </a:r>
            <a:r>
              <a:rPr lang="sr-Latn-BA" sz="2600" dirty="0" smtClean="0"/>
              <a:t> panel su: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9089" name="Object 1"/>
          <p:cNvGraphicFramePr>
            <a:graphicFrameLocks noChangeAspect="1"/>
          </p:cNvGraphicFramePr>
          <p:nvPr/>
        </p:nvGraphicFramePr>
        <p:xfrm>
          <a:off x="1670050" y="1676400"/>
          <a:ext cx="5803900" cy="971550"/>
        </p:xfrm>
        <a:graphic>
          <a:graphicData uri="http://schemas.openxmlformats.org/presentationml/2006/ole">
            <p:oleObj spid="_x0000_s89089" name="Equation" r:id="rId3" imgW="2895480" imgH="482400" progId="Equation.DSMT4">
              <p:embed/>
            </p:oleObj>
          </a:graphicData>
        </a:graphic>
      </p:graphicFrame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1517650" y="3429000"/>
          <a:ext cx="6108700" cy="457200"/>
        </p:xfrm>
        <a:graphic>
          <a:graphicData uri="http://schemas.openxmlformats.org/presentationml/2006/ole">
            <p:oleObj spid="_x0000_s89091" name="Equation" r:id="rId4" imgW="3047760" imgH="228600" progId="Equation.DSMT4">
              <p:embed/>
            </p:oleObj>
          </a:graphicData>
        </a:graphic>
      </p:graphicFrame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9093" name="Object 5"/>
          <p:cNvGraphicFramePr>
            <a:graphicFrameLocks noChangeAspect="1"/>
          </p:cNvGraphicFramePr>
          <p:nvPr/>
        </p:nvGraphicFramePr>
        <p:xfrm>
          <a:off x="2273300" y="4667250"/>
          <a:ext cx="4597400" cy="895350"/>
        </p:xfrm>
        <a:graphic>
          <a:graphicData uri="http://schemas.openxmlformats.org/presentationml/2006/ole">
            <p:oleObj spid="_x0000_s89093" name="Equation" r:id="rId5" imgW="2298600" imgH="444240" progId="Equation.DSMT4">
              <p:embed/>
            </p:oleObj>
          </a:graphicData>
        </a:graphic>
      </p:graphicFrame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9095" name="Object 7"/>
          <p:cNvGraphicFramePr>
            <a:graphicFrameLocks noChangeAspect="1"/>
          </p:cNvGraphicFramePr>
          <p:nvPr/>
        </p:nvGraphicFramePr>
        <p:xfrm>
          <a:off x="1946275" y="5657850"/>
          <a:ext cx="5253038" cy="971550"/>
        </p:xfrm>
        <a:graphic>
          <a:graphicData uri="http://schemas.openxmlformats.org/presentationml/2006/ole">
            <p:oleObj spid="_x0000_s89095" name="Equation" r:id="rId6" imgW="2616120" imgH="482400" progId="Equation.DSMT4">
              <p:embed/>
            </p:oleObj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3532188" y="2667000"/>
          <a:ext cx="1039812" cy="506413"/>
        </p:xfrm>
        <a:graphic>
          <a:graphicData uri="http://schemas.openxmlformats.org/presentationml/2006/ole">
            <p:oleObj spid="_x0000_s89096" name="Equation" r:id="rId7" imgW="46980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sr-Latn-BA" sz="2600" dirty="0" smtClean="0"/>
              <a:t>Ukupna iradijansa panela je:</a:t>
            </a:r>
          </a:p>
          <a:p>
            <a:endParaRPr lang="sr-Latn-BA" sz="2600" dirty="0" smtClean="0"/>
          </a:p>
          <a:p>
            <a:r>
              <a:rPr lang="sr-Latn-BA" sz="2600" dirty="0" smtClean="0"/>
              <a:t>Struja kratkog spoja na DC priključcima je direktno proporcionalna iradijansi. Standardni uslovi ispitivanja (</a:t>
            </a:r>
            <a:r>
              <a:rPr lang="sr-Latn-BA" sz="2600" i="1" dirty="0" smtClean="0"/>
              <a:t>STC</a:t>
            </a:r>
            <a:r>
              <a:rPr lang="sr-Latn-BA" sz="2600" dirty="0" smtClean="0"/>
              <a:t>) </a:t>
            </a:r>
            <a:r>
              <a:rPr lang="sr-Latn-BA" sz="2600" dirty="0" smtClean="0"/>
              <a:t>su: </a:t>
            </a:r>
            <a:r>
              <a:rPr lang="sr-Latn-BA" sz="2600" dirty="0" smtClean="0"/>
              <a:t>iradijansa </a:t>
            </a:r>
            <a:r>
              <a:rPr lang="sr-Latn-BA" sz="2600" dirty="0" smtClean="0">
                <a:latin typeface="Times New Roman" pitchFamily="18" charset="0"/>
                <a:cs typeface="Times New Roman" pitchFamily="18" charset="0"/>
              </a:rPr>
              <a:t>1000 W/m</a:t>
            </a:r>
            <a:r>
              <a:rPr lang="sr-Latn-BA" sz="26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sr-Latn-BA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BA" sz="2600" dirty="0" smtClean="0"/>
              <a:t>i temperatura ćelije od </a:t>
            </a:r>
            <a:r>
              <a:rPr lang="sr-Latn-BA" sz="2600" dirty="0" smtClean="0">
                <a:latin typeface="Times New Roman" pitchFamily="18" charset="0"/>
                <a:cs typeface="Times New Roman" pitchFamily="18" charset="0"/>
              </a:rPr>
              <a:t>25°C</a:t>
            </a:r>
            <a:r>
              <a:rPr lang="sr-Latn-BA" sz="2600" dirty="0" smtClean="0"/>
              <a:t> </a:t>
            </a:r>
          </a:p>
          <a:p>
            <a:r>
              <a:rPr lang="sr-Latn-BA" sz="2600" dirty="0" smtClean="0"/>
              <a:t>Struja kratkog spoja </a:t>
            </a:r>
            <a:r>
              <a:rPr lang="sr-Latn-BA" sz="2600" dirty="0" err="1" smtClean="0"/>
              <a:t>PV</a:t>
            </a:r>
            <a:r>
              <a:rPr lang="sr-Latn-BA" sz="2600" dirty="0" smtClean="0"/>
              <a:t> panela sa </a:t>
            </a:r>
            <a:r>
              <a:rPr lang="sr-Latn-BA" sz="2600" i="1" dirty="0" smtClean="0">
                <a:latin typeface="Times New Roman" pitchFamily="18" charset="0"/>
                <a:cs typeface="Times New Roman" pitchFamily="18" charset="0"/>
              </a:rPr>
              <a:t>N </a:t>
            </a:r>
            <a:r>
              <a:rPr lang="sr-Latn-BA" sz="2600" dirty="0" smtClean="0">
                <a:latin typeface="Times New Roman" pitchFamily="18" charset="0"/>
                <a:cs typeface="Times New Roman" pitchFamily="18" charset="0"/>
              </a:rPr>
              <a:t>= 5 </a:t>
            </a:r>
            <a:r>
              <a:rPr lang="sr-Latn-BA" sz="2600" dirty="0" smtClean="0"/>
              <a:t>paralelnih grana, pri temperaturi panela od </a:t>
            </a:r>
            <a:r>
              <a:rPr lang="sr-Latn-BA" sz="2600" dirty="0" smtClean="0">
                <a:latin typeface="Times New Roman" pitchFamily="18" charset="0"/>
                <a:cs typeface="Times New Roman" pitchFamily="18" charset="0"/>
              </a:rPr>
              <a:t>25 °C</a:t>
            </a:r>
            <a:r>
              <a:rPr lang="sr-Latn-BA" sz="2600" dirty="0" smtClean="0"/>
              <a:t>, je: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Temperatura </a:t>
            </a:r>
            <a:r>
              <a:rPr lang="sr-Latn-BA" sz="2600" dirty="0" err="1" smtClean="0"/>
              <a:t>PV</a:t>
            </a:r>
            <a:r>
              <a:rPr lang="sr-Latn-BA" sz="2600" dirty="0" smtClean="0"/>
              <a:t> panela u analiziranim uslovima je:</a:t>
            </a:r>
            <a:endParaRPr lang="en-US" sz="2600" dirty="0" smtClean="0"/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5233" name="Object 1"/>
          <p:cNvGraphicFramePr>
            <a:graphicFrameLocks noChangeAspect="1"/>
          </p:cNvGraphicFramePr>
          <p:nvPr/>
        </p:nvGraphicFramePr>
        <p:xfrm>
          <a:off x="1666875" y="1600200"/>
          <a:ext cx="5811838" cy="495300"/>
        </p:xfrm>
        <a:graphic>
          <a:graphicData uri="http://schemas.openxmlformats.org/presentationml/2006/ole">
            <p:oleObj spid="_x0000_s95233" name="Equation" r:id="rId3" imgW="2895480" imgH="241200" progId="Equation.DSMT4">
              <p:embed/>
            </p:oleObj>
          </a:graphicData>
        </a:graphic>
      </p:graphicFrame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473075" y="4514850"/>
          <a:ext cx="8197850" cy="971550"/>
        </p:xfrm>
        <a:graphic>
          <a:graphicData uri="http://schemas.openxmlformats.org/presentationml/2006/ole">
            <p:oleObj spid="_x0000_s95235" name="Equation" r:id="rId4" imgW="4089240" imgH="482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8862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Struja kratkog spoja </a:t>
            </a:r>
            <a:r>
              <a:rPr lang="sr-Latn-BA" sz="2600" dirty="0" err="1" smtClean="0"/>
              <a:t>PV</a:t>
            </a:r>
            <a:r>
              <a:rPr lang="sr-Latn-BA" sz="2600" dirty="0" smtClean="0"/>
              <a:t> panela pri temperaturi panela od </a:t>
            </a:r>
            <a:r>
              <a:rPr lang="sr-Latn-BA" sz="2600" dirty="0" smtClean="0">
                <a:latin typeface="Times New Roman" pitchFamily="18" charset="0"/>
                <a:cs typeface="Times New Roman" pitchFamily="18" charset="0"/>
              </a:rPr>
              <a:t>54,3 °C </a:t>
            </a:r>
            <a:r>
              <a:rPr lang="sr-Latn-BA" sz="2600" dirty="0" smtClean="0"/>
              <a:t>je:</a:t>
            </a:r>
            <a:endParaRPr lang="en-US" sz="2600" dirty="0" smtClean="0"/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4209" name="Object 1"/>
          <p:cNvGraphicFramePr>
            <a:graphicFrameLocks noChangeAspect="1"/>
          </p:cNvGraphicFramePr>
          <p:nvPr/>
        </p:nvGraphicFramePr>
        <p:xfrm>
          <a:off x="587375" y="1447800"/>
          <a:ext cx="7969250" cy="876300"/>
        </p:xfrm>
        <a:graphic>
          <a:graphicData uri="http://schemas.openxmlformats.org/presentationml/2006/ole">
            <p:oleObj spid="_x0000_s94209" name="Equation" r:id="rId3" imgW="3974760" imgH="431640" progId="Equation.DSMT4">
              <p:embed/>
            </p:oleObj>
          </a:graphicData>
        </a:graphic>
      </p:graphicFrame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4211" name="Object 3"/>
          <p:cNvGraphicFramePr>
            <a:graphicFrameLocks noChangeAspect="1"/>
          </p:cNvGraphicFramePr>
          <p:nvPr/>
        </p:nvGraphicFramePr>
        <p:xfrm>
          <a:off x="1887538" y="3400425"/>
          <a:ext cx="5370512" cy="1028700"/>
        </p:xfrm>
        <a:graphic>
          <a:graphicData uri="http://schemas.openxmlformats.org/presentationml/2006/ole">
            <p:oleObj spid="_x0000_s94211" name="Equation" r:id="rId4" imgW="2679480" imgH="5079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2727</TotalTime>
  <Words>637</Words>
  <Application>Microsoft Office PowerPoint</Application>
  <PresentationFormat>On-screen Show (4:3)</PresentationFormat>
  <Paragraphs>235</Paragraphs>
  <Slides>28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Office Theme</vt:lpstr>
      <vt:lpstr>MathType 6.0 Equation</vt:lpstr>
      <vt:lpstr>Equation</vt:lpstr>
      <vt:lpstr>Obnovljivi izvori energije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2</vt:lpstr>
      <vt:lpstr>Zadatak 2</vt:lpstr>
      <vt:lpstr>Zadatak 2</vt:lpstr>
      <vt:lpstr>Zadatak 2</vt:lpstr>
      <vt:lpstr>Zadatak 2</vt:lpstr>
      <vt:lpstr>Zadatak 2</vt:lpstr>
      <vt:lpstr>Zadatak 2</vt:lpstr>
      <vt:lpstr>Zadatak 2</vt:lpstr>
      <vt:lpstr>Zadatak 2</vt:lpstr>
      <vt:lpstr>Zadatak 2</vt:lpstr>
      <vt:lpstr>Zadatak 3</vt:lpstr>
      <vt:lpstr>Zadatak 3</vt:lpstr>
      <vt:lpstr>Zadatak 3</vt:lpstr>
      <vt:lpstr>Zadatak 3</vt:lpstr>
      <vt:lpstr>Zadatak 3</vt:lpstr>
      <vt:lpstr>Zadatak 3</vt:lpstr>
      <vt:lpstr>Zadatak 3</vt:lpstr>
      <vt:lpstr>Zadatak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Obnovljivi izvori energije</dc:title>
  <dc:creator>Predrag</dc:creator>
  <cp:lastModifiedBy>Predrag Mrsic</cp:lastModifiedBy>
  <cp:revision>179</cp:revision>
  <dcterms:created xsi:type="dcterms:W3CDTF">2020-03-18T10:17:52Z</dcterms:created>
  <dcterms:modified xsi:type="dcterms:W3CDTF">2021-04-01T22:16:19Z</dcterms:modified>
</cp:coreProperties>
</file>