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7" r:id="rId6"/>
    <p:sldId id="270" r:id="rId7"/>
    <p:sldId id="263" r:id="rId8"/>
    <p:sldId id="265" r:id="rId9"/>
    <p:sldId id="266" r:id="rId10"/>
    <p:sldId id="268" r:id="rId11"/>
    <p:sldId id="271" r:id="rId12"/>
    <p:sldId id="272" r:id="rId13"/>
    <p:sldId id="273" r:id="rId14"/>
    <p:sldId id="274" r:id="rId15"/>
    <p:sldId id="269" r:id="rId16"/>
    <p:sldId id="275" r:id="rId17"/>
    <p:sldId id="276" r:id="rId18"/>
    <p:sldId id="27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45" autoAdjust="0"/>
    <p:restoredTop sz="94660"/>
  </p:normalViewPr>
  <p:slideViewPr>
    <p:cSldViewPr snapToGrid="0">
      <p:cViewPr>
        <p:scale>
          <a:sx n="101" d="100"/>
          <a:sy n="101" d="100"/>
        </p:scale>
        <p:origin x="-192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9C2B2-70F4-43CA-B4BD-73600D30F012}" type="datetimeFigureOut">
              <a:rPr lang="en-GB" smtClean="0"/>
              <a:t>14/06/2021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009D26-5EC1-4075-99F7-C6F8A47516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0486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13FFF6FF-0F0F-48BD-9C20-902CBCC13EE1}" type="datetimeFigureOut">
              <a:rPr lang="en-GB" smtClean="0"/>
              <a:t>14/06/2021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CFE127F-7C12-44E0-B3CC-4AA8C483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263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FF6FF-0F0F-48BD-9C20-902CBCC13EE1}" type="datetimeFigureOut">
              <a:rPr lang="en-GB" smtClean="0"/>
              <a:t>14/06/2021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127F-7C12-44E0-B3CC-4AA8C483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680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FF6FF-0F0F-48BD-9C20-902CBCC13EE1}" type="datetimeFigureOut">
              <a:rPr lang="en-GB" smtClean="0"/>
              <a:t>14/06/2021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127F-7C12-44E0-B3CC-4AA8C483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384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FF6FF-0F0F-48BD-9C20-902CBCC13EE1}" type="datetimeFigureOut">
              <a:rPr lang="en-GB" smtClean="0"/>
              <a:t>14/06/2021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127F-7C12-44E0-B3CC-4AA8C483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8290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FF6FF-0F0F-48BD-9C20-902CBCC13EE1}" type="datetimeFigureOut">
              <a:rPr lang="en-GB" smtClean="0"/>
              <a:t>14/06/2021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127F-7C12-44E0-B3CC-4AA8C483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505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FF6FF-0F0F-48BD-9C20-902CBCC13EE1}" type="datetimeFigureOut">
              <a:rPr lang="en-GB" smtClean="0"/>
              <a:t>14/06/2021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127F-7C12-44E0-B3CC-4AA8C483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522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FF6FF-0F0F-48BD-9C20-902CBCC13EE1}" type="datetimeFigureOut">
              <a:rPr lang="en-GB" smtClean="0"/>
              <a:t>14/06/2021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127F-7C12-44E0-B3CC-4AA8C483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970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FF6FF-0F0F-48BD-9C20-902CBCC13EE1}" type="datetimeFigureOut">
              <a:rPr lang="en-GB" smtClean="0"/>
              <a:t>14/06/2021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127F-7C12-44E0-B3CC-4AA8C483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503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FF6FF-0F0F-48BD-9C20-902CBCC13EE1}" type="datetimeFigureOut">
              <a:rPr lang="en-GB" smtClean="0"/>
              <a:t>14/06/2021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127F-7C12-44E0-B3CC-4AA8C483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8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FF6FF-0F0F-48BD-9C20-902CBCC13EE1}" type="datetimeFigureOut">
              <a:rPr lang="en-GB" smtClean="0"/>
              <a:t>14/06/2021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127F-7C12-44E0-B3CC-4AA8C483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8372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FF6FF-0F0F-48BD-9C20-902CBCC13EE1}" type="datetimeFigureOut">
              <a:rPr lang="en-GB" smtClean="0"/>
              <a:t>14/06/2021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127F-7C12-44E0-B3CC-4AA8C483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0393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FF6FF-0F0F-48BD-9C20-902CBCC13EE1}" type="datetimeFigureOut">
              <a:rPr lang="en-GB" smtClean="0"/>
              <a:t>14/06/2021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127F-7C12-44E0-B3CC-4AA8C483B4E5}" type="slidenum">
              <a:rPr lang="en-GB" smtClean="0"/>
              <a:t>‹#›</a:t>
            </a:fld>
            <a:endParaRPr lang="en-GB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08025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FF6FF-0F0F-48BD-9C20-902CBCC13EE1}" type="datetimeFigureOut">
              <a:rPr lang="en-GB" smtClean="0"/>
              <a:t>14/06/2021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127F-7C12-44E0-B3CC-4AA8C483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505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FF6FF-0F0F-48BD-9C20-902CBCC13EE1}" type="datetimeFigureOut">
              <a:rPr lang="en-GB" smtClean="0"/>
              <a:t>14/06/2021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127F-7C12-44E0-B3CC-4AA8C483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61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FF6FF-0F0F-48BD-9C20-902CBCC13EE1}" type="datetimeFigureOut">
              <a:rPr lang="en-GB" smtClean="0"/>
              <a:t>14/06/2021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127F-7C12-44E0-B3CC-4AA8C483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375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FF6FF-0F0F-48BD-9C20-902CBCC13EE1}" type="datetimeFigureOut">
              <a:rPr lang="en-GB" smtClean="0"/>
              <a:t>14/06/2021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127F-7C12-44E0-B3CC-4AA8C483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868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FF6FF-0F0F-48BD-9C20-902CBCC13EE1}" type="datetimeFigureOut">
              <a:rPr lang="en-GB" smtClean="0"/>
              <a:t>14/06/2021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127F-7C12-44E0-B3CC-4AA8C483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856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FFF6FF-0F0F-48BD-9C20-902CBCC13EE1}" type="datetimeFigureOut">
              <a:rPr lang="en-GB" smtClean="0"/>
              <a:t>14/06/2021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E127F-7C12-44E0-B3CC-4AA8C483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148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3100CF2-E799-469A-BF8A-4BDB9AA33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055" y="292963"/>
            <a:ext cx="10209320" cy="2962999"/>
          </a:xfrm>
        </p:spPr>
        <p:txBody>
          <a:bodyPr>
            <a:normAutofit/>
          </a:bodyPr>
          <a:lstStyle/>
          <a:p>
            <a:pPr algn="ctr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</a:pPr>
            <a:r>
              <a:rPr lang="sr-Cyrl-BA" sz="3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3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3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r-Cyrl-BA" sz="36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Фотонапонска електрана на акумулационом језеру ХЕ „Бочац“</a:t>
            </a:r>
            <a:r>
              <a:rPr lang="en-GB" sz="36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GB" sz="36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GB" sz="1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sr-Cyrl-BA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Идејно рјешење плутајуће фотонапонске електране </a:t>
            </a:r>
            <a:r>
              <a:rPr lang="sr-Cyrl-BA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040B5E6-D1F5-4CA5-AC4C-41171A338E57}"/>
              </a:ext>
            </a:extLst>
          </p:cNvPr>
          <p:cNvSpPr txBox="1"/>
          <p:nvPr/>
        </p:nvSpPr>
        <p:spPr>
          <a:xfrm>
            <a:off x="9253491" y="4544484"/>
            <a:ext cx="2938509" cy="2020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tabLst>
                <a:tab pos="4050665" algn="l"/>
              </a:tabLst>
            </a:pPr>
            <a:r>
              <a:rPr lang="sr-Cyrl-BA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Студенти:</a:t>
            </a:r>
            <a:endParaRPr lang="en-GB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</a:pPr>
            <a:r>
              <a:rPr lang="sr-Cyrl-BA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Бојана Шокчевић 13</a:t>
            </a:r>
            <a:r>
              <a:rPr lang="sr-Latn-BA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26/18</a:t>
            </a:r>
            <a:endParaRPr lang="en-GB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</a:pPr>
            <a:r>
              <a:rPr lang="sr-Cyrl-BA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Тања Кизић 13</a:t>
            </a:r>
            <a:r>
              <a:rPr lang="sr-Latn-BA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10/18</a:t>
            </a:r>
            <a:endParaRPr lang="en-GB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</a:pPr>
            <a:r>
              <a:rPr lang="sr-Cyrl-BA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Ања Јуричевић 13</a:t>
            </a:r>
            <a:r>
              <a:rPr lang="sr-Latn-BA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38/16</a:t>
            </a:r>
            <a:endParaRPr lang="en-GB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</a:pPr>
            <a:r>
              <a:rPr lang="sr-Cyrl-BA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Дејан Богданић 13</a:t>
            </a:r>
            <a:r>
              <a:rPr lang="sr-Latn-BA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03/17</a:t>
            </a:r>
            <a:endParaRPr lang="en-GB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</a:pPr>
            <a:r>
              <a:rPr lang="sr-Cyrl-BA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Ненад Кајкут 1313/17</a:t>
            </a:r>
            <a:endParaRPr lang="en-GB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2955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801D37B-17A4-4840-B012-73559A8F8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762" y="150025"/>
            <a:ext cx="11434438" cy="128348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spcAft>
                <a:spcPts val="600"/>
              </a:spcAft>
            </a:pPr>
            <a:r>
              <a:rPr lang="en-US" sz="2500" dirty="0">
                <a:effectLst/>
              </a:rPr>
              <a:t> </a:t>
            </a:r>
            <a:r>
              <a:rPr lang="en-US" sz="27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7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r-Cyrl-RS" sz="27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sr-Cyrl-RS" sz="2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оложај фотонапонске електране и димензије платформе</a:t>
            </a:r>
            <a:r>
              <a:rPr lang="en-US" sz="25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/>
            </a:r>
            <a:br>
              <a:rPr lang="en-US" sz="25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endParaRPr lang="en-US" sz="2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6" name="Content Placeholder 105">
            <a:extLst>
              <a:ext uri="{FF2B5EF4-FFF2-40B4-BE49-F238E27FC236}">
                <a16:creationId xmlns="" xmlns:a16="http://schemas.microsoft.com/office/drawing/2014/main" id="{A14E1904-3864-40AD-A8B0-84E0F69646E4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242" y="1413653"/>
            <a:ext cx="6448346" cy="472081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="" xmlns:a16="http://schemas.microsoft.com/office/drawing/2014/main" id="{0452FC5D-A2AB-431E-8154-642FD4813C0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7359588" y="2263806"/>
                <a:ext cx="4527612" cy="3045042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sr-Cyrl-BA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програмс</a:t>
                </a:r>
                <a:r>
                  <a:rPr lang="sr-Cyrl-R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ки</a:t>
                </a:r>
                <a:r>
                  <a:rPr lang="sr-Cyrl-BA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пакет </a:t>
                </a:r>
                <a:r>
                  <a:rPr lang="sr-Cyrl-BA" sz="2000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PV Watts</a:t>
                </a:r>
                <a:r>
                  <a:rPr lang="sr-Cyrl-BA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00000"/>
                  </a:lnSpc>
                </a:pPr>
                <a:r>
                  <a:rPr lang="sr-Cyrl-BA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</a:t>
                </a:r>
                <a:r>
                  <a:rPr lang="sr-Cyrl-BA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овршина платформе: </a:t>
                </a:r>
                <a14:m>
                  <m:oMath xmlns:m="http://schemas.openxmlformats.org/officeDocument/2006/math">
                    <m:r>
                      <a:rPr lang="sr-Cyrl-BA" sz="20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13347 </m:t>
                    </m:r>
                    <m:sSup>
                      <m:sSupPr>
                        <m:ctrlPr>
                          <a:rPr lang="en-GB" sz="20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Cambria Math"/>
                          </a:rPr>
                        </m:ctrlPr>
                      </m:sSupPr>
                      <m:e>
                        <m:r>
                          <a:rPr lang="sr-Latn-BA" sz="20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sr-Latn-BA" sz="20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sr-Cyrl-R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sr-Cyrl-BA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</a:t>
                </a:r>
                <a:r>
                  <a:rPr lang="sr-Cyrl-BA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реба уважити размак између панела </a:t>
                </a:r>
                <a:endPara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452FC5D-A2AB-431E-8154-642FD4813C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359588" y="2263806"/>
                <a:ext cx="4527612" cy="3045042"/>
              </a:xfrm>
              <a:blipFill>
                <a:blip r:embed="rId4"/>
                <a:stretch>
                  <a:fillRect l="-1884" t="-2800" r="-1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9707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96A0E7-B4FD-47A1-9663-F35CEFA6E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038" y="634846"/>
            <a:ext cx="10750858" cy="719093"/>
          </a:xfrm>
        </p:spPr>
        <p:txBody>
          <a:bodyPr>
            <a:normAutofit fontScale="90000"/>
          </a:bodyPr>
          <a:lstStyle/>
          <a:p>
            <a:pPr algn="ctr"/>
            <a:r>
              <a:rPr lang="sr-Cyrl-BA" sz="27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Максимална могућа производња електричне енергије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8BDDFD34-BD59-4136-8628-A0B881D72A46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1515909"/>
            <a:ext cx="10321924" cy="34644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="" xmlns:a16="http://schemas.microsoft.com/office/drawing/2014/main" id="{EA14B465-F3D2-40A5-BE15-3F55FFECEE4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935038" y="4980373"/>
                <a:ext cx="7927758" cy="150828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sr-Cyrl-BA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програмски пакет </a:t>
                </a:r>
                <a:r>
                  <a:rPr lang="sr-Latn-BA" sz="2000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PVGIS</a:t>
                </a:r>
                <a:r>
                  <a:rPr lang="sr-Cyrl-BA" sz="2000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00000"/>
                  </a:lnSpc>
                </a:pPr>
                <a:r>
                  <a:rPr lang="sr-Cyrl-BA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оптимални нагибни угао панела </a:t>
                </a:r>
                <a14:m>
                  <m:oMath xmlns:m="http://schemas.openxmlformats.org/officeDocument/2006/math">
                    <m:r>
                      <a:rPr lang="sr-Cyrl-BA" sz="20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𝛴</m:t>
                    </m:r>
                    <m:r>
                      <a:rPr lang="sr-Cyrl-BA" sz="20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=32°</m:t>
                    </m:r>
                  </m:oMath>
                </a14:m>
                <a:r>
                  <a:rPr lang="sr-Cyrl-R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sr-Cyrl-BA" sz="20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sr-Latn-BA" sz="20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sr-Cyrl-BA" sz="20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=0°</m:t>
                    </m:r>
                    <m:r>
                      <a:rPr lang="sr-Cyrl-RS" sz="2000" b="0" i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sr-Cyrl-RS" sz="20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sr-Cyrl-R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м</a:t>
                </a:r>
                <a:r>
                  <a:rPr lang="sr-Cyrl-R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и ћемо </a:t>
                </a:r>
                <a:r>
                  <a:rPr lang="sr-Cyrl-R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користити</a:t>
                </a:r>
                <a:r>
                  <a:rPr lang="sr-Cyrl-R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r-Cyrl-BA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систем за ротацију око вертикалне осе </a:t>
                </a:r>
                <a:endParaRPr lang="sr-Cyrl-R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sr-Cyrl-BA" sz="2000" i="1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sr-Cyrl-BA" sz="20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en-GB" sz="20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A14B465-F3D2-40A5-BE15-3F55FFECEE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935038" y="4980373"/>
                <a:ext cx="7927758" cy="1508280"/>
              </a:xfrm>
              <a:blipFill>
                <a:blip r:embed="rId3"/>
                <a:stretch>
                  <a:fillRect l="-1076" t="-60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7560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2400AD4-FEBD-453C-99D1-B04E277C1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3876" y="2044083"/>
            <a:ext cx="4337297" cy="229043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sr-Cyrl-B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програмски пакет </a:t>
            </a:r>
            <a:r>
              <a:rPr lang="sr-Latn-BA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PV Watts</a:t>
            </a:r>
            <a:r>
              <a:rPr lang="sr-Latn-B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sr-Cyrl-R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sr-Cyrl-B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максимална годишња производња електричне енергије</a:t>
            </a:r>
            <a:endParaRPr lang="sr-Latn-R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sr-Cyrl-B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</a:t>
            </a:r>
            <a:r>
              <a:rPr lang="sr-Cyrl-BA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реба уважити размак између панела 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714197CD-31B5-4D7F-8AEC-758476AFEE2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056" y="811060"/>
            <a:ext cx="6570820" cy="52168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79435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5B71CAE-6879-4574-A37A-2A90FF8FC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904" y="411609"/>
            <a:ext cx="9905998" cy="751696"/>
          </a:xfrm>
        </p:spPr>
        <p:txBody>
          <a:bodyPr>
            <a:normAutofit/>
          </a:bodyPr>
          <a:lstStyle/>
          <a:p>
            <a:pPr algn="ctr"/>
            <a:r>
              <a:rPr lang="sr-Cyrl-BA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Ефекат сјенчења</a:t>
            </a:r>
            <a:r>
              <a:rPr lang="en-GB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="" xmlns:a16="http://schemas.microsoft.com/office/drawing/2014/main" id="{2FE2A67E-6786-4A50-895A-7D5431D0C7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9667" y="4449547"/>
                <a:ext cx="9925235" cy="229535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sr-Cyrl-BA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програмски пакет </a:t>
                </a:r>
                <a:r>
                  <a:rPr lang="sr-Cyrl-BA" sz="20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Panel Shadding</a:t>
                </a:r>
              </a:p>
              <a:p>
                <a:pPr>
                  <a:lnSpc>
                    <a:spcPct val="110000"/>
                  </a:lnSpc>
                </a:pPr>
                <a:r>
                  <a:rPr lang="sr-Cyrl-BA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</a:t>
                </a:r>
                <a:r>
                  <a:rPr lang="sr-Cyrl-BA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длучили смо се за хоризонтално постављање панела на плутајућу платформу</a:t>
                </a:r>
              </a:p>
              <a:p>
                <a:pPr>
                  <a:lnSpc>
                    <a:spcPct val="110000"/>
                  </a:lnSpc>
                </a:pPr>
                <a:r>
                  <a:rPr lang="sr-Cyrl-BA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оптималано растојање између редова панела: </a:t>
                </a:r>
                <a14:m>
                  <m:oMath xmlns:m="http://schemas.openxmlformats.org/officeDocument/2006/math">
                    <m:r>
                      <a:rPr lang="sr-Cyrl-BA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1,6 </m:t>
                    </m:r>
                    <m:r>
                      <a:rPr lang="sr-Latn-BA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endParaRPr lang="sr-Cyrl-RS" sz="2000" dirty="0"/>
              </a:p>
              <a:p>
                <a:pPr>
                  <a:lnSpc>
                    <a:spcPct val="110000"/>
                  </a:lnSpc>
                </a:pPr>
                <a:r>
                  <a:rPr lang="sr-Cyrl-BA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површина платформе: </a:t>
                </a:r>
                <a14:m>
                  <m:oMath xmlns:m="http://schemas.openxmlformats.org/officeDocument/2006/math">
                    <m:r>
                      <a:rPr lang="sr-Cyrl-BA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18500 </m:t>
                    </m:r>
                    <m:sSup>
                      <m:sSupPr>
                        <m:ctrlPr>
                          <a:rPr lang="en-GB" sz="2000" i="1">
                            <a:effectLst/>
                            <a:latin typeface="Cambria Math"/>
                          </a:rPr>
                        </m:ctrlPr>
                      </m:sSupPr>
                      <m:e>
                        <m:r>
                          <a:rPr lang="sr-Latn-BA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sr-Latn-BA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sr-Latn-RS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sr-Cyrl-BA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занемарен је утицај околних брда </a:t>
                </a:r>
              </a:p>
              <a:p>
                <a:endParaRPr lang="sr-Cyrl-BA" sz="1600" i="1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2FE2A67E-6786-4A50-895A-7D5431D0C7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9667" y="4449547"/>
                <a:ext cx="9925235" cy="2295357"/>
              </a:xfrm>
              <a:blipFill>
                <a:blip r:embed="rId2"/>
                <a:stretch>
                  <a:fillRect l="-860" t="-3723" b="-45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301A9B2-2CC3-4CE6-9FF0-E90D289C9AD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747" y="1414269"/>
            <a:ext cx="3570359" cy="301974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7FAFE24-2B7B-4AE3-A4E3-BBB6332A689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447106" y="1414269"/>
            <a:ext cx="3570359" cy="301974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DD5A96D9-D8BC-4CF9-9C99-3C368A9560F0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465" y="1414269"/>
            <a:ext cx="3570359" cy="30197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65218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08ED1BA-743B-47DB-9A74-EC435500E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485" y="5495278"/>
            <a:ext cx="10106379" cy="125619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sr-Cyrl-BA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Solargis</a:t>
            </a:r>
            <a:endParaRPr lang="sr-Cyrl-CS" sz="20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sr-Cyrl-C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дијаграм путање Сунца током једне године </a:t>
            </a:r>
            <a:r>
              <a:rPr lang="sr-Cyrl-R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sr-Cyrl-C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анализираној локацији</a:t>
            </a:r>
            <a:endParaRPr lang="en-GB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sr-Cyrl-R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</a:t>
            </a:r>
            <a:r>
              <a:rPr lang="sr-Cyrl-C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 дијаграм су суперпонирана околна брда</a:t>
            </a:r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4C46A90C-290F-474C-8695-B71819FC09B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018" y="461639"/>
            <a:ext cx="8016535" cy="497140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1920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9802B7-24C2-48EF-BEFE-07831AEF3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49808"/>
            <a:ext cx="9905998" cy="1006096"/>
          </a:xfrm>
        </p:spPr>
        <p:txBody>
          <a:bodyPr/>
          <a:lstStyle/>
          <a:p>
            <a:pPr algn="ctr"/>
            <a:r>
              <a:rPr lang="sr-Cyrl-BA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Избор плута за плутајућу подлогу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FBA0BBA-745A-43BC-904B-476F9EA54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1247" y="5157968"/>
            <a:ext cx="2968731" cy="1006096"/>
          </a:xfrm>
        </p:spPr>
        <p:txBody>
          <a:bodyPr>
            <a:normAutofit/>
          </a:bodyPr>
          <a:lstStyle/>
          <a:p>
            <a:r>
              <a:rPr lang="sr-Cyrl-BA" sz="2000" i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Hydrelio</a:t>
            </a:r>
            <a:r>
              <a:rPr lang="sr-Latn-BA" sz="2000" i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Air</a:t>
            </a:r>
          </a:p>
          <a:p>
            <a:r>
              <a:rPr lang="sr-Latn-BA" sz="2000" i="1" dirty="0" smtClean="0">
                <a:latin typeface="Times New Roman" panose="02020603050405020304" pitchFamily="18" charset="0"/>
              </a:rPr>
              <a:t>Admiralitetsko sidro</a:t>
            </a:r>
            <a:endParaRPr lang="en-GB" sz="2000" dirty="0"/>
          </a:p>
        </p:txBody>
      </p:sp>
      <p:pic>
        <p:nvPicPr>
          <p:cNvPr id="5" name="Picture 4" descr="Description: Floating Solar UK | Ciel et Terre | Hydrelio">
            <a:extLst>
              <a:ext uri="{FF2B5EF4-FFF2-40B4-BE49-F238E27FC236}">
                <a16:creationId xmlns="" xmlns:a16="http://schemas.microsoft.com/office/drawing/2014/main" id="{93178AA5-CC84-4663-A505-8DAC4441F3D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854" y="1536397"/>
            <a:ext cx="5853113" cy="3541078"/>
          </a:xfrm>
          <a:prstGeom prst="rect">
            <a:avLst/>
          </a:prstGeom>
          <a:noFill/>
          <a:ln w="19050" cmpd="sng">
            <a:solidFill>
              <a:srgbClr val="000000"/>
            </a:solidFill>
            <a:miter lim="800000"/>
            <a:headEnd/>
            <a:tailEnd/>
          </a:ln>
          <a:effectLst/>
        </p:spPr>
      </p:pic>
      <p:pic>
        <p:nvPicPr>
          <p:cNvPr id="6" name="Picture 5" descr="Description: Portfolio - Floating Solar">
            <a:extLst>
              <a:ext uri="{FF2B5EF4-FFF2-40B4-BE49-F238E27FC236}">
                <a16:creationId xmlns="" xmlns:a16="http://schemas.microsoft.com/office/drawing/2014/main" id="{4BF93BE6-3777-40CA-8DBB-419B4B6FA4D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024" y="1536397"/>
            <a:ext cx="4658048" cy="3541077"/>
          </a:xfrm>
          <a:prstGeom prst="rect">
            <a:avLst/>
          </a:prstGeom>
          <a:noFill/>
          <a:ln w="19050" cmpd="sng">
            <a:solidFill>
              <a:srgbClr val="00000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835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36633B2-7AFD-4F4F-99E9-60A05B7B7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pPr algn="ctr"/>
            <a:r>
              <a:rPr lang="sr-Cyrl-BA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Избор соларних модула 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A0097E1-3BFD-46D4-9338-13A2D883A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8365" y="1882067"/>
            <a:ext cx="4208016" cy="40393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sr-Cyrl-BA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europe-solarstore.com</a:t>
            </a:r>
            <a:r>
              <a:rPr lang="sr-Cyrl-B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интернет страница</a:t>
            </a:r>
          </a:p>
          <a:p>
            <a:pPr>
              <a:lnSpc>
                <a:spcPct val="100000"/>
              </a:lnSpc>
            </a:pPr>
            <a:r>
              <a:rPr lang="sr-Cyrl-B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одабран је модул </a:t>
            </a:r>
            <a:r>
              <a:rPr lang="sr-Latn-BA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Axitec AXIpower AC-330P/72S</a:t>
            </a:r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D5709BF2-B1C9-476A-BEFB-409B1CF7733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77" y="1178510"/>
            <a:ext cx="6347812" cy="497371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35610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753C5041-A942-4AD7-A7ED-373E3F31732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259" y="438830"/>
            <a:ext cx="9838217" cy="564237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A7B52EF-E864-4D60-869A-BA3256664786}"/>
              </a:ext>
            </a:extLst>
          </p:cNvPr>
          <p:cNvSpPr txBox="1"/>
          <p:nvPr/>
        </p:nvSpPr>
        <p:spPr>
          <a:xfrm>
            <a:off x="1597980" y="6192482"/>
            <a:ext cx="7581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Cyrl-B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техничке карактеристике изабраног модула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39455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97D2A41-68FB-460C-A4CF-684951294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90" y="177554"/>
            <a:ext cx="9905998" cy="853735"/>
          </a:xfrm>
        </p:spPr>
        <p:txBody>
          <a:bodyPr>
            <a:normAutofit fontScale="90000"/>
          </a:bodyPr>
          <a:lstStyle/>
          <a:p>
            <a:pPr algn="ctr"/>
            <a:r>
              <a:rPr lang="sr-Cyrl-BA" sz="27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Избор инвертора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4BDF10CD-DC86-47E9-ADEE-D2258DEE52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57099" y="4913142"/>
                <a:ext cx="9674626" cy="194485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sr-Cyrl-BA" sz="20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програмски пакет </a:t>
                </a:r>
                <a:r>
                  <a:rPr lang="sr-Cyrl-BA" sz="20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sr-Latn-BA" sz="20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SUNNY DESIGN</a:t>
                </a:r>
                <a:endParaRPr lang="sr-Cyrl-RS" sz="20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sr-Cyrl-BA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изабрали смо инвертор </a:t>
                </a:r>
                <a:r>
                  <a:rPr lang="sr-Latn-BA" sz="20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SMA SC 2200-10</a:t>
                </a:r>
                <a:endParaRPr lang="sr-Cyrl-RS" sz="20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sr-Cyrl-BA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одлучили смо се на централизовани сист</a:t>
                </a:r>
                <a:r>
                  <a:rPr lang="sr-Cyrl-R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ем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sr-Cyrl-BA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неопходна је употреба трансформатора преносног односа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effectLst/>
                            <a:latin typeface="Cambria Math"/>
                          </a:rPr>
                        </m:ctrlPr>
                      </m:sSubPr>
                      <m:e>
                        <m:r>
                          <a:rPr lang="sr-Latn-BA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sr-Cyrl-BA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  <m:r>
                      <a:rPr lang="sr-Cyrl-BA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2000" i="1">
                            <a:effectLst/>
                            <a:latin typeface="Cambria Math"/>
                          </a:rPr>
                        </m:ctrlPr>
                      </m:fPr>
                      <m:num>
                        <m:r>
                          <a:rPr lang="sr-Cyrl-BA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0,4</m:t>
                        </m:r>
                      </m:num>
                      <m:den>
                        <m:r>
                          <a:rPr lang="sr-Cyrl-BA" sz="2000" b="0" i="1" smtClean="0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20</m:t>
                        </m:r>
                      </m:den>
                    </m:f>
                    <m:f>
                      <m:fPr>
                        <m:ctrlPr>
                          <a:rPr lang="en-GB" sz="2000" i="1">
                            <a:effectLst/>
                            <a:latin typeface="Cambria Math"/>
                          </a:rPr>
                        </m:ctrlPr>
                      </m:fPr>
                      <m:num>
                        <m:r>
                          <a:rPr lang="sr-Cyrl-BA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𝑘𝑉</m:t>
                        </m:r>
                      </m:num>
                      <m:den>
                        <m:r>
                          <a:rPr lang="sr-Cyrl-BA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𝑘𝑉</m:t>
                        </m:r>
                      </m:den>
                    </m:f>
                  </m:oMath>
                </a14:m>
                <a:r>
                  <a:rPr lang="sr-Latn-BA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BDF10CD-DC86-47E9-ADEE-D2258DEE52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57099" y="4913142"/>
                <a:ext cx="9674626" cy="1944858"/>
              </a:xfrm>
              <a:blipFill rotWithShape="1">
                <a:blip r:embed="rId2"/>
                <a:stretch>
                  <a:fillRect l="-882" t="-4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D775CAB-F7D7-4157-A837-D48065F334E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2" y="902053"/>
            <a:ext cx="7896056" cy="40110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44132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F7B9D2E-48E6-421D-86DD-53D7FDA05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59294"/>
            <a:ext cx="9905998" cy="941033"/>
          </a:xfrm>
        </p:spPr>
        <p:txBody>
          <a:bodyPr>
            <a:normAutofit fontScale="90000"/>
          </a:bodyPr>
          <a:lstStyle/>
          <a:p>
            <a:pPr algn="ctr"/>
            <a:r>
              <a:rPr lang="sr-Cyrl-BA" sz="27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Избор мотора за систем праћења Сунца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/>
              <a:t/>
            </a:r>
            <a:br>
              <a:rPr lang="ru-RU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3339B10-3645-49D7-B127-0A47D2ED1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3212" y="5308847"/>
            <a:ext cx="9786782" cy="1162958"/>
          </a:xfrm>
        </p:spPr>
        <p:txBody>
          <a:bodyPr>
            <a:noAutofit/>
          </a:bodyPr>
          <a:lstStyle/>
          <a:p>
            <a:r>
              <a:rPr lang="sr-Cyrl-C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</a:t>
            </a:r>
            <a:r>
              <a:rPr lang="sr-Cyrl-C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длучили смо се за моторе једносмјерне струје </a:t>
            </a:r>
          </a:p>
          <a:p>
            <a:r>
              <a:rPr lang="sr-Cyrl-C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</a:t>
            </a:r>
            <a:r>
              <a:rPr lang="sr-Cyrl-C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латформа се треба </a:t>
            </a:r>
            <a:r>
              <a:rPr lang="sr-Cyrl-C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усидрити </a:t>
            </a:r>
            <a:r>
              <a:rPr lang="sr-Cyrl-C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 централном дијелу</a:t>
            </a:r>
          </a:p>
          <a:p>
            <a:r>
              <a:rPr lang="sr-Cyrl-C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треба уважити све силе које утичу на кретање платформе кроз воду</a:t>
            </a:r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BB399C56-071A-4D0F-B89E-2638DAC64EF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3" y="1207347"/>
            <a:ext cx="6511138" cy="411925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11074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D78833D-99C2-4B6F-BC0B-CFBB4C937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84086"/>
            <a:ext cx="9905998" cy="577048"/>
          </a:xfrm>
        </p:spPr>
        <p:txBody>
          <a:bodyPr>
            <a:normAutofit/>
          </a:bodyPr>
          <a:lstStyle/>
          <a:p>
            <a:pPr algn="ctr"/>
            <a:r>
              <a:rPr lang="sr-Cyrl-BA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Ожичење</a:t>
            </a:r>
            <a:endParaRPr lang="en-GB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05BC582-6A79-4FB2-BD4F-070607E65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751" y="5058423"/>
            <a:ext cx="9795660" cy="18909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sr-Cyrl-B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потребно нам је 6061 модула (усвајамо 6100 модула)</a:t>
            </a:r>
          </a:p>
          <a:p>
            <a:pPr>
              <a:lnSpc>
                <a:spcPct val="100000"/>
              </a:lnSpc>
            </a:pPr>
            <a:r>
              <a:rPr lang="sr-Cyrl-B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програмски пакет </a:t>
            </a:r>
            <a:r>
              <a:rPr lang="sr-Latn-BA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SUNNY DESIGN</a:t>
            </a:r>
            <a:r>
              <a:rPr lang="sr-Latn-B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sr-Cyrl-BA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sr-Cyrl-B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број модула по једном стрингу износи 19</a:t>
            </a:r>
          </a:p>
          <a:p>
            <a:pPr>
              <a:lnSpc>
                <a:spcPct val="100000"/>
              </a:lnSpc>
            </a:pPr>
            <a:r>
              <a:rPr lang="sr-Cyrl-BA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</a:t>
            </a:r>
            <a:r>
              <a:rPr lang="sr-Cyrl-B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овезујемо 321 стринг паралелно</a:t>
            </a:r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600462E-91B5-4B0D-901B-5E7B2F49F43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3" y="1129815"/>
            <a:ext cx="8908109" cy="39286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38038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9DD35D33-E2A9-4EAF-9531-C4A864875A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89904" y="445186"/>
                <a:ext cx="3595456" cy="6106534"/>
              </a:xfrm>
            </p:spPr>
            <p:txBody>
              <a:bodyPr>
                <a:normAutofit lnSpcReduction="10000"/>
              </a:bodyPr>
              <a:lstStyle/>
              <a:p>
                <a:endParaRPr lang="sr-Cyrl-R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sr-Cyrl-R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</a:t>
                </a:r>
                <a:r>
                  <a:rPr lang="sr-Cyrl-BA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опречни пресјек проводника који повезују модуле и који се доводе до разводне кутије износи </a:t>
                </a:r>
                <a14:m>
                  <m:oMath xmlns:m="http://schemas.openxmlformats.org/officeDocument/2006/math">
                    <m:r>
                      <a:rPr lang="sr-Cyrl-BA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14 </m:t>
                    </m:r>
                    <m:sSup>
                      <m:sSupPr>
                        <m:ctrlPr>
                          <a:rPr lang="en-GB" sz="2000" i="1">
                            <a:effectLst/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𝑚𝑚</m:t>
                        </m:r>
                      </m:e>
                      <m:sup>
                        <m:r>
                          <a:rPr lang="sr-Cyrl-BA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sr-Cyrl-RS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sr-Cyrl-BA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укупна дужина каблова која је потребна за реализацију пројекта је </a:t>
                </a:r>
                <a14:m>
                  <m:oMath xmlns:m="http://schemas.openxmlformats.org/officeDocument/2006/math">
                    <m:r>
                      <a:rPr lang="sr-Cyrl-BA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128400 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endParaRPr lang="sr-Cyrl-RS" sz="2000" dirty="0"/>
              </a:p>
              <a:p>
                <a:r>
                  <a:rPr lang="sr-Cyrl-BA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</a:t>
                </a:r>
                <a:r>
                  <a:rPr lang="sr-Cyrl-BA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ослије разводне кутије главним </a:t>
                </a:r>
                <a:r>
                  <a:rPr lang="sr-Latn-BA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DC </a:t>
                </a:r>
                <a:r>
                  <a:rPr lang="sr-Cyrl-BA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каблом попречног пресјека </a:t>
                </a:r>
                <a14:m>
                  <m:oMath xmlns:m="http://schemas.openxmlformats.org/officeDocument/2006/math">
                    <m:r>
                      <a:rPr lang="sr-Cyrl-BA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400 </m:t>
                    </m:r>
                    <m:sSup>
                      <m:sSupPr>
                        <m:ctrlPr>
                          <a:rPr lang="en-GB" sz="2000" i="1">
                            <a:effectLst/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𝑚𝑚</m:t>
                        </m:r>
                      </m:e>
                      <m:sup>
                        <m:r>
                          <a:rPr lang="sr-Cyrl-BA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sr-Cyrl-BA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повезујемо се на инвертор</a:t>
                </a:r>
                <a:endParaRPr lang="sr-Cyrl-RS" sz="2000" dirty="0"/>
              </a:p>
              <a:p>
                <a:pPr marL="0" indent="0">
                  <a:buNone/>
                </a:pPr>
                <a:r>
                  <a:rPr lang="ru-RU" dirty="0"/>
                  <a:t/>
                </a:r>
                <a:br>
                  <a:rPr lang="ru-RU" dirty="0"/>
                </a:b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D35D33-E2A9-4EAF-9531-C4A864875A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89904" y="445186"/>
                <a:ext cx="3595456" cy="6106534"/>
              </a:xfrm>
              <a:blipFill>
                <a:blip r:embed="rId2"/>
                <a:stretch>
                  <a:fillRect l="-25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F45D1E86-0A2A-4ECF-8551-FEAAE6555B4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616" y="445186"/>
            <a:ext cx="6703288" cy="59676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87753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5F3336B-031D-48A2-A5BD-15245DD31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946" y="6134471"/>
            <a:ext cx="8797926" cy="1043774"/>
          </a:xfrm>
        </p:spPr>
        <p:txBody>
          <a:bodyPr>
            <a:normAutofit/>
          </a:bodyPr>
          <a:lstStyle/>
          <a:p>
            <a:r>
              <a:rPr lang="sr-Cyrl-R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sr-Cyrl-B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зглед система након повезивања</a:t>
            </a:r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51386D26-8AC2-414F-99E3-9A4BDA802C4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3270" y="475739"/>
            <a:ext cx="8464412" cy="56587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76353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CC32B4F-3C5A-4563-B62D-133FFA7A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87699"/>
            <a:ext cx="9905998" cy="1192526"/>
          </a:xfrm>
        </p:spPr>
        <p:txBody>
          <a:bodyPr/>
          <a:lstStyle/>
          <a:p>
            <a:pPr algn="ctr"/>
            <a:r>
              <a:rPr lang="sr-Cyrl-BA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Заштитна и склопна опрема</a:t>
            </a:r>
            <a:r>
              <a:rPr lang="en-GB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D24C5B6-D353-4BFE-9AE2-C21063A99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91308"/>
            <a:ext cx="9905999" cy="3541714"/>
          </a:xfrm>
        </p:spPr>
        <p:txBody>
          <a:bodyPr>
            <a:normAutofit/>
          </a:bodyPr>
          <a:lstStyle/>
          <a:p>
            <a:r>
              <a:rPr lang="sr-Cyrl-R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Заштита људи од струјног удара </a:t>
            </a:r>
            <a:endParaRPr lang="sr-Latn-R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sr-Cyrl-R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Заштита ПВ модула од инверзне струје </a:t>
            </a:r>
            <a:endParaRPr lang="sr-Latn-R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sr-Cyrl-R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Прекострујна заштита </a:t>
            </a:r>
            <a:endParaRPr lang="sr-Latn-R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sr-Cyrl-R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Пренапонска заштита </a:t>
            </a:r>
            <a:endParaRPr lang="en-GB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r-Cyrl-R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Заштита базирана на диференцијалној струји </a:t>
            </a:r>
            <a:endParaRPr lang="sr-Latn-R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sr-Cyrl-R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Елементи за одвајање 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195936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453363D-C25A-4E2F-B9A8-2C4157972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19023"/>
            <a:ext cx="9905998" cy="908441"/>
          </a:xfrm>
        </p:spPr>
        <p:txBody>
          <a:bodyPr>
            <a:normAutofit/>
          </a:bodyPr>
          <a:lstStyle/>
          <a:p>
            <a:pPr algn="ctr"/>
            <a:r>
              <a:rPr lang="sr-Cyrl-R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Економски прорачун</a:t>
            </a:r>
            <a:endParaRPr lang="en-GB" sz="2400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00737A0C-808B-4ACB-8BBF-37BDD73E3C5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549" y="1923100"/>
            <a:ext cx="5663954" cy="44688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B85B19B-CD34-454C-A8A5-BCEF59B628F9}"/>
              </a:ext>
            </a:extLst>
          </p:cNvPr>
          <p:cNvSpPr txBox="1"/>
          <p:nvPr/>
        </p:nvSpPr>
        <p:spPr>
          <a:xfrm>
            <a:off x="1411549" y="1438181"/>
            <a:ext cx="348004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Cyrl-B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програмски пакет </a:t>
            </a:r>
            <a:r>
              <a:rPr lang="sr-Cyrl-BA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Excel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387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0781ED57-CF53-4609-BFE9-7EAC4B726DE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348" y="341606"/>
            <a:ext cx="9937904" cy="582372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24B304C-3AA4-46D6-8A03-A3C55019C652}"/>
              </a:ext>
            </a:extLst>
          </p:cNvPr>
          <p:cNvSpPr txBox="1"/>
          <p:nvPr/>
        </p:nvSpPr>
        <p:spPr>
          <a:xfrm>
            <a:off x="1381125" y="6165330"/>
            <a:ext cx="5690586" cy="737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lnSpc>
                <a:spcPct val="95000"/>
              </a:lnSpc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sr-Cyrl-R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sr-Latn-B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лан отплате за откупну цијену од 0,2326 КМ</a:t>
            </a:r>
            <a:endParaRPr lang="en-GB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</a:pPr>
            <a:r>
              <a:rPr lang="sr-Cyrl-R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209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50C065C3-0FE3-4452-B765-CB05BBB2A98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9795E515-5F57-431F-9A0D-3A0419DF757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>
              <a:extLst>
                <a:ext uri="{FF2B5EF4-FFF2-40B4-BE49-F238E27FC236}">
                  <a16:creationId xmlns="" xmlns:a16="http://schemas.microsoft.com/office/drawing/2014/main" id="{D45BCBFE-0478-4767-BF2E-FC2C548BA62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>
              <a:extLst>
                <a:ext uri="{FF2B5EF4-FFF2-40B4-BE49-F238E27FC236}">
                  <a16:creationId xmlns="" xmlns:a16="http://schemas.microsoft.com/office/drawing/2014/main" id="{E903928F-F6DA-470C-81A0-CF7D9DE0341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>
              <a:extLst>
                <a:ext uri="{FF2B5EF4-FFF2-40B4-BE49-F238E27FC236}">
                  <a16:creationId xmlns="" xmlns:a16="http://schemas.microsoft.com/office/drawing/2014/main" id="{ADA095F6-E326-4450-A2D6-DB2BF989B87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>
              <a:extLst>
                <a:ext uri="{FF2B5EF4-FFF2-40B4-BE49-F238E27FC236}">
                  <a16:creationId xmlns="" xmlns:a16="http://schemas.microsoft.com/office/drawing/2014/main" id="{6B067F9A-FDF2-49EC-B4FF-CD4B90F7892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>
              <a:extLst>
                <a:ext uri="{FF2B5EF4-FFF2-40B4-BE49-F238E27FC236}">
                  <a16:creationId xmlns="" xmlns:a16="http://schemas.microsoft.com/office/drawing/2014/main" id="{F1331213-D19D-49FC-8616-168A14565A8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>
              <a:extLst>
                <a:ext uri="{FF2B5EF4-FFF2-40B4-BE49-F238E27FC236}">
                  <a16:creationId xmlns="" xmlns:a16="http://schemas.microsoft.com/office/drawing/2014/main" id="{2ADFE242-96FC-4A14-8C59-90CD6DE1D9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>
              <a:extLst>
                <a:ext uri="{FF2B5EF4-FFF2-40B4-BE49-F238E27FC236}">
                  <a16:creationId xmlns="" xmlns:a16="http://schemas.microsoft.com/office/drawing/2014/main" id="{6A97B7BC-40BD-494B-9C6B-AF3045559A3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>
              <a:extLst>
                <a:ext uri="{FF2B5EF4-FFF2-40B4-BE49-F238E27FC236}">
                  <a16:creationId xmlns="" xmlns:a16="http://schemas.microsoft.com/office/drawing/2014/main" id="{3D7F35CF-F44C-491F-904D-A31ED832137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>
              <a:extLst>
                <a:ext uri="{FF2B5EF4-FFF2-40B4-BE49-F238E27FC236}">
                  <a16:creationId xmlns="" xmlns:a16="http://schemas.microsoft.com/office/drawing/2014/main" id="{84D9BF7E-18C2-452C-B139-4ED58D7A03C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>
              <a:extLst>
                <a:ext uri="{FF2B5EF4-FFF2-40B4-BE49-F238E27FC236}">
                  <a16:creationId xmlns="" xmlns:a16="http://schemas.microsoft.com/office/drawing/2014/main" id="{700A6223-AD38-426F-A6FE-7926CAEF31C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>
              <a:extLst>
                <a:ext uri="{FF2B5EF4-FFF2-40B4-BE49-F238E27FC236}">
                  <a16:creationId xmlns="" xmlns:a16="http://schemas.microsoft.com/office/drawing/2014/main" id="{D172AA94-449F-45EB-94E6-67C186C32DD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>
              <a:extLst>
                <a:ext uri="{FF2B5EF4-FFF2-40B4-BE49-F238E27FC236}">
                  <a16:creationId xmlns="" xmlns:a16="http://schemas.microsoft.com/office/drawing/2014/main" id="{A7D4F697-8937-4F4C-83C5-770B3FCB82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>
              <a:extLst>
                <a:ext uri="{FF2B5EF4-FFF2-40B4-BE49-F238E27FC236}">
                  <a16:creationId xmlns="" xmlns:a16="http://schemas.microsoft.com/office/drawing/2014/main" id="{10AF1D59-5117-4D47-8414-4BB61F944BD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>
              <a:extLst>
                <a:ext uri="{FF2B5EF4-FFF2-40B4-BE49-F238E27FC236}">
                  <a16:creationId xmlns="" xmlns:a16="http://schemas.microsoft.com/office/drawing/2014/main" id="{2387DC33-88B3-4718-8C94-41659EA33A9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>
              <a:extLst>
                <a:ext uri="{FF2B5EF4-FFF2-40B4-BE49-F238E27FC236}">
                  <a16:creationId xmlns="" xmlns:a16="http://schemas.microsoft.com/office/drawing/2014/main" id="{D4E7EC64-4763-4F04-B2E4-E400364D728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>
              <a:extLst>
                <a:ext uri="{FF2B5EF4-FFF2-40B4-BE49-F238E27FC236}">
                  <a16:creationId xmlns="" xmlns:a16="http://schemas.microsoft.com/office/drawing/2014/main" id="{581717DF-9FD4-47CB-9579-E34DF7E8754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>
              <a:extLst>
                <a:ext uri="{FF2B5EF4-FFF2-40B4-BE49-F238E27FC236}">
                  <a16:creationId xmlns="" xmlns:a16="http://schemas.microsoft.com/office/drawing/2014/main" id="{BCD8EF50-6E58-4B2D-90B6-AFF236A73BC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>
              <a:extLst>
                <a:ext uri="{FF2B5EF4-FFF2-40B4-BE49-F238E27FC236}">
                  <a16:creationId xmlns="" xmlns:a16="http://schemas.microsoft.com/office/drawing/2014/main" id="{6524A268-142A-4CBF-BB8B-DC1FCBC8F78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>
              <a:extLst>
                <a:ext uri="{FF2B5EF4-FFF2-40B4-BE49-F238E27FC236}">
                  <a16:creationId xmlns="" xmlns:a16="http://schemas.microsoft.com/office/drawing/2014/main" id="{56A0E6F3-B76B-4813-B44B-56CE11A8A0C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>
              <a:extLst>
                <a:ext uri="{FF2B5EF4-FFF2-40B4-BE49-F238E27FC236}">
                  <a16:creationId xmlns="" xmlns:a16="http://schemas.microsoft.com/office/drawing/2014/main" id="{A74CED8D-B902-4B76-9CC8-30A09B2FA19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>
              <a:extLst>
                <a:ext uri="{FF2B5EF4-FFF2-40B4-BE49-F238E27FC236}">
                  <a16:creationId xmlns="" xmlns:a16="http://schemas.microsoft.com/office/drawing/2014/main" id="{ED007BD7-ED56-4566-B1FF-707160024A6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>
              <a:extLst>
                <a:ext uri="{FF2B5EF4-FFF2-40B4-BE49-F238E27FC236}">
                  <a16:creationId xmlns="" xmlns:a16="http://schemas.microsoft.com/office/drawing/2014/main" id="{90AD48D2-5BC8-4C80-B126-B1A201242B8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>
              <a:extLst>
                <a:ext uri="{FF2B5EF4-FFF2-40B4-BE49-F238E27FC236}">
                  <a16:creationId xmlns="" xmlns:a16="http://schemas.microsoft.com/office/drawing/2014/main" id="{BE14C82F-9F35-4D61-B758-7BCE32DECBF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>
              <a:extLst>
                <a:ext uri="{FF2B5EF4-FFF2-40B4-BE49-F238E27FC236}">
                  <a16:creationId xmlns="" xmlns:a16="http://schemas.microsoft.com/office/drawing/2014/main" id="{6540CE06-9028-497A-AC64-CF0ED60A745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>
              <a:extLst>
                <a:ext uri="{FF2B5EF4-FFF2-40B4-BE49-F238E27FC236}">
                  <a16:creationId xmlns="" xmlns:a16="http://schemas.microsoft.com/office/drawing/2014/main" id="{A4825B3B-52CD-4F08-BA02-6C2B0EFEDE9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>
              <a:extLst>
                <a:ext uri="{FF2B5EF4-FFF2-40B4-BE49-F238E27FC236}">
                  <a16:creationId xmlns="" xmlns:a16="http://schemas.microsoft.com/office/drawing/2014/main" id="{6877A5EF-B8B8-44D3-AA57-4BBF89206D3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>
              <a:extLst>
                <a:ext uri="{FF2B5EF4-FFF2-40B4-BE49-F238E27FC236}">
                  <a16:creationId xmlns="" xmlns:a16="http://schemas.microsoft.com/office/drawing/2014/main" id="{00BB365C-9180-4208-92CF-AB6A88848CF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>
              <a:extLst>
                <a:ext uri="{FF2B5EF4-FFF2-40B4-BE49-F238E27FC236}">
                  <a16:creationId xmlns="" xmlns:a16="http://schemas.microsoft.com/office/drawing/2014/main" id="{8D1134D2-53A6-41D5-AC1A-5254A2FBD08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>
              <a:extLst>
                <a:ext uri="{FF2B5EF4-FFF2-40B4-BE49-F238E27FC236}">
                  <a16:creationId xmlns="" xmlns:a16="http://schemas.microsoft.com/office/drawing/2014/main" id="{24C7FA73-07CD-479A-9B9E-DAD4D3B2BF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>
              <a:extLst>
                <a:ext uri="{FF2B5EF4-FFF2-40B4-BE49-F238E27FC236}">
                  <a16:creationId xmlns="" xmlns:a16="http://schemas.microsoft.com/office/drawing/2014/main" id="{AB24DF92-B081-4701-B58D-913261A00D7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>
              <a:extLst>
                <a:ext uri="{FF2B5EF4-FFF2-40B4-BE49-F238E27FC236}">
                  <a16:creationId xmlns="" xmlns:a16="http://schemas.microsoft.com/office/drawing/2014/main" id="{AB4DF275-6B82-4AA9-A7A9-138E631E30B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>
              <a:extLst>
                <a:ext uri="{FF2B5EF4-FFF2-40B4-BE49-F238E27FC236}">
                  <a16:creationId xmlns="" xmlns:a16="http://schemas.microsoft.com/office/drawing/2014/main" id="{972A3812-16AD-453E-B1E6-9F39894F79A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>
              <a:extLst>
                <a:ext uri="{FF2B5EF4-FFF2-40B4-BE49-F238E27FC236}">
                  <a16:creationId xmlns="" xmlns:a16="http://schemas.microsoft.com/office/drawing/2014/main" id="{8FB6759A-BAD8-4073-86A2-6DDD73DE2AF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>
              <a:extLst>
                <a:ext uri="{FF2B5EF4-FFF2-40B4-BE49-F238E27FC236}">
                  <a16:creationId xmlns="" xmlns:a16="http://schemas.microsoft.com/office/drawing/2014/main" id="{9FCCB0F4-1178-47C1-9EE2-234EA715C16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>
              <a:extLst>
                <a:ext uri="{FF2B5EF4-FFF2-40B4-BE49-F238E27FC236}">
                  <a16:creationId xmlns="" xmlns:a16="http://schemas.microsoft.com/office/drawing/2014/main" id="{CB01BF0B-7EB0-4C18-80BE-20D2EAC0486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>
              <a:extLst>
                <a:ext uri="{FF2B5EF4-FFF2-40B4-BE49-F238E27FC236}">
                  <a16:creationId xmlns="" xmlns:a16="http://schemas.microsoft.com/office/drawing/2014/main" id="{3266E9DA-C937-48E0-8F98-90A467760F1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>
              <a:extLst>
                <a:ext uri="{FF2B5EF4-FFF2-40B4-BE49-F238E27FC236}">
                  <a16:creationId xmlns="" xmlns:a16="http://schemas.microsoft.com/office/drawing/2014/main" id="{A8A9C00D-0425-4E68-A1DE-BCE5BD6BBD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>
              <a:extLst>
                <a:ext uri="{FF2B5EF4-FFF2-40B4-BE49-F238E27FC236}">
                  <a16:creationId xmlns="" xmlns:a16="http://schemas.microsoft.com/office/drawing/2014/main" id="{46230904-E744-4B55-84FF-826A6B737BF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>
              <a:extLst>
                <a:ext uri="{FF2B5EF4-FFF2-40B4-BE49-F238E27FC236}">
                  <a16:creationId xmlns="" xmlns:a16="http://schemas.microsoft.com/office/drawing/2014/main" id="{D4291668-8AF0-4784-BC06-870768F53F4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>
              <a:extLst>
                <a:ext uri="{FF2B5EF4-FFF2-40B4-BE49-F238E27FC236}">
                  <a16:creationId xmlns="" xmlns:a16="http://schemas.microsoft.com/office/drawing/2014/main" id="{D917DCBD-774B-4AAF-92AE-D18289FFC4D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>
              <a:extLst>
                <a:ext uri="{FF2B5EF4-FFF2-40B4-BE49-F238E27FC236}">
                  <a16:creationId xmlns="" xmlns:a16="http://schemas.microsoft.com/office/drawing/2014/main" id="{9E50122E-0F19-4D65-9CB2-E22C3EA84AC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>
              <a:extLst>
                <a:ext uri="{FF2B5EF4-FFF2-40B4-BE49-F238E27FC236}">
                  <a16:creationId xmlns="" xmlns:a16="http://schemas.microsoft.com/office/drawing/2014/main" id="{BC28A765-6E8B-4352-BD0C-35474F70AC8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>
              <a:extLst>
                <a:ext uri="{FF2B5EF4-FFF2-40B4-BE49-F238E27FC236}">
                  <a16:creationId xmlns="" xmlns:a16="http://schemas.microsoft.com/office/drawing/2014/main" id="{0AC30A17-F494-44EB-9817-1B8B255CE46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>
              <a:extLst>
                <a:ext uri="{FF2B5EF4-FFF2-40B4-BE49-F238E27FC236}">
                  <a16:creationId xmlns="" xmlns:a16="http://schemas.microsoft.com/office/drawing/2014/main" id="{6088D59F-32BD-4932-9C22-9AA0FCDA74A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>
              <a:extLst>
                <a:ext uri="{FF2B5EF4-FFF2-40B4-BE49-F238E27FC236}">
                  <a16:creationId xmlns="" xmlns:a16="http://schemas.microsoft.com/office/drawing/2014/main" id="{B18BBE45-5F21-47FA-B291-AC802D71556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>
              <a:extLst>
                <a:ext uri="{FF2B5EF4-FFF2-40B4-BE49-F238E27FC236}">
                  <a16:creationId xmlns="" xmlns:a16="http://schemas.microsoft.com/office/drawing/2014/main" id="{A1BD992D-1C4B-4E69-A627-A45D8958E0D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>
              <a:extLst>
                <a:ext uri="{FF2B5EF4-FFF2-40B4-BE49-F238E27FC236}">
                  <a16:creationId xmlns="" xmlns:a16="http://schemas.microsoft.com/office/drawing/2014/main" id="{571C0498-7105-455E-8B0A-233F850F18E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>
              <a:extLst>
                <a:ext uri="{FF2B5EF4-FFF2-40B4-BE49-F238E27FC236}">
                  <a16:creationId xmlns="" xmlns:a16="http://schemas.microsoft.com/office/drawing/2014/main" id="{F6FA78CC-C0B1-422F-B535-05580A9716A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>
              <a:extLst>
                <a:ext uri="{FF2B5EF4-FFF2-40B4-BE49-F238E27FC236}">
                  <a16:creationId xmlns="" xmlns:a16="http://schemas.microsoft.com/office/drawing/2014/main" id="{49A1BACF-EE5E-46F8-8968-D4CF18BC011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>
              <a:extLst>
                <a:ext uri="{FF2B5EF4-FFF2-40B4-BE49-F238E27FC236}">
                  <a16:creationId xmlns="" xmlns:a16="http://schemas.microsoft.com/office/drawing/2014/main" id="{0AF8DFAF-8AF7-453E-AED7-89E59FBD7DB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>
              <a:extLst>
                <a:ext uri="{FF2B5EF4-FFF2-40B4-BE49-F238E27FC236}">
                  <a16:creationId xmlns="" xmlns:a16="http://schemas.microsoft.com/office/drawing/2014/main" id="{F8C26D97-8DA4-4556-92E4-2AE66B365B9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>
              <a:extLst>
                <a:ext uri="{FF2B5EF4-FFF2-40B4-BE49-F238E27FC236}">
                  <a16:creationId xmlns="" xmlns:a16="http://schemas.microsoft.com/office/drawing/2014/main" id="{EEF9D855-A8A7-44CC-919C-BEA327F2542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>
              <a:extLst>
                <a:ext uri="{FF2B5EF4-FFF2-40B4-BE49-F238E27FC236}">
                  <a16:creationId xmlns="" xmlns:a16="http://schemas.microsoft.com/office/drawing/2014/main" id="{11F0B045-803C-4067-A182-066EEB2C4F9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>
              <a:extLst>
                <a:ext uri="{FF2B5EF4-FFF2-40B4-BE49-F238E27FC236}">
                  <a16:creationId xmlns="" xmlns:a16="http://schemas.microsoft.com/office/drawing/2014/main" id="{3C1FCACB-EFEF-4B54-99A6-E327A637C25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E91F5E4-6879-42DB-AF4C-0DCA230ED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1668" y="1215496"/>
            <a:ext cx="5367866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Хвала</a:t>
            </a:r>
            <a:r>
              <a:rPr lang="sr-Cyrl-BA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вам</a:t>
            </a:r>
            <a:br>
              <a:rPr lang="sr-Cyrl-BA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</a:t>
            </a:r>
            <a:r>
              <a:rPr 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пажњи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</a:p>
        </p:txBody>
      </p:sp>
      <p:pic>
        <p:nvPicPr>
          <p:cNvPr id="4" name="Picture 3" descr="A dog lying on the ground with a book in its mouth&#10;&#10;Description automatically generated with medium confidence">
            <a:extLst>
              <a:ext uri="{FF2B5EF4-FFF2-40B4-BE49-F238E27FC236}">
                <a16:creationId xmlns="" xmlns:a16="http://schemas.microsoft.com/office/drawing/2014/main" id="{C379634E-ED55-434C-904E-BE373A0B212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2" r="403"/>
          <a:stretch/>
        </p:blipFill>
        <p:spPr>
          <a:xfrm>
            <a:off x="1225311" y="812800"/>
            <a:ext cx="3531365" cy="4978400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67" name="Group 66">
            <a:extLst>
              <a:ext uri="{FF2B5EF4-FFF2-40B4-BE49-F238E27FC236}">
                <a16:creationId xmlns="" xmlns:a16="http://schemas.microsoft.com/office/drawing/2014/main" id="{991FDBCC-CEF4-4B54-8508-90670DA1E1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68" name="Freeform 32">
              <a:extLst>
                <a:ext uri="{FF2B5EF4-FFF2-40B4-BE49-F238E27FC236}">
                  <a16:creationId xmlns="" xmlns:a16="http://schemas.microsoft.com/office/drawing/2014/main" id="{BAE5C55D-F634-4A90-83A9-1C3A8784F0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33">
              <a:extLst>
                <a:ext uri="{FF2B5EF4-FFF2-40B4-BE49-F238E27FC236}">
                  <a16:creationId xmlns="" xmlns:a16="http://schemas.microsoft.com/office/drawing/2014/main" id="{A9699A54-FFCB-4BBF-B2AF-029E127615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Freeform 34">
              <a:extLst>
                <a:ext uri="{FF2B5EF4-FFF2-40B4-BE49-F238E27FC236}">
                  <a16:creationId xmlns="" xmlns:a16="http://schemas.microsoft.com/office/drawing/2014/main" id="{D02B4EE5-0E95-4638-8264-80307580C94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1" name="Freeform 35">
              <a:extLst>
                <a:ext uri="{FF2B5EF4-FFF2-40B4-BE49-F238E27FC236}">
                  <a16:creationId xmlns="" xmlns:a16="http://schemas.microsoft.com/office/drawing/2014/main" id="{2E23494F-0D2C-473D-AFB3-3D2E3DC7601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36">
              <a:extLst>
                <a:ext uri="{FF2B5EF4-FFF2-40B4-BE49-F238E27FC236}">
                  <a16:creationId xmlns="" xmlns:a16="http://schemas.microsoft.com/office/drawing/2014/main" id="{CD8EC9AE-E0F2-495F-8247-B7B32845C3D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37">
              <a:extLst>
                <a:ext uri="{FF2B5EF4-FFF2-40B4-BE49-F238E27FC236}">
                  <a16:creationId xmlns="" xmlns:a16="http://schemas.microsoft.com/office/drawing/2014/main" id="{0BDF6D09-B12A-4B3A-81EB-44E7C6C5BC6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38">
              <a:extLst>
                <a:ext uri="{FF2B5EF4-FFF2-40B4-BE49-F238E27FC236}">
                  <a16:creationId xmlns="" xmlns:a16="http://schemas.microsoft.com/office/drawing/2014/main" id="{EFB300B0-64FE-4891-9F79-B2E60E2EC2A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39">
              <a:extLst>
                <a:ext uri="{FF2B5EF4-FFF2-40B4-BE49-F238E27FC236}">
                  <a16:creationId xmlns="" xmlns:a16="http://schemas.microsoft.com/office/drawing/2014/main" id="{AE781A32-2965-4A89-9EDA-9E65AF2A7FD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40">
              <a:extLst>
                <a:ext uri="{FF2B5EF4-FFF2-40B4-BE49-F238E27FC236}">
                  <a16:creationId xmlns="" xmlns:a16="http://schemas.microsoft.com/office/drawing/2014/main" id="{D040EF2E-3B91-4C46-8347-1E2495C2E09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Rectangle 41">
              <a:extLst>
                <a:ext uri="{FF2B5EF4-FFF2-40B4-BE49-F238E27FC236}">
                  <a16:creationId xmlns="" xmlns:a16="http://schemas.microsoft.com/office/drawing/2014/main" id="{D677C0FC-FCC5-4EDE-A134-5035DC7F3F6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1876746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545</TotalTime>
  <Words>366</Words>
  <Application>Microsoft Office PowerPoint</Application>
  <PresentationFormat>Custom</PresentationFormat>
  <Paragraphs>67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Circuit</vt:lpstr>
      <vt:lpstr>  Фотонапонска електрана на акумулационом језеру ХЕ „Бочац“  – Идејно рјешење плутајуће фотонапонске електране – </vt:lpstr>
      <vt:lpstr>  Положај фотонапонске електране и димензије платформе </vt:lpstr>
      <vt:lpstr>Максимална могућа производња електричне енергије </vt:lpstr>
      <vt:lpstr>PowerPoint Presentation</vt:lpstr>
      <vt:lpstr>Ефекат сјенчења </vt:lpstr>
      <vt:lpstr>PowerPoint Presentation</vt:lpstr>
      <vt:lpstr>Избор плута за плутајућу подлогу </vt:lpstr>
      <vt:lpstr>Избор соларних модула  </vt:lpstr>
      <vt:lpstr>PowerPoint Presentation</vt:lpstr>
      <vt:lpstr>Избор инвертора </vt:lpstr>
      <vt:lpstr>Избор мотора за систем праћења Сунца  </vt:lpstr>
      <vt:lpstr>Ожичење</vt:lpstr>
      <vt:lpstr>PowerPoint Presentation</vt:lpstr>
      <vt:lpstr>PowerPoint Presentation</vt:lpstr>
      <vt:lpstr>Заштитна и склопна опрема </vt:lpstr>
      <vt:lpstr>Економски прорачун</vt:lpstr>
      <vt:lpstr>PowerPoint Presentation</vt:lpstr>
      <vt:lpstr>Хвала вам на пажњи!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Фотонапонска електрана на акумулационом језеру ХЕ „Бочац“  – Идејно рјешења плутајуће фотонапонске електране –</dc:title>
  <dc:creator>1</dc:creator>
  <cp:lastModifiedBy>user</cp:lastModifiedBy>
  <cp:revision>36</cp:revision>
  <dcterms:created xsi:type="dcterms:W3CDTF">2021-05-25T10:58:24Z</dcterms:created>
  <dcterms:modified xsi:type="dcterms:W3CDTF">2021-06-14T11:37:16Z</dcterms:modified>
</cp:coreProperties>
</file>